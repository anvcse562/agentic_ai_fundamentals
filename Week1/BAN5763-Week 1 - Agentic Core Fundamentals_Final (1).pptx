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3"/>
  </p:notesMasterIdLst>
  <p:sldIdLst>
    <p:sldId id="256" r:id="rId2"/>
    <p:sldId id="338" r:id="rId3"/>
    <p:sldId id="347" r:id="rId4"/>
    <p:sldId id="344" r:id="rId5"/>
    <p:sldId id="345" r:id="rId6"/>
    <p:sldId id="339" r:id="rId7"/>
    <p:sldId id="348" r:id="rId8"/>
    <p:sldId id="340" r:id="rId9"/>
    <p:sldId id="341" r:id="rId10"/>
    <p:sldId id="343" r:id="rId11"/>
    <p:sldId id="342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75"/>
    <p:sldId id="320" r:id="rId76"/>
    <p:sldId id="321" r:id="rId77"/>
    <p:sldId id="322" r:id="rId78"/>
    <p:sldId id="323" r:id="rId79"/>
    <p:sldId id="324" r:id="rId80"/>
    <p:sldId id="325" r:id="rId81"/>
    <p:sldId id="326" r:id="rId82"/>
    <p:sldId id="327" r:id="rId83"/>
    <p:sldId id="328" r:id="rId84"/>
    <p:sldId id="329" r:id="rId85"/>
    <p:sldId id="330" r:id="rId86"/>
    <p:sldId id="331" r:id="rId87"/>
    <p:sldId id="332" r:id="rId88"/>
    <p:sldId id="333" r:id="rId89"/>
    <p:sldId id="337" r:id="rId90"/>
    <p:sldId id="334" r:id="rId91"/>
    <p:sldId id="335" r:id="rId92"/>
  </p:sldIdLst>
  <p:sldSz cx="12192000" cy="6858000"/>
  <p:notesSz cx="6858000" cy="9144000"/>
  <p:embeddedFontLst>
    <p:embeddedFont>
      <p:font typeface="Inter" panose="02000503000000020004" pitchFamily="2" charset="0"/>
      <p:regular r:id="rId94"/>
      <p:bold r:id="rId95"/>
      <p:italic r:id="rId96"/>
      <p:boldItalic r:id="rId97"/>
    </p:embeddedFont>
    <p:embeddedFont>
      <p:font typeface="Inter ExtraBold" panose="02000503000000020004" pitchFamily="2" charset="0"/>
      <p:regular r:id="rId98"/>
      <p:bold r:id="rId99"/>
      <p:italic r:id="rId100"/>
      <p:boldItalic r:id="rId101"/>
    </p:embeddedFont>
    <p:embeddedFont>
      <p:font typeface="JetBrains Mono" panose="02000009000000000000" pitchFamily="49" charset="0"/>
      <p:regular r:id="rId102"/>
      <p:bold r:id="rId103"/>
      <p:italic r:id="rId104"/>
      <p:boldItalic r:id="rId105"/>
    </p:embeddedFont>
    <p:embeddedFont>
      <p:font typeface="Urbanist" panose="020B0A04040200000203" pitchFamily="34" charset="77"/>
      <p:regular r:id="rId106"/>
      <p:bold r:id="rId107"/>
      <p:italic r:id="rId108"/>
      <p:boldItalic r:id="rId109"/>
    </p:embeddedFont>
    <p:embeddedFont>
      <p:font typeface="Urbanist Medium" panose="020F0502020204030204" pitchFamily="34" charset="0"/>
      <p:regular r:id="rId110"/>
      <p:bold r:id="rId111"/>
      <p:italic r:id="rId112"/>
      <p:boldItalic r:id="rId113"/>
    </p:embeddedFont>
    <p:embeddedFont>
      <p:font typeface="Urbanist SemiBold" panose="020B0A04040200000203" pitchFamily="34" charset="77"/>
      <p:regular r:id="rId114"/>
      <p:bold r:id="rId115"/>
      <p:italic r:id="rId116"/>
      <p:boldItalic r:id="rId1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09FA15F-5E0E-4433-87F4-F386121DBDC9}">
  <a:tblStyle styleId="{A09FA15F-5E0E-4433-87F4-F386121DBDC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9"/>
    <p:restoredTop sz="46644"/>
  </p:normalViewPr>
  <p:slideViewPr>
    <p:cSldViewPr snapToGrid="0">
      <p:cViewPr varScale="1">
        <p:scale>
          <a:sx n="55" d="100"/>
          <a:sy n="55" d="100"/>
        </p:scale>
        <p:origin x="335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24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19.fntdata"/><Relationship Id="rId16" Type="http://schemas.openxmlformats.org/officeDocument/2006/relationships/slide" Target="slides/slide15.xml"/><Relationship Id="rId107" Type="http://schemas.openxmlformats.org/officeDocument/2006/relationships/font" Target="fonts/font14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9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font" Target="fonts/font2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20.fntdata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0.fntdata"/><Relationship Id="rId108" Type="http://schemas.openxmlformats.org/officeDocument/2006/relationships/font" Target="fonts/font15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21.fntdata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16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4.fntdata"/><Relationship Id="rId104" Type="http://schemas.openxmlformats.org/officeDocument/2006/relationships/font" Target="fonts/font11.fntdata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17.fntdata"/><Relationship Id="rId115" Type="http://schemas.openxmlformats.org/officeDocument/2006/relationships/font" Target="fonts/font22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7.fntdata"/><Relationship Id="rId105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openxmlformats.org/officeDocument/2006/relationships/font" Target="fonts/font5.fntdata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2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18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font" Target="fonts/font1.fntdata"/><Relationship Id="rId99" Type="http://schemas.openxmlformats.org/officeDocument/2006/relationships/font" Target="fonts/font6.fntdata"/><Relationship Id="rId10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DD245-B6E8-9C15-6992-987DB3CCE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E9BF43B2-FDF8-FDD3-98CE-C12999B3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C06A8972-CCCD-2037-ACA4-7498B8C3E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5:notes">
            <a:extLst>
              <a:ext uri="{FF2B5EF4-FFF2-40B4-BE49-F238E27FC236}">
                <a16:creationId xmlns:a16="http://schemas.microsoft.com/office/drawing/2014/main" id="{2AEB8BDD-024B-67E9-484A-9321D8D96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7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4F2A9C91-5E75-BE45-6D48-B1B1E7715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9B95BFE9-24E4-5B3C-4FBE-05A3E57DFE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5:notes">
            <a:extLst>
              <a:ext uri="{FF2B5EF4-FFF2-40B4-BE49-F238E27FC236}">
                <a16:creationId xmlns:a16="http://schemas.microsoft.com/office/drawing/2014/main" id="{E0F3E38E-0F7D-60B2-EA4B-860837F819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53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E268C309-93B4-C1FE-EDA8-77AC8623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B0CC505C-FFC2-BBB7-178F-D6D2EAC0BC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5:notes">
            <a:extLst>
              <a:ext uri="{FF2B5EF4-FFF2-40B4-BE49-F238E27FC236}">
                <a16:creationId xmlns:a16="http://schemas.microsoft.com/office/drawing/2014/main" id="{BAB559A5-4CB3-FE33-7FB4-1885E614D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33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174" name="Google Shape;1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2B429841-7C5D-C44C-0DB0-FB351BE8E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D64F5790-0417-22C0-6A08-48844D91DB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5:notes">
            <a:extLst>
              <a:ext uri="{FF2B5EF4-FFF2-40B4-BE49-F238E27FC236}">
                <a16:creationId xmlns:a16="http://schemas.microsoft.com/office/drawing/2014/main" id="{6E97ECBF-D373-E1FD-95AB-B04A7B102C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04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Google Shape;2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6" name="Google Shape;2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255" name="Google Shape;2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4" name="Google Shape;2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8" name="Google Shape;2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301" name="Google Shape;3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2" name="Google Shape;31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6" name="Google Shape;32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8" name="Google Shape;3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1" name="Google Shape;35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0" name="Google Shape;36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370" name="Google Shape;37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3" name="Google Shape;38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6" name="Google Shape;39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2" name="Google Shape;41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3" name="Google Shape;42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3" name="Google Shape;43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3" name="Google Shape;44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4" name="Google Shape;45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4" name="Google Shape;46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3" name="Google Shape;47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4" name="Google Shape;48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493" name="Google Shape;49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4" name="Google Shape;50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4" name="Google Shape;51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4" name="Google Shape;52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8" name="Google Shape;53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6" name="Google Shape;55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2" name="Google Shape;57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2" name="Google Shape;58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2" name="Google Shape;59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1" name="Google Shape;60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0" name="Google Shape;61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3" name="Google Shape;62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4" name="Google Shape;63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4" name="Google Shape;64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58" name="Google Shape;65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7" name="Google Shape;66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6" name="Google Shape;67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7" name="Google Shape;68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03" name="Google Shape;70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4" name="Google Shape;714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5" name="Google Shape;72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1" name="Google Shape;74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6" name="Google Shape;75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6" name="Google Shape;766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5" name="Google Shape;77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4" name="Google Shape;78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97" name="Google Shape;79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3" name="Google Shape;81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821" name="Google Shape;821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837" name="Google Shape;837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1" name="Google Shape;851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9" name="Google Shape;859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8" name="Google Shape;868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2" name="Google Shape;882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909" name="Google Shape;909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Call</a:t>
            </a:r>
            <a:r>
              <a:rPr lang="en-US" dirty="0"/>
              <a:t> – Invoke a tool or function.</a:t>
            </a:r>
          </a:p>
          <a:p>
            <a:r>
              <a:rPr lang="en-US" b="1" dirty="0"/>
              <a:t>Query</a:t>
            </a:r>
            <a:r>
              <a:rPr lang="en-US" dirty="0"/>
              <a:t> – Ask for information or tool capabilities.</a:t>
            </a:r>
          </a:p>
          <a:p>
            <a:r>
              <a:rPr lang="en-US" b="1" dirty="0"/>
              <a:t>Listen / Notify</a:t>
            </a:r>
            <a:r>
              <a:rPr lang="en-US" dirty="0"/>
              <a:t> – Receive updates or results asynchronously.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The LLM needs to </a:t>
            </a:r>
            <a:r>
              <a:rPr lang="en-US" b="1" dirty="0"/>
              <a:t>“Stop” after an Action</a:t>
            </a:r>
            <a:r>
              <a:rPr lang="en-US" dirty="0"/>
              <a:t> so the action can be executed safely, results returned, and the next reasoning step handled correctly—preventing conflicts or skipped steps.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r>
              <a:rPr lang="en-US" b="1" dirty="0"/>
              <a:t>5️⃣ Analogy</a:t>
            </a:r>
            <a:endParaRPr lang="en-US" dirty="0"/>
          </a:p>
          <a:p>
            <a:r>
              <a:rPr lang="en-US" b="1" dirty="0" err="1"/>
              <a:t>CoT</a:t>
            </a:r>
            <a:r>
              <a:rPr lang="en-US" b="1" dirty="0"/>
              <a:t>:</a:t>
            </a:r>
            <a:r>
              <a:rPr lang="en-US" dirty="0"/>
              <a:t> Thinking on paper before giving an answer.</a:t>
            </a:r>
          </a:p>
          <a:p>
            <a:r>
              <a:rPr lang="en-US" b="1" dirty="0" err="1"/>
              <a:t>ReAct</a:t>
            </a:r>
            <a:r>
              <a:rPr lang="en-US" b="1" dirty="0"/>
              <a:t>:</a:t>
            </a:r>
            <a:r>
              <a:rPr lang="en-US" dirty="0"/>
              <a:t> Thinking on paper </a:t>
            </a:r>
            <a:r>
              <a:rPr lang="en-US" b="1" dirty="0"/>
              <a:t>and</a:t>
            </a:r>
            <a:r>
              <a:rPr lang="en-US" dirty="0"/>
              <a:t> acting on the world while thinking.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r>
              <a:rPr lang="en-US" b="1" dirty="0"/>
              <a:t>Purpose</a:t>
            </a:r>
            <a:endParaRPr lang="en-US" dirty="0"/>
          </a:p>
          <a:p>
            <a:r>
              <a:rPr lang="en-US" b="1" dirty="0" err="1"/>
              <a:t>CoT</a:t>
            </a:r>
            <a:r>
              <a:rPr lang="en-US" b="1" dirty="0"/>
              <a:t> (Chain of Thought):</a:t>
            </a:r>
            <a:r>
              <a:rPr lang="en-US" dirty="0"/>
              <a:t> Helps LLMs solve complex problems by </a:t>
            </a:r>
            <a:r>
              <a:rPr lang="en-US" b="1" dirty="0"/>
              <a:t>thinking step by step</a:t>
            </a:r>
            <a:r>
              <a:rPr lang="en-US" dirty="0"/>
              <a:t> internally.</a:t>
            </a:r>
          </a:p>
          <a:p>
            <a:r>
              <a:rPr lang="en-US" b="1" dirty="0" err="1"/>
              <a:t>ReAct</a:t>
            </a:r>
            <a:r>
              <a:rPr lang="en-US" b="1" dirty="0"/>
              <a:t> (Reasoning + Acting):</a:t>
            </a:r>
            <a:r>
              <a:rPr lang="en-US" dirty="0"/>
              <a:t> Combines </a:t>
            </a:r>
            <a:r>
              <a:rPr lang="en-US" b="1" dirty="0"/>
              <a:t>reasoning</a:t>
            </a:r>
            <a:r>
              <a:rPr lang="en-US" dirty="0"/>
              <a:t> with </a:t>
            </a:r>
            <a:r>
              <a:rPr lang="en-US" b="1" dirty="0"/>
              <a:t>actions</a:t>
            </a:r>
            <a:r>
              <a:rPr lang="en-US" dirty="0"/>
              <a:t> in an environment (like tools or APIs).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2️⃣ Output</a:t>
            </a:r>
            <a:endParaRPr lang="en-US" dirty="0"/>
          </a:p>
          <a:p>
            <a:r>
              <a:rPr lang="en-US" b="1" dirty="0" err="1"/>
              <a:t>CoT</a:t>
            </a:r>
            <a:r>
              <a:rPr lang="en-US" b="1" dirty="0"/>
              <a:t>:</a:t>
            </a:r>
            <a:r>
              <a:rPr lang="en-US" dirty="0"/>
              <a:t> Only generates </a:t>
            </a:r>
            <a:r>
              <a:rPr lang="en-US" b="1" dirty="0"/>
              <a:t>thoughts/steps</a:t>
            </a:r>
            <a:r>
              <a:rPr lang="en-US" dirty="0"/>
              <a:t> leading to the answer.</a:t>
            </a:r>
          </a:p>
          <a:p>
            <a:r>
              <a:rPr lang="en-US" b="1" dirty="0" err="1"/>
              <a:t>ReAct</a:t>
            </a:r>
            <a:r>
              <a:rPr lang="en-US" b="1" dirty="0"/>
              <a:t>:</a:t>
            </a:r>
            <a:r>
              <a:rPr lang="en-US" dirty="0"/>
              <a:t> Generates </a:t>
            </a:r>
            <a:r>
              <a:rPr lang="en-US" b="1" dirty="0"/>
              <a:t>thoughts + actions</a:t>
            </a:r>
            <a:r>
              <a:rPr lang="en-US" dirty="0"/>
              <a:t>, so it can interact with external tools.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3️⃣ Interaction</a:t>
            </a:r>
            <a:endParaRPr lang="en-US" dirty="0"/>
          </a:p>
          <a:p>
            <a:r>
              <a:rPr lang="en-US" b="1" dirty="0" err="1"/>
              <a:t>CoT</a:t>
            </a:r>
            <a:r>
              <a:rPr lang="en-US" b="1" dirty="0"/>
              <a:t>:</a:t>
            </a:r>
            <a:r>
              <a:rPr lang="en-US" dirty="0"/>
              <a:t> Mostly </a:t>
            </a:r>
            <a:r>
              <a:rPr lang="en-US" b="1" dirty="0"/>
              <a:t>internal reasoning</a:t>
            </a:r>
            <a:r>
              <a:rPr lang="en-US" dirty="0"/>
              <a:t>.</a:t>
            </a:r>
          </a:p>
          <a:p>
            <a:r>
              <a:rPr lang="en-US" b="1" dirty="0" err="1"/>
              <a:t>ReAct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b="1" dirty="0"/>
              <a:t>Interactive</a:t>
            </a:r>
            <a:r>
              <a:rPr lang="en-US" dirty="0"/>
              <a:t>—can query databases, call APIs, or use external tools while reasoning.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4️⃣ Use Case</a:t>
            </a:r>
            <a:endParaRPr lang="en-US" dirty="0"/>
          </a:p>
          <a:p>
            <a:r>
              <a:rPr lang="en-US" b="1" dirty="0" err="1"/>
              <a:t>CoT</a:t>
            </a:r>
            <a:r>
              <a:rPr lang="en-US" b="1" dirty="0"/>
              <a:t>:</a:t>
            </a:r>
            <a:r>
              <a:rPr lang="en-US" dirty="0"/>
              <a:t> Math problems, logic puzzles, multi-step reasoning.</a:t>
            </a:r>
          </a:p>
          <a:p>
            <a:r>
              <a:rPr lang="en-US" b="1" dirty="0" err="1"/>
              <a:t>ReAct</a:t>
            </a:r>
            <a:r>
              <a:rPr lang="en-US" b="1" dirty="0"/>
              <a:t>:</a:t>
            </a:r>
            <a:r>
              <a:rPr lang="en-US" dirty="0"/>
              <a:t> Multi-step tasks needing tools, like planning, retrieving info, or controlling systems.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3" name="Google Shape;943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6" name="Google Shape;996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>
          <a:extLst>
            <a:ext uri="{FF2B5EF4-FFF2-40B4-BE49-F238E27FC236}">
              <a16:creationId xmlns:a16="http://schemas.microsoft.com/office/drawing/2014/main" id="{5E87D50A-8380-F943-78F5-8A08857F0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8:notes">
            <a:extLst>
              <a:ext uri="{FF2B5EF4-FFF2-40B4-BE49-F238E27FC236}">
                <a16:creationId xmlns:a16="http://schemas.microsoft.com/office/drawing/2014/main" id="{2530E35F-8B72-903A-0B0E-CE63386EC7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6" name="Google Shape;996;p78:notes">
            <a:extLst>
              <a:ext uri="{FF2B5EF4-FFF2-40B4-BE49-F238E27FC236}">
                <a16:creationId xmlns:a16="http://schemas.microsoft.com/office/drawing/2014/main" id="{52B0E1C2-62A4-A819-7277-58B112A832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37881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5" name="Google Shape;1005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microsoft.com/office/2007/relationships/hdphoto" Target="../media/hdphoto1.wdp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1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ws.amazon.com/prescriptive-guidance/latest/agentic-ai-patterns/prompt-chaining-saga-patterns.html" TargetMode="Externa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707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2492722"/>
            <a:ext cx="9525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WEEK 1: BAN5763-Agentic AI Module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42900" y="3026122"/>
            <a:ext cx="10001250" cy="796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Agentic Core </a:t>
            </a:r>
            <a:r>
              <a:rPr lang="en-US" sz="5700" b="1" i="0" u="none" strike="noStrike" cap="none" dirty="0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Fundamentals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4050952"/>
            <a:ext cx="9525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Definitions • Patterns • Protocols • Code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64121289-8981-D2B2-076A-97FE5994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>
            <a:extLst>
              <a:ext uri="{FF2B5EF4-FFF2-40B4-BE49-F238E27FC236}">
                <a16:creationId xmlns:a16="http://schemas.microsoft.com/office/drawing/2014/main" id="{69F5E2A1-7B7E-9588-4A31-39417D1098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25C4C68F-255A-275B-E683-BF5D8D8AA5C5}"/>
              </a:ext>
            </a:extLst>
          </p:cNvPr>
          <p:cNvSpPr txBox="1"/>
          <p:nvPr/>
        </p:nvSpPr>
        <p:spPr>
          <a:xfrm>
            <a:off x="305276" y="24364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Agentic AI Module 4 weeks Agenda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40B6F5-F864-6009-FB05-D221286B87BF}"/>
              </a:ext>
            </a:extLst>
          </p:cNvPr>
          <p:cNvSpPr txBox="1"/>
          <p:nvPr/>
        </p:nvSpPr>
        <p:spPr>
          <a:xfrm>
            <a:off x="625641" y="2021305"/>
            <a:ext cx="11261082" cy="3313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Wingdings" pitchFamily="2" charset="2"/>
              <a:buChar char="v"/>
            </a:pPr>
            <a:r>
              <a:rPr lang="en-US" sz="3600" dirty="0">
                <a:solidFill>
                  <a:schemeClr val="bg1"/>
                </a:solidFill>
                <a:latin typeface="+mn-lt"/>
              </a:rPr>
              <a:t>Week1:</a:t>
            </a:r>
            <a:r>
              <a:rPr lang="en-US" sz="3600" dirty="0">
                <a:solidFill>
                  <a:schemeClr val="bg1"/>
                </a:solidFill>
                <a:latin typeface="+mn-lt"/>
                <a:ea typeface="Urbanist"/>
                <a:cs typeface="Urbanist"/>
                <a:sym typeface="Urbanist"/>
              </a:rPr>
              <a:t>Agentic Core Fundamentals</a:t>
            </a:r>
          </a:p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Wingdings" pitchFamily="2" charset="2"/>
              <a:buChar char="v"/>
            </a:pPr>
            <a:r>
              <a:rPr lang="en-US" sz="3600" dirty="0">
                <a:solidFill>
                  <a:schemeClr val="bg1"/>
                </a:solidFill>
                <a:latin typeface="+mn-lt"/>
                <a:sym typeface="Urbanist"/>
              </a:rPr>
              <a:t>Week2: Agentic Patterns &amp; Flow Engineering</a:t>
            </a:r>
            <a:endParaRPr lang="en-US" sz="3600" dirty="0">
              <a:solidFill>
                <a:schemeClr val="bg1"/>
              </a:solidFill>
              <a:latin typeface="+mn-lt"/>
            </a:endParaRPr>
          </a:p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Wingdings" pitchFamily="2" charset="2"/>
              <a:buChar char="v"/>
            </a:pPr>
            <a:r>
              <a:rPr lang="en-US" sz="3600" dirty="0">
                <a:solidFill>
                  <a:schemeClr val="bg1"/>
                </a:solidFill>
                <a:latin typeface="+mn-lt"/>
              </a:rPr>
              <a:t>Week3: Stateful Multi-Agents, GenAI Frameworks</a:t>
            </a:r>
          </a:p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Wingdings" pitchFamily="2" charset="2"/>
              <a:buChar char="v"/>
            </a:pPr>
            <a:r>
              <a:rPr lang="en-US" sz="3600" dirty="0">
                <a:solidFill>
                  <a:schemeClr val="bg1"/>
                </a:solidFill>
                <a:latin typeface="+mn-lt"/>
              </a:rPr>
              <a:t>Week4: Deployment, Security, and Governance</a:t>
            </a:r>
          </a:p>
        </p:txBody>
      </p:sp>
    </p:spTree>
    <p:extLst>
      <p:ext uri="{BB962C8B-B14F-4D97-AF65-F5344CB8AC3E}">
        <p14:creationId xmlns:p14="http://schemas.microsoft.com/office/powerpoint/2010/main" val="4103675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43EF3A95-9672-39ED-A1E1-C703B4D5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>
            <a:extLst>
              <a:ext uri="{FF2B5EF4-FFF2-40B4-BE49-F238E27FC236}">
                <a16:creationId xmlns:a16="http://schemas.microsoft.com/office/drawing/2014/main" id="{94F5CC29-F581-AED6-9AC5-E1609434D6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C3E07602-7185-497B-0257-2B20450BA71F}"/>
              </a:ext>
            </a:extLst>
          </p:cNvPr>
          <p:cNvSpPr txBox="1"/>
          <p:nvPr/>
        </p:nvSpPr>
        <p:spPr>
          <a:xfrm>
            <a:off x="4530511" y="293370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Background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4227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800" y="2090737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2109787"/>
            <a:ext cx="354969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02550" y="2090737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25875" y="4357687"/>
            <a:ext cx="2940099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485775" y="5895975"/>
            <a:ext cx="11220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The market demand is shifting from isolated roles to </a:t>
            </a:r>
            <a:r>
              <a:rPr lang="en-US" sz="1500" b="1" i="0" u="none" strike="noStrike" cap="non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Hybrid Integrators</a:t>
            </a:r>
            <a:r>
              <a:rPr lang="en-US" sz="1500" b="0" i="0" u="none" strike="noStrike" cap="non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46237" y="25812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1710481" y="3152775"/>
            <a:ext cx="110013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Math &amp; Stats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736675" y="3619500"/>
            <a:ext cx="1047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NLP Researcher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AI Analyst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Core Scientist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552373" y="2414587"/>
            <a:ext cx="3087104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Full Stack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 ML Engineer</a:t>
            </a:r>
            <a:endParaRPr/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40800" y="25812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9531250" y="3152775"/>
            <a:ext cx="8001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CS &amp; Ops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9497913" y="3619500"/>
            <a:ext cx="8667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MLOps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AIOps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 Platform Eng</a:t>
            </a:r>
            <a:endParaRPr/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967037" y="594360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5062388" y="3205162"/>
            <a:ext cx="2066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Integrates Models (App)</a:t>
            </a:r>
            <a:endParaRPr dirty="0"/>
          </a:p>
        </p:txBody>
      </p:sp>
      <p:sp>
        <p:nvSpPr>
          <p:cNvPr id="99" name="Google Shape;99;p13"/>
          <p:cNvSpPr txBox="1"/>
          <p:nvPr/>
        </p:nvSpPr>
        <p:spPr>
          <a:xfrm>
            <a:off x="5530750" y="3536156"/>
            <a:ext cx="2066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Orchestrates Workflows</a:t>
            </a:r>
            <a:endParaRPr dirty="0"/>
          </a:p>
        </p:txBody>
      </p:sp>
      <p:sp>
        <p:nvSpPr>
          <p:cNvPr id="100" name="Google Shape;100;p13"/>
          <p:cNvSpPr txBox="1"/>
          <p:nvPr/>
        </p:nvSpPr>
        <p:spPr>
          <a:xfrm>
            <a:off x="5062388" y="3910012"/>
            <a:ext cx="2066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Deploys Serverless</a:t>
            </a:r>
            <a:endParaRPr/>
          </a:p>
        </p:txBody>
      </p:sp>
      <p:pic>
        <p:nvPicPr>
          <p:cNvPr id="101" name="Google Shape;101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62388" y="323850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62388" y="35909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62388" y="3943350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3"/>
          <p:cNvSpPr txBox="1"/>
          <p:nvPr/>
        </p:nvSpPr>
        <p:spPr>
          <a:xfrm>
            <a:off x="485775" y="485775"/>
            <a:ext cx="117062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Modern AI Role Landscape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485775" y="12287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4" descr="image.png"/>
          <p:cNvPicPr preferRelativeResize="0"/>
          <p:nvPr/>
        </p:nvPicPr>
        <p:blipFill rotWithShape="1">
          <a:blip r:embed="rId4">
            <a:duotone>
              <a:prstClr val="black"/>
              <a:srgbClr val="D9C3A5">
                <a:tint val="50000"/>
                <a:satMod val="180000"/>
              </a:srgbClr>
            </a:duotone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57325"/>
            <a:ext cx="5324475" cy="507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775" y="1719262"/>
            <a:ext cx="5324475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5" y="4471987"/>
            <a:ext cx="5324475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6677025" y="1752600"/>
            <a:ext cx="497062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Survival Skills 2025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6677025" y="2114550"/>
            <a:ext cx="47339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09625" y="2005012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From "Fixed" Data Science...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09625" y="2471737"/>
            <a:ext cx="4714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"I build the model in a notebook. Someone else deploys it."</a:t>
            </a:r>
            <a:endParaRPr/>
          </a:p>
        </p:txBody>
      </p:sp>
      <p:pic>
        <p:nvPicPr>
          <p:cNvPr id="118" name="Google Shape;11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05137" y="3805237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809625" y="4757737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...To "Adaptive" AI Engineering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09625" y="5224462"/>
            <a:ext cx="4714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4D4D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"I orchestrate tools, manage scale, and ensure the app stays live."</a:t>
            </a:r>
            <a:endParaRPr/>
          </a:p>
        </p:txBody>
      </p:sp>
      <p:pic>
        <p:nvPicPr>
          <p:cNvPr id="121" name="Google Shape;121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77025" y="1771650"/>
            <a:ext cx="152400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6677025" y="2409825"/>
            <a:ext cx="497062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Orchestration &amp; Scale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677025" y="2838450"/>
            <a:ext cx="47339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Familiarity with Cloud (AWS/GCP), Serverless, and Containerization. Understanding how to serve 1M users, not just 1.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677025" y="3895725"/>
            <a:ext cx="497062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 Pre &amp; Post Processing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677025" y="4324350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It's not just the model. It's parsing inputs (PDFs/Images) and formatting outputs for the UI.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6677025" y="5124450"/>
            <a:ext cx="497062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3. The "Hacker" Spirit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6677025" y="5553075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Passion for self-learning. Decoding new frameworks (LangChain, CrewAI) overnight. Adaptation is the only constant.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485775" y="323850"/>
            <a:ext cx="11706225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Engineering </a:t>
            </a:r>
            <a:r>
              <a:rPr lang="en-US" sz="3600" b="0" i="0" u="none" strike="noStrike" cap="none">
                <a:solidFill>
                  <a:srgbClr val="00FF4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Mindset Shift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485775" y="1066800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4">
            <a:duotone>
              <a:prstClr val="black"/>
              <a:srgbClr val="D9C3A5">
                <a:tint val="50000"/>
                <a:satMod val="180000"/>
              </a:srgb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aintStrokes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6">
            <a:alphaModFix/>
            <a:duotone>
              <a:prstClr val="black"/>
              <a:srgbClr val="D9C3A5">
                <a:tint val="50000"/>
                <a:satMod val="180000"/>
              </a:srgbClr>
            </a:duotone>
          </a:blip>
          <a:srcRect/>
          <a:stretch/>
        </p:blipFill>
        <p:spPr>
          <a:xfrm>
            <a:off x="390525" y="1524000"/>
            <a:ext cx="2745581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7">
            <a:duotone>
              <a:prstClr val="black"/>
              <a:srgbClr val="D9C3A5">
                <a:tint val="50000"/>
                <a:satMod val="180000"/>
              </a:srgbClr>
            </a:duotone>
            <a:alphaModFix/>
          </a:blip>
          <a:srcRect/>
          <a:stretch/>
        </p:blipFill>
        <p:spPr>
          <a:xfrm>
            <a:off x="3278981" y="1524000"/>
            <a:ext cx="2745581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8">
            <a:duotone>
              <a:prstClr val="black"/>
              <a:srgbClr val="D9C3A5">
                <a:tint val="50000"/>
                <a:satMod val="180000"/>
              </a:srgbClr>
            </a:duotone>
            <a:alphaModFix/>
          </a:blip>
          <a:srcRect/>
          <a:stretch/>
        </p:blipFill>
        <p:spPr>
          <a:xfrm>
            <a:off x="6167437" y="1524000"/>
            <a:ext cx="2745581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9">
            <a:alphaModFix/>
            <a:duotone>
              <a:prstClr val="black"/>
              <a:srgbClr val="D9C3A5">
                <a:tint val="50000"/>
                <a:satMod val="180000"/>
              </a:srgbClr>
            </a:duotone>
          </a:blip>
          <a:srcRect/>
          <a:stretch/>
        </p:blipFill>
        <p:spPr>
          <a:xfrm>
            <a:off x="9055893" y="1524000"/>
            <a:ext cx="2745581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10">
            <a:duotone>
              <a:prstClr val="black"/>
              <a:srgbClr val="D9C3A5">
                <a:tint val="50000"/>
                <a:satMod val="180000"/>
              </a:srgbClr>
            </a:duotone>
            <a:alphaModFix/>
          </a:blip>
          <a:srcRect/>
          <a:stretch/>
        </p:blipFill>
        <p:spPr>
          <a:xfrm>
            <a:off x="390525" y="4067175"/>
            <a:ext cx="2745581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7">
            <a:alphaModFix/>
            <a:duotone>
              <a:prstClr val="black"/>
              <a:srgbClr val="D9C3A5">
                <a:tint val="50000"/>
                <a:satMod val="180000"/>
              </a:srgbClr>
            </a:duotone>
          </a:blip>
          <a:srcRect/>
          <a:stretch/>
        </p:blipFill>
        <p:spPr>
          <a:xfrm>
            <a:off x="3278981" y="4067175"/>
            <a:ext cx="2745581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11">
            <a:alphaModFix/>
            <a:duotone>
              <a:prstClr val="black"/>
              <a:srgbClr val="D9C3A5">
                <a:tint val="50000"/>
                <a:satMod val="180000"/>
              </a:srgbClr>
            </a:duotone>
          </a:blip>
          <a:srcRect/>
          <a:stretch/>
        </p:blipFill>
        <p:spPr>
          <a:xfrm>
            <a:off x="6167437" y="4067175"/>
            <a:ext cx="2745581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12">
            <a:alphaModFix/>
            <a:duotone>
              <a:prstClr val="black"/>
              <a:srgbClr val="D9C3A5">
                <a:tint val="50000"/>
                <a:satMod val="180000"/>
              </a:srgbClr>
            </a:duotone>
          </a:blip>
          <a:srcRect/>
          <a:stretch/>
        </p:blipFill>
        <p:spPr>
          <a:xfrm>
            <a:off x="9055893" y="4067175"/>
            <a:ext cx="2745581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42925" y="2924175"/>
            <a:ext cx="2440781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431381" y="2714625"/>
            <a:ext cx="2440781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319837" y="2924175"/>
            <a:ext cx="2440781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208293" y="2714625"/>
            <a:ext cx="2440781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42925" y="5257800"/>
            <a:ext cx="2440781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431381" y="5257800"/>
            <a:ext cx="2440781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319837" y="5257800"/>
            <a:ext cx="2440781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208293" y="5257800"/>
            <a:ext cx="2440781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390525" y="390525"/>
            <a:ext cx="56959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How to Excel in this journey?</a:t>
            </a:r>
            <a:endParaRPr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390525" y="561975"/>
            <a:ext cx="598074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Agentic AI  Roadmap</a:t>
            </a:r>
            <a:endParaRPr dirty="0"/>
          </a:p>
        </p:txBody>
      </p:sp>
      <p:sp>
        <p:nvSpPr>
          <p:cNvPr id="103" name="Google Shape;103;p13"/>
          <p:cNvSpPr txBox="1"/>
          <p:nvPr/>
        </p:nvSpPr>
        <p:spPr>
          <a:xfrm>
            <a:off x="8760618" y="1000125"/>
            <a:ext cx="304085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Scientist </a:t>
            </a:r>
            <a:r>
              <a:rPr lang="en-US" sz="1100" dirty="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 Agentic Pro </a:t>
            </a:r>
            <a:endParaRPr sz="1600" dirty="0"/>
          </a:p>
        </p:txBody>
      </p:sp>
      <p:sp>
        <p:nvSpPr>
          <p:cNvPr id="104" name="Google Shape;104;p13"/>
          <p:cNvSpPr txBox="1"/>
          <p:nvPr/>
        </p:nvSpPr>
        <p:spPr>
          <a:xfrm>
            <a:off x="542925" y="1676400"/>
            <a:ext cx="24407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🧱 </a:t>
            </a:r>
            <a:r>
              <a:rPr lang="en-US" sz="12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Engineering Foundations</a:t>
            </a: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0-3m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542925" y="1981200"/>
            <a:ext cx="244078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3431381" y="1676400"/>
            <a:ext cx="24407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🧠 </a:t>
            </a:r>
            <a:r>
              <a:rPr lang="en-US" sz="12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LLM Foundations</a:t>
            </a: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2-4m</a:t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3431381" y="1981200"/>
            <a:ext cx="244078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6319837" y="1676400"/>
            <a:ext cx="24407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🤖 </a:t>
            </a:r>
            <a:r>
              <a:rPr lang="en-US" sz="12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Agentic Core (Vital)</a:t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6319837" y="1981200"/>
            <a:ext cx="244078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9208293" y="1676400"/>
            <a:ext cx="24407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🧠 </a:t>
            </a:r>
            <a:r>
              <a:rPr lang="en-US" sz="12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Memory &amp; Context</a:t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>
            <a:off x="9208293" y="1981200"/>
            <a:ext cx="244078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542925" y="4219575"/>
            <a:ext cx="24407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🔗 </a:t>
            </a:r>
            <a:r>
              <a:rPr lang="en-US" sz="12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Multi-Agent Systems</a:t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542925" y="4524375"/>
            <a:ext cx="244078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3431381" y="4219575"/>
            <a:ext cx="24407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⚙️ </a:t>
            </a:r>
            <a:r>
              <a:rPr lang="en-US" sz="12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Production &amp; Ops</a:t>
            </a:r>
            <a:endParaRPr/>
          </a:p>
        </p:txBody>
      </p:sp>
      <p:sp>
        <p:nvSpPr>
          <p:cNvPr id="115" name="Google Shape;115;p13"/>
          <p:cNvSpPr/>
          <p:nvPr/>
        </p:nvSpPr>
        <p:spPr>
          <a:xfrm>
            <a:off x="3431381" y="4524375"/>
            <a:ext cx="244078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6319837" y="4219575"/>
            <a:ext cx="24407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☁️ </a:t>
            </a:r>
            <a:r>
              <a:rPr lang="en-US" sz="12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Cloud Architecture</a:t>
            </a:r>
            <a:endParaRPr/>
          </a:p>
        </p:txBody>
      </p:sp>
      <p:sp>
        <p:nvSpPr>
          <p:cNvPr id="117" name="Google Shape;117;p13"/>
          <p:cNvSpPr/>
          <p:nvPr/>
        </p:nvSpPr>
        <p:spPr>
          <a:xfrm>
            <a:off x="6319837" y="4524375"/>
            <a:ext cx="244078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9208293" y="4219575"/>
            <a:ext cx="24407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👑 </a:t>
            </a:r>
            <a:r>
              <a:rPr lang="en-US" sz="12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Architect Mindset</a:t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9208293" y="4524375"/>
            <a:ext cx="244078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657225" y="2085975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Python (Async, APIs)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657225" y="2295525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Backend (REST, Auth)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657225" y="2505075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Databases (Postgres, Redis)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657225" y="2714625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Docker + Git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3545681" y="2085975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Tokenization &amp; Context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3545681" y="2295525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Embeddings &amp; RAG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3545681" y="2505075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 vs Memory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6434137" y="2085975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Planner → Executor Patterns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6434137" y="2295525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ReAct &amp; Tool Calling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6434137" y="2505075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Multi-step Loops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6434137" y="2714625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LangChain / LangGraph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9322593" y="2085975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Short vs Long-term Memory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9322593" y="2295525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Context-aware Agents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9322593" y="2505075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Knowledge Architectures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657225" y="4629150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Agent-to-Agent (A2A)</a:t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657225" y="4838700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Tool Servers &amp; Permissions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657225" y="5048250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Human-in-the-loop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3545681" y="4629150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 Versioning &amp; Tracing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3545681" y="4838700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Observability &amp; Costs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3545681" y="5048250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Guardrails &amp; CI/CD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6434137" y="4629150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AWS / GCP / Azure</a:t>
            </a:r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6434137" y="4838700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Terraform (IaC)</a:t>
            </a:r>
            <a:endParaRPr/>
          </a:p>
        </p:txBody>
      </p:sp>
      <p:sp>
        <p:nvSpPr>
          <p:cNvPr id="142" name="Google Shape;142;p13"/>
          <p:cNvSpPr txBox="1"/>
          <p:nvPr/>
        </p:nvSpPr>
        <p:spPr>
          <a:xfrm>
            <a:off x="6434137" y="5048250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Security &amp; Compliance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9322593" y="4629150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Design Docs &amp; Reviews</a:t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9322593" y="4838700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Mentoring Teams</a:t>
            </a:r>
            <a:endParaRPr/>
          </a:p>
        </p:txBody>
      </p:sp>
      <p:sp>
        <p:nvSpPr>
          <p:cNvPr id="145" name="Google Shape;145;p13"/>
          <p:cNvSpPr txBox="1"/>
          <p:nvPr/>
        </p:nvSpPr>
        <p:spPr>
          <a:xfrm>
            <a:off x="9322593" y="5048250"/>
            <a:ext cx="23264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Roadmaps &amp; Strategy</a:t>
            </a:r>
            <a:endParaRPr/>
          </a:p>
        </p:txBody>
      </p:sp>
      <p:sp>
        <p:nvSpPr>
          <p:cNvPr id="146" name="Google Shape;146;p13"/>
          <p:cNvSpPr txBox="1"/>
          <p:nvPr/>
        </p:nvSpPr>
        <p:spPr>
          <a:xfrm>
            <a:off x="542925" y="208597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7" name="Google Shape;147;p13"/>
          <p:cNvSpPr txBox="1"/>
          <p:nvPr/>
        </p:nvSpPr>
        <p:spPr>
          <a:xfrm>
            <a:off x="542925" y="229552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8" name="Google Shape;148;p13"/>
          <p:cNvSpPr txBox="1"/>
          <p:nvPr/>
        </p:nvSpPr>
        <p:spPr>
          <a:xfrm>
            <a:off x="542925" y="250507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9" name="Google Shape;149;p13"/>
          <p:cNvSpPr txBox="1"/>
          <p:nvPr/>
        </p:nvSpPr>
        <p:spPr>
          <a:xfrm>
            <a:off x="542925" y="271462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0" name="Google Shape;150;p13"/>
          <p:cNvSpPr txBox="1"/>
          <p:nvPr/>
        </p:nvSpPr>
        <p:spPr>
          <a:xfrm>
            <a:off x="3431381" y="208597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3"/>
          <p:cNvSpPr txBox="1"/>
          <p:nvPr/>
        </p:nvSpPr>
        <p:spPr>
          <a:xfrm>
            <a:off x="3431381" y="229552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3"/>
          <p:cNvSpPr txBox="1"/>
          <p:nvPr/>
        </p:nvSpPr>
        <p:spPr>
          <a:xfrm>
            <a:off x="3431381" y="250507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3"/>
          <p:cNvSpPr txBox="1"/>
          <p:nvPr/>
        </p:nvSpPr>
        <p:spPr>
          <a:xfrm>
            <a:off x="6319837" y="208597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6319837" y="229552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3"/>
          <p:cNvSpPr txBox="1"/>
          <p:nvPr/>
        </p:nvSpPr>
        <p:spPr>
          <a:xfrm>
            <a:off x="6319837" y="250507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6" name="Google Shape;156;p13"/>
          <p:cNvSpPr txBox="1"/>
          <p:nvPr/>
        </p:nvSpPr>
        <p:spPr>
          <a:xfrm>
            <a:off x="6319837" y="271462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7" name="Google Shape;157;p13"/>
          <p:cNvSpPr txBox="1"/>
          <p:nvPr/>
        </p:nvSpPr>
        <p:spPr>
          <a:xfrm>
            <a:off x="9208293" y="208597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8" name="Google Shape;158;p13"/>
          <p:cNvSpPr txBox="1"/>
          <p:nvPr/>
        </p:nvSpPr>
        <p:spPr>
          <a:xfrm>
            <a:off x="9208293" y="229552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3"/>
          <p:cNvSpPr txBox="1"/>
          <p:nvPr/>
        </p:nvSpPr>
        <p:spPr>
          <a:xfrm>
            <a:off x="9208293" y="2505075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0" name="Google Shape;160;p13"/>
          <p:cNvSpPr txBox="1"/>
          <p:nvPr/>
        </p:nvSpPr>
        <p:spPr>
          <a:xfrm>
            <a:off x="542925" y="462915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1" name="Google Shape;161;p13"/>
          <p:cNvSpPr txBox="1"/>
          <p:nvPr/>
        </p:nvSpPr>
        <p:spPr>
          <a:xfrm>
            <a:off x="542925" y="48387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2" name="Google Shape;162;p13"/>
          <p:cNvSpPr txBox="1"/>
          <p:nvPr/>
        </p:nvSpPr>
        <p:spPr>
          <a:xfrm>
            <a:off x="542925" y="504825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3" name="Google Shape;163;p13"/>
          <p:cNvSpPr txBox="1"/>
          <p:nvPr/>
        </p:nvSpPr>
        <p:spPr>
          <a:xfrm>
            <a:off x="3431381" y="462915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4" name="Google Shape;164;p13"/>
          <p:cNvSpPr txBox="1"/>
          <p:nvPr/>
        </p:nvSpPr>
        <p:spPr>
          <a:xfrm>
            <a:off x="3431381" y="48387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5" name="Google Shape;165;p13"/>
          <p:cNvSpPr txBox="1"/>
          <p:nvPr/>
        </p:nvSpPr>
        <p:spPr>
          <a:xfrm>
            <a:off x="3431381" y="504825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3"/>
          <p:cNvSpPr txBox="1"/>
          <p:nvPr/>
        </p:nvSpPr>
        <p:spPr>
          <a:xfrm>
            <a:off x="6319837" y="462915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7" name="Google Shape;167;p13"/>
          <p:cNvSpPr txBox="1"/>
          <p:nvPr/>
        </p:nvSpPr>
        <p:spPr>
          <a:xfrm>
            <a:off x="6319837" y="48387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8" name="Google Shape;168;p13"/>
          <p:cNvSpPr txBox="1"/>
          <p:nvPr/>
        </p:nvSpPr>
        <p:spPr>
          <a:xfrm>
            <a:off x="6319837" y="504825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9" name="Google Shape;169;p13"/>
          <p:cNvSpPr txBox="1"/>
          <p:nvPr/>
        </p:nvSpPr>
        <p:spPr>
          <a:xfrm>
            <a:off x="9208293" y="462915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0" name="Google Shape;170;p13"/>
          <p:cNvSpPr txBox="1"/>
          <p:nvPr/>
        </p:nvSpPr>
        <p:spPr>
          <a:xfrm>
            <a:off x="9208293" y="48387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3"/>
          <p:cNvSpPr txBox="1"/>
          <p:nvPr/>
        </p:nvSpPr>
        <p:spPr>
          <a:xfrm>
            <a:off x="9208293" y="504825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" name="Google Shape;101;p13">
            <a:extLst>
              <a:ext uri="{FF2B5EF4-FFF2-40B4-BE49-F238E27FC236}">
                <a16:creationId xmlns:a16="http://schemas.microsoft.com/office/drawing/2014/main" id="{EC981F96-2C97-53F6-A8C3-C9737A33F7C8}"/>
              </a:ext>
            </a:extLst>
          </p:cNvPr>
          <p:cNvSpPr txBox="1"/>
          <p:nvPr/>
        </p:nvSpPr>
        <p:spPr>
          <a:xfrm>
            <a:off x="390525" y="400392"/>
            <a:ext cx="56959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How to Excel in this journey?</a:t>
            </a:r>
            <a:endParaRPr dirty="0"/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CB745EA8-ADAE-5045-8D47-79BB5BCA4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>
            <a:extLst>
              <a:ext uri="{FF2B5EF4-FFF2-40B4-BE49-F238E27FC236}">
                <a16:creationId xmlns:a16="http://schemas.microsoft.com/office/drawing/2014/main" id="{22A9FF98-5F34-4D18-74A3-506AD6FA1D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CF8CCE45-D2D9-C21D-9EDE-72BC3107ED16}"/>
              </a:ext>
            </a:extLst>
          </p:cNvPr>
          <p:cNvSpPr txBox="1"/>
          <p:nvPr/>
        </p:nvSpPr>
        <p:spPr>
          <a:xfrm>
            <a:off x="305276" y="242841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Peer-Led Agentic AI  knowledge expansion –Students activity</a:t>
            </a:r>
            <a:endParaRPr dirty="0"/>
          </a:p>
        </p:txBody>
      </p:sp>
      <p:sp>
        <p:nvSpPr>
          <p:cNvPr id="150" name="Google Shape;150;p17">
            <a:extLst>
              <a:ext uri="{FF2B5EF4-FFF2-40B4-BE49-F238E27FC236}">
                <a16:creationId xmlns:a16="http://schemas.microsoft.com/office/drawing/2014/main" id="{0C377564-0275-CE61-B31C-118FC659E78A}"/>
              </a:ext>
            </a:extLst>
          </p:cNvPr>
          <p:cNvSpPr/>
          <p:nvPr/>
        </p:nvSpPr>
        <p:spPr>
          <a:xfrm>
            <a:off x="581025" y="254793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2BEDEB-1EC9-2926-0159-C40FDEFBA58B}"/>
              </a:ext>
            </a:extLst>
          </p:cNvPr>
          <p:cNvSpPr txBox="1"/>
          <p:nvPr/>
        </p:nvSpPr>
        <p:spPr>
          <a:xfrm>
            <a:off x="5246093" y="401273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46B85-F54D-951C-DE0F-83A670F70D20}"/>
              </a:ext>
            </a:extLst>
          </p:cNvPr>
          <p:cNvSpPr txBox="1"/>
          <p:nvPr/>
        </p:nvSpPr>
        <p:spPr>
          <a:xfrm>
            <a:off x="285469" y="1311888"/>
            <a:ext cx="11486321" cy="5486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and why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This activity extends learning beyond the course videos by covering Agentic AI topics not fully addressed in the core curriculum.</a:t>
            </a:r>
          </a:p>
          <a:p>
            <a:r>
              <a:rPr lang="en-US" dirty="0">
                <a:solidFill>
                  <a:schemeClr val="bg1"/>
                </a:solidFill>
              </a:rPr>
              <a:t> It enables students to learn through building, sharing, and participating in peer-led sessions.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How It Runs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bg1"/>
                </a:solidFill>
              </a:rPr>
              <a:t>Weeks 1–2:</a:t>
            </a:r>
            <a:r>
              <a:rPr lang="en-US" sz="1200" dirty="0">
                <a:solidFill>
                  <a:schemeClr val="bg1"/>
                </a:solidFill>
              </a:rPr>
              <a:t> Topic selection, research, and implementation alongside regular coursework - 80% topics suggested by Lecturer/TAs &amp; 20% Students choice 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Weeks 3–4:</a:t>
            </a:r>
            <a:r>
              <a:rPr lang="en-US" sz="1200" dirty="0">
                <a:solidFill>
                  <a:schemeClr val="bg1"/>
                </a:solidFill>
              </a:rPr>
              <a:t> Live, student-led Zoom/Virtual app sessions- TAs can assist with session logistics- Zoom link/Email reminder, cadence </a:t>
            </a:r>
            <a:r>
              <a:rPr lang="en-US" sz="1200" dirty="0" err="1">
                <a:solidFill>
                  <a:schemeClr val="bg1"/>
                </a:solidFill>
              </a:rPr>
              <a:t>etc</a:t>
            </a:r>
            <a:endParaRPr lang="en-US" sz="12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Student-Led Sessions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171450" lvl="2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20 minutes per student/pair</a:t>
            </a:r>
          </a:p>
          <a:p>
            <a:pPr lvl="8">
              <a:buClr>
                <a:schemeClr val="bg1"/>
              </a:buClr>
            </a:pPr>
            <a:r>
              <a:rPr lang="en-US" sz="1050" dirty="0">
                <a:solidFill>
                  <a:schemeClr val="bg1"/>
                </a:solidFill>
              </a:rPr>
              <a:t>       15 mins: Concept walkthrough</a:t>
            </a:r>
          </a:p>
          <a:p>
            <a:pPr lvl="8">
              <a:buClr>
                <a:schemeClr val="bg1"/>
              </a:buClr>
            </a:pPr>
            <a:r>
              <a:rPr lang="en-US" sz="1050" dirty="0">
                <a:solidFill>
                  <a:schemeClr val="bg1"/>
                </a:solidFill>
              </a:rPr>
              <a:t>         5 mins: Live demo</a:t>
            </a:r>
          </a:p>
          <a:p>
            <a:pPr marL="171450" lvl="2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Code shared on GitHub in advance- Presenter </a:t>
            </a:r>
          </a:p>
          <a:p>
            <a:pPr marL="171450" lvl="2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Participants join sessions based on interest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Outcome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Broader topic coverage at scale</a:t>
            </a:r>
          </a:p>
          <a:p>
            <a:r>
              <a:rPr lang="en-US" sz="1200" dirty="0">
                <a:solidFill>
                  <a:schemeClr val="bg1"/>
                </a:solidFill>
              </a:rPr>
              <a:t>Strong peer learning and active participation</a:t>
            </a:r>
          </a:p>
          <a:p>
            <a:r>
              <a:rPr lang="en-US" sz="1200" dirty="0">
                <a:solidFill>
                  <a:schemeClr val="bg1"/>
                </a:solidFill>
              </a:rPr>
              <a:t>Hands-on experience with real agentic AI systems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290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4" descr="image.png"/>
          <p:cNvPicPr preferRelativeResize="0"/>
          <p:nvPr/>
        </p:nvPicPr>
        <p:blipFill rotWithShape="1">
          <a:blip r:embed="rId4">
            <a:alphaModFix/>
            <a:biLevel thresh="50000"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0525" y="2607171"/>
            <a:ext cx="114109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0525" y="3978771"/>
            <a:ext cx="2709862" cy="1215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90887" y="3978771"/>
            <a:ext cx="2709862" cy="1215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1250" y="3978771"/>
            <a:ext cx="2709862" cy="1215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91612" y="3978771"/>
            <a:ext cx="2709862" cy="1215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4"/>
          <p:cNvSpPr txBox="1"/>
          <p:nvPr/>
        </p:nvSpPr>
        <p:spPr>
          <a:xfrm>
            <a:off x="390525" y="1664196"/>
            <a:ext cx="114109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is Agentic AI and Flow?  </a:t>
            </a:r>
            <a:endParaRPr lang="en-US" dirty="0"/>
          </a:p>
        </p:txBody>
      </p:sp>
      <p:sp>
        <p:nvSpPr>
          <p:cNvPr id="183" name="Google Shape;183;p14"/>
          <p:cNvSpPr txBox="1"/>
          <p:nvPr/>
        </p:nvSpPr>
        <p:spPr>
          <a:xfrm>
            <a:off x="390525" y="1835646"/>
            <a:ext cx="118014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Agentic Flow</a:t>
            </a:r>
            <a:endParaRPr dirty="0"/>
          </a:p>
        </p:txBody>
      </p:sp>
      <p:sp>
        <p:nvSpPr>
          <p:cNvPr id="184" name="Google Shape;184;p14"/>
          <p:cNvSpPr txBox="1"/>
          <p:nvPr/>
        </p:nvSpPr>
        <p:spPr>
          <a:xfrm>
            <a:off x="619125" y="2797671"/>
            <a:ext cx="109918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Agentic AI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connects memory, reasoning, and actions to achieve outcomes autonomously. Unlike chatbots, they process context, plan tasks, and refine outputs through feedback loops.</a:t>
            </a:r>
            <a:endParaRPr dirty="0"/>
          </a:p>
        </p:txBody>
      </p:sp>
      <p:sp>
        <p:nvSpPr>
          <p:cNvPr id="185" name="Google Shape;185;p14"/>
          <p:cNvSpPr txBox="1"/>
          <p:nvPr/>
        </p:nvSpPr>
        <p:spPr>
          <a:xfrm>
            <a:off x="2509837" y="4083546"/>
            <a:ext cx="4381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01</a:t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5334000" y="4083546"/>
            <a:ext cx="5143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02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8234362" y="4083546"/>
            <a:ext cx="5143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03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11115675" y="4083546"/>
            <a:ext cx="53340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04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590550" y="4178796"/>
            <a:ext cx="230981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Input Sources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590550" y="4474071"/>
            <a:ext cx="2309812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Diverse data ingestion: Knowledge bases, User queries, API calls, Sensor data, System logs.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3490912" y="4178796"/>
            <a:ext cx="230981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AI Processing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3490912" y="4474071"/>
            <a:ext cx="2309812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Structured Intelligence: Query analysis, Reasoning, Memory retrieval, Planning, &amp; Tool selection.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6391275" y="4178796"/>
            <a:ext cx="230981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Action Layer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6391275" y="4474071"/>
            <a:ext cx="2309812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Execution: Decision making, Task execution, Agent collaboration, Error handling, &amp; Feedback loops.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9291637" y="4178796"/>
            <a:ext cx="230981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Output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9291637" y="4474071"/>
            <a:ext cx="2309812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Delivery: Scalable, adaptive responses ready for production environments.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CB6480-66E3-F330-659A-13C19F8CAF91}"/>
              </a:ext>
            </a:extLst>
          </p:cNvPr>
          <p:cNvSpPr txBox="1"/>
          <p:nvPr/>
        </p:nvSpPr>
        <p:spPr>
          <a:xfrm>
            <a:off x="447673" y="5393828"/>
            <a:ext cx="111537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fkGroteskNeue"/>
              </a:rPr>
              <a:t>A chatbot mostly responds to prompts, one interaction at a time.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0" i="0" dirty="0">
                <a:solidFill>
                  <a:schemeClr val="bg1"/>
                </a:solidFill>
                <a:effectLst/>
                <a:latin typeface="fkGroteskNeue"/>
              </a:rPr>
              <a:t>Agentic AI understands goals, uses memory and reasoning, and takes multi-step actions on its own to actually get things done.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Google Shape;177;p14" descr="image.png">
            <a:extLst>
              <a:ext uri="{FF2B5EF4-FFF2-40B4-BE49-F238E27FC236}">
                <a16:creationId xmlns:a16="http://schemas.microsoft.com/office/drawing/2014/main" id="{79ECA437-9B8D-82F2-9DC6-6A5C8A1334B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0524" y="5393828"/>
            <a:ext cx="1141095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 descr="image.png"/>
          <p:cNvPicPr preferRelativeResize="0"/>
          <p:nvPr/>
        </p:nvPicPr>
        <p:blipFill rotWithShape="1">
          <a:blip r:embed="rId4">
            <a:alphaModFix/>
            <a:biLevel thresh="25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27565" y="1505396"/>
            <a:ext cx="4373909" cy="3370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0525" y="3028950"/>
            <a:ext cx="656079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0525" y="3857625"/>
            <a:ext cx="656079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0525" y="4686300"/>
            <a:ext cx="656079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5"/>
          <p:cNvSpPr txBox="1"/>
          <p:nvPr/>
        </p:nvSpPr>
        <p:spPr>
          <a:xfrm>
            <a:off x="390525" y="1343025"/>
            <a:ext cx="656079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ARCHITECTURE CHOICE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390525" y="1514475"/>
            <a:ext cx="6888829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RAG: A System Design Choice</a:t>
            </a:r>
            <a:endParaRPr/>
          </a:p>
        </p:txBody>
      </p:sp>
      <p:sp>
        <p:nvSpPr>
          <p:cNvPr id="208" name="Google Shape;208;p15"/>
          <p:cNvSpPr txBox="1"/>
          <p:nvPr/>
        </p:nvSpPr>
        <p:spPr>
          <a:xfrm>
            <a:off x="390525" y="2286000"/>
            <a:ext cx="65607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Retrieval-Augmented Generation (RAG) is powerful, but not a default. It shines when you need to ground your LLM in external, verifiable, and dynamic knowledge.</a:t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7857083" y="5019079"/>
            <a:ext cx="3514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bg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 A MAGIC BULLET, BUT A PRECISION TOOL.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10" name="Google Shape;2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32340" y="1610171"/>
            <a:ext cx="4164359" cy="316125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5"/>
          <p:cNvSpPr txBox="1"/>
          <p:nvPr/>
        </p:nvSpPr>
        <p:spPr>
          <a:xfrm>
            <a:off x="561975" y="3171825"/>
            <a:ext cx="624646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Is your data dynamic?</a:t>
            </a:r>
            <a:endParaRPr/>
          </a:p>
        </p:txBody>
      </p:sp>
      <p:sp>
        <p:nvSpPr>
          <p:cNvPr id="212" name="Google Shape;212;p15"/>
          <p:cNvSpPr txBox="1"/>
          <p:nvPr/>
        </p:nvSpPr>
        <p:spPr>
          <a:xfrm>
            <a:off x="561975" y="3409950"/>
            <a:ext cx="624646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If sources change frequently, RAG allows updates without retraining.</a:t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561975" y="4000500"/>
            <a:ext cx="624646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Do you need citations?</a:t>
            </a:r>
            <a:endParaRPr/>
          </a:p>
        </p:txBody>
      </p:sp>
      <p:sp>
        <p:nvSpPr>
          <p:cNvPr id="214" name="Google Shape;214;p15"/>
          <p:cNvSpPr txBox="1"/>
          <p:nvPr/>
        </p:nvSpPr>
        <p:spPr>
          <a:xfrm>
            <a:off x="561975" y="4238625"/>
            <a:ext cx="624646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RAG allows you to trace answers back to specific source documents.</a:t>
            </a:r>
            <a:endParaRPr/>
          </a:p>
        </p:txBody>
      </p:sp>
      <p:sp>
        <p:nvSpPr>
          <p:cNvPr id="215" name="Google Shape;215;p15"/>
          <p:cNvSpPr txBox="1"/>
          <p:nvPr/>
        </p:nvSpPr>
        <p:spPr>
          <a:xfrm>
            <a:off x="561975" y="4829175"/>
            <a:ext cx="624646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Speed vs. Accuracy?</a:t>
            </a:r>
            <a:endParaRPr/>
          </a:p>
        </p:txBody>
      </p:sp>
      <p:sp>
        <p:nvSpPr>
          <p:cNvPr id="216" name="Google Shape;216;p15"/>
          <p:cNvSpPr txBox="1"/>
          <p:nvPr/>
        </p:nvSpPr>
        <p:spPr>
          <a:xfrm>
            <a:off x="561975" y="5067300"/>
            <a:ext cx="624646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RAG adds latency. If speed is critical, consider fine-tuning or rules.</a:t>
            </a:r>
            <a:endParaRPr/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308949"/>
            <a:ext cx="12039600" cy="1354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46782"/>
            <a:ext cx="12039600" cy="330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749278"/>
            <a:ext cx="12039600" cy="327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06050" y="7500639"/>
            <a:ext cx="14478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5275" y="2701528"/>
            <a:ext cx="11449050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5275" y="6004024"/>
            <a:ext cx="1144905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0" y="0"/>
            <a:ext cx="12192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Paradigm Shift:  Transforme</a:t>
            </a: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r is the root to LLMs- Self </a:t>
            </a:r>
            <a:r>
              <a:rPr lang="en-US" sz="1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Attention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Semantic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295275" y="920353"/>
            <a:ext cx="11896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AAAAA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Lexical (Traditional- Keyword Sea</a:t>
            </a:r>
            <a:r>
              <a:rPr lang="en-US" sz="1404" b="1">
                <a:solidFill>
                  <a:srgbClr val="AAAAA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rch</a:t>
            </a:r>
            <a:r>
              <a:rPr lang="en-US" sz="1404" b="1" i="0" u="none" strike="noStrike" cap="none">
                <a:solidFill>
                  <a:srgbClr val="AAAAA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295275" y="1272778"/>
            <a:ext cx="114490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95275" y="4222849"/>
            <a:ext cx="11896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FF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(Modern- </a:t>
            </a:r>
            <a:r>
              <a:rPr lang="en-US" sz="1404" b="1">
                <a:solidFill>
                  <a:srgbClr val="00FF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Meaning Based</a:t>
            </a:r>
            <a:r>
              <a:rPr lang="en-US" sz="1404" b="1" i="0" u="none" strike="noStrike" cap="none">
                <a:solidFill>
                  <a:srgbClr val="00FF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295275" y="4575274"/>
            <a:ext cx="11449050" cy="9525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333375" y="7778055"/>
            <a:ext cx="10171271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Transformer Journey (2017 - Present)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33375" y="8073330"/>
            <a:ext cx="968692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Transformers, NLP looked at words in isolation. </a:t>
            </a:r>
            <a:r>
              <a:rPr lang="en-US" sz="1350" b="1" i="0" u="none" strike="noStrike" cap="none">
                <a:solidFill>
                  <a:srgbClr val="AAAAA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Attention Mechanisms</a:t>
            </a:r>
            <a:r>
              <a:rPr lang="en-US" sz="1350" b="0" i="0" u="none" strike="noStrike" cap="none">
                <a:solidFill>
                  <a:srgbClr val="AAAAA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allowed models to look at the </a:t>
            </a:r>
            <a:r>
              <a:rPr lang="en-US" sz="1350" b="0" i="1" u="none" strike="noStrike" cap="none">
                <a:solidFill>
                  <a:srgbClr val="AAAAA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entire sentence</a:t>
            </a:r>
            <a:r>
              <a:rPr lang="en-US" sz="1350" b="0" i="0" u="none" strike="noStrike" cap="none">
                <a:solidFill>
                  <a:srgbClr val="AAAAA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once, converting "Context" into "Numbers" (Embeddings). This enabled the shift from matching words to matching thoughts.</a:t>
            </a:r>
            <a:endParaRPr/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15575" y="7510164"/>
            <a:ext cx="14287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609600" y="1649015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4D4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676275" y="1663303"/>
            <a:ext cx="110680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4D4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Mechanism:</a:t>
            </a:r>
            <a:r>
              <a:rPr lang="en-US" sz="1500" b="0" i="0" u="none" strike="noStrike" cap="none">
                <a:solidFill>
                  <a:srgbClr val="D4D4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Exact Keyword Matching (TF-IDF, BM25).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09600" y="1868090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4D4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676275" y="1882378"/>
            <a:ext cx="110680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4D4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</a:t>
            </a:r>
            <a:r>
              <a:rPr lang="en-US" sz="1500" b="0" i="0" u="none" strike="noStrike" cap="none">
                <a:solidFill>
                  <a:srgbClr val="D4D4D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Presence of specific words.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609600" y="2087165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676275" y="2101453"/>
            <a:ext cx="110680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Limitation: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Fails on </a:t>
            </a:r>
            <a:r>
              <a:rPr lang="en-US" sz="15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Polysemy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(Bank of river vs. Money) and </a:t>
            </a:r>
            <a:r>
              <a:rPr lang="en-US" sz="15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Synonymy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(Car vs. Auto).</a:t>
            </a:r>
            <a:endParaRPr dirty="0"/>
          </a:p>
        </p:txBody>
      </p:sp>
      <p:sp>
        <p:nvSpPr>
          <p:cNvPr id="104" name="Google Shape;104;p13"/>
          <p:cNvSpPr txBox="1"/>
          <p:nvPr/>
        </p:nvSpPr>
        <p:spPr>
          <a:xfrm>
            <a:off x="447675" y="2872978"/>
            <a:ext cx="70231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447675" y="3073003"/>
            <a:ext cx="11144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LIKE, Ctrl+F, Basic Search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609600" y="4951511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676275" y="4965799"/>
            <a:ext cx="110680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Mechanism:</a:t>
            </a:r>
            <a:r>
              <a:rPr lang="en-US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Vector Embeddings (Dense Vectors).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609600" y="5170586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76275" y="5184874"/>
            <a:ext cx="110680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Focus:</a:t>
            </a:r>
            <a:r>
              <a:rPr lang="en-US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Intent and Meaning.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609600" y="5389661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676275" y="5403949"/>
            <a:ext cx="110680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Effectiveness:</a:t>
            </a:r>
            <a:r>
              <a:rPr lang="en-US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Captures context. "I need a ride" matches "Taxi Service" even without shared words.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447675" y="6175474"/>
            <a:ext cx="70231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447675" y="6375499"/>
            <a:ext cx="11144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 Retrievers, Vector DBs, Hybrid Search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34BC56B5-589B-B8D5-9A4C-6037A97FD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>
            <a:extLst>
              <a:ext uri="{FF2B5EF4-FFF2-40B4-BE49-F238E27FC236}">
                <a16:creationId xmlns:a16="http://schemas.microsoft.com/office/drawing/2014/main" id="{02E87513-307F-1934-60EB-C5FE641F3D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7B4016AC-B35D-800F-05B8-839DDA321D48}"/>
              </a:ext>
            </a:extLst>
          </p:cNvPr>
          <p:cNvSpPr txBox="1"/>
          <p:nvPr/>
        </p:nvSpPr>
        <p:spPr>
          <a:xfrm>
            <a:off x="5246093" y="31813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Week 1 </a:t>
            </a:r>
            <a:endParaRPr dirty="0"/>
          </a:p>
        </p:txBody>
      </p:sp>
      <p:sp>
        <p:nvSpPr>
          <p:cNvPr id="150" name="Google Shape;150;p17">
            <a:extLst>
              <a:ext uri="{FF2B5EF4-FFF2-40B4-BE49-F238E27FC236}">
                <a16:creationId xmlns:a16="http://schemas.microsoft.com/office/drawing/2014/main" id="{AB446DC2-61B4-E13A-888B-748EB64668FE}"/>
              </a:ext>
            </a:extLst>
          </p:cNvPr>
          <p:cNvSpPr/>
          <p:nvPr/>
        </p:nvSpPr>
        <p:spPr>
          <a:xfrm>
            <a:off x="581025" y="254793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7E4D46-7470-8480-56A1-1203A723A7F6}"/>
              </a:ext>
            </a:extLst>
          </p:cNvPr>
          <p:cNvSpPr txBox="1"/>
          <p:nvPr/>
        </p:nvSpPr>
        <p:spPr>
          <a:xfrm>
            <a:off x="5246093" y="4012733"/>
            <a:ext cx="15376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Assignment-1</a:t>
            </a:r>
          </a:p>
          <a:p>
            <a:r>
              <a:rPr lang="en-US" dirty="0">
                <a:solidFill>
                  <a:schemeClr val="bg1"/>
                </a:solidFill>
              </a:rPr>
              <a:t>Quiz -1 </a:t>
            </a:r>
          </a:p>
          <a:p>
            <a:r>
              <a:rPr lang="en-US" dirty="0">
                <a:solidFill>
                  <a:schemeClr val="bg1"/>
                </a:solidFill>
              </a:rPr>
              <a:t>Reading Material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787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247775" y="2995612"/>
            <a:ext cx="45624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1. 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Foundations: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Agency vs. Automation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247775" y="3529012"/>
            <a:ext cx="45624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2. 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Anatomy: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Brain, Hands, Eyes, Memory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247775" y="4062412"/>
            <a:ext cx="45624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3. 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Flow Engineering:</a:t>
            </a:r>
            <a:r>
              <a:rPr lang="en-US" sz="18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Blueprints &amp; Patterns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1247775" y="4595812"/>
            <a:ext cx="45624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4. 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ReAct: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Cognitive Loop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048500" y="3090862"/>
            <a:ext cx="45624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5. 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Tool Use: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Parsing &amp; Execution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048500" y="3624262"/>
            <a:ext cx="45624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6. 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Protocols: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MCP (Vertical) &amp; Horizontal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048500" y="4157662"/>
            <a:ext cx="45624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7. 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Implementation: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Coding "The Smart Investor"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29956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35290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62025" y="40624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4595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62750" y="309086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62750" y="362426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762750" y="415766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Agenda: The 7 Pillars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95450"/>
            <a:ext cx="3486150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695450"/>
            <a:ext cx="3486150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695450"/>
            <a:ext cx="3486150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23925" y="2038350"/>
            <a:ext cx="171130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Era 1: Chatbots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23925" y="2657475"/>
            <a:ext cx="5048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(2022)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23925" y="3228975"/>
            <a:ext cx="11525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Input -&gt; Output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23925" y="3800475"/>
            <a:ext cx="22002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Stateless. Knowledge-bound.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95825" y="2038350"/>
            <a:ext cx="122421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Era 2: RAG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95825" y="2657475"/>
            <a:ext cx="495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(2023)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95825" y="3228975"/>
            <a:ext cx="1933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Search -&gt; Read -&gt; Output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95825" y="3800475"/>
            <a:ext cx="2057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Context-Aware. Read-Only.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467725" y="2038350"/>
            <a:ext cx="15064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Era 3: Agents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467725" y="2657475"/>
            <a:ext cx="590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(2024+)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467725" y="3228975"/>
            <a:ext cx="2390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Goal -&gt; Plan -&gt; Action -&gt; Output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467725" y="3800475"/>
            <a:ext cx="1885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Autonomous. Read-Write.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The Evolution of AI Interaction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28962"/>
            <a:ext cx="110299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81025" y="4548187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This shift introduces new risks (infinite loops, data deletion) and new paradigms (guardrails, permissions).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57250" y="3595687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"We are moving from systems that 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know</a:t>
            </a:r>
            <a:r>
              <a:rPr lang="en-US" sz="18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things to systems that 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do</a:t>
            </a:r>
            <a:r>
              <a:rPr lang="en-US" sz="18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things."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581025" y="1824037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Concept: The "Doing" Era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81025" y="254793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28962"/>
            <a:ext cx="110299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876300" y="3424237"/>
            <a:ext cx="1096137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AGENTIC AI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76300" y="3910012"/>
            <a:ext cx="10439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An AI system capable of autonomous decision-making to achieve a high-level goal. It plans, uses tools, and iterates based on feedback from the environment.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81025" y="1824037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Definition: Agentic AI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81025" y="254793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81025" y="323373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Copilot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81025" y="36814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Human initiates. AI assists. Human reviews.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81025" y="42529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Example: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GitHub Copilot, Gmail Smart Compose.</a:t>
            </a:r>
            <a:endParaRPr/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43950" y="3452812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8377237" y="4119562"/>
            <a:ext cx="123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Human in control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Agency Spectrum: Level 1 (Copilot)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0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581025" y="306228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Autopilot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81025" y="3509962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Human sets specific goal. AI executes. Human monitors.</a:t>
            </a:r>
            <a:endParaRPr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581025" y="442436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Example: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"Summarize these 5 PDFs."</a:t>
            </a:r>
            <a:endParaRPr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72512" y="3452812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8291512" y="4119562"/>
            <a:ext cx="14097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Human on the loop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Agency Spectrum: Level 2 (Autopilot)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81025" y="306228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Agent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81025" y="3509962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Human sets abstract goal. AI defines sub-goals. AI executes and iterates.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81025" y="442436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Example: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"Plan and book a vacation under $2000."</a:t>
            </a:r>
            <a:endParaRPr/>
          </a:p>
        </p:txBody>
      </p:sp>
      <p:pic>
        <p:nvPicPr>
          <p:cNvPr id="183" name="Google Shape;18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39175" y="3452812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8315325" y="4119562"/>
            <a:ext cx="13620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Human out of loop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Agency Spectrum: Level 3 (Agent)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2" name="Google Shape;192;p21"/>
          <p:cNvGraphicFramePr/>
          <p:nvPr/>
        </p:nvGraphicFramePr>
        <p:xfrm>
          <a:off x="581025" y="2771775"/>
          <a:ext cx="6886575" cy="2619400"/>
        </p:xfrm>
        <a:graphic>
          <a:graphicData uri="http://schemas.openxmlformats.org/drawingml/2006/table">
            <a:tbl>
              <a:tblPr firstRow="1" bandRow="1">
                <a:noFill/>
                <a:tableStyleId>{A09FA15F-5E0E-4433-87F4-F386121DBDC9}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Automation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Agency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Rigid Rules ("If X then Y")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Adaptive Planning ("Given X, figure out Y")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Breaks on unexpected input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Attempts to recover/replan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Zero Variance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Probabilistic Variance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3" name="Google Shape;193;p21"/>
          <p:cNvSpPr/>
          <p:nvPr/>
        </p:nvSpPr>
        <p:spPr>
          <a:xfrm>
            <a:off x="600075" y="3352800"/>
            <a:ext cx="28194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3438525" y="3352800"/>
            <a:ext cx="406717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600075" y="4029075"/>
            <a:ext cx="281940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3438525" y="4029075"/>
            <a:ext cx="406717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600075" y="4695825"/>
            <a:ext cx="281940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3438525" y="4695825"/>
            <a:ext cx="406717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600075" y="5362575"/>
            <a:ext cx="281940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3438525" y="5362575"/>
            <a:ext cx="406717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581025" y="14668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Automation vs. Agency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81025" y="21907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581025" y="306228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Latency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581025" y="3509962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Agents require loops. Each loop is an LLM call (1-5 seconds).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581025" y="442436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 5-step agent task takes 10-25 seconds.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381750" y="323373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Cost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381750" y="36814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Each loop re-reads the entire history context.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381750" y="42529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Costs scale linearly or exponentially with complexity.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The Cost of Agency</a:t>
            </a:r>
            <a:endParaRPr dirty="0"/>
          </a:p>
        </p:txBody>
      </p:sp>
      <p:sp>
        <p:nvSpPr>
          <p:cNvPr id="215" name="Google Shape;215;p22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90800"/>
            <a:ext cx="110299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857250" y="3057525"/>
            <a:ext cx="1051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Do not use Agents if: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1247775" y="3971925"/>
            <a:ext cx="1036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process is strictly deterministic (Math, Payroll).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1247775" y="4505325"/>
            <a:ext cx="1036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Real-time (&lt; 200ms) response is required.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1247775" y="5038725"/>
            <a:ext cx="1036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Error tolerance is zero (Medical diagnosis without review).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962025" y="397192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962025" y="450532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962025" y="5038725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81025" y="128587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When NOT to use Agents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581025" y="200977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581025" y="323373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System 1 (LLM)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581025" y="36814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Fast, Intuitive, Instinctive.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581025" y="42529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"2+2=4", "Paris is in France."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6381750" y="323373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System 2 (Agent)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6381750" y="36814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Slow, Deliberative, Logical.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6381750" y="42529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"Plan a wedding itinerary."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The "System 2" Analogy</a:t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43075"/>
            <a:ext cx="882387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1180530" y="2524125"/>
            <a:ext cx="7624859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Agent Anatomy</a:t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4516635" y="3543300"/>
            <a:ext cx="95250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 txBox="1"/>
          <p:nvPr/>
        </p:nvSpPr>
        <p:spPr>
          <a:xfrm>
            <a:off x="1362075" y="3848100"/>
            <a:ext cx="72617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Biological Metaphor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95450"/>
            <a:ext cx="2543175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9950" y="1695450"/>
            <a:ext cx="2543175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695450"/>
            <a:ext cx="2543175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67800" y="1695450"/>
            <a:ext cx="2543175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/>
          <p:nvPr/>
        </p:nvSpPr>
        <p:spPr>
          <a:xfrm>
            <a:off x="923925" y="2686050"/>
            <a:ext cx="59710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Brain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3752850" y="2686050"/>
            <a:ext cx="73712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Hands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6581775" y="2686050"/>
            <a:ext cx="97797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Eyes</a:t>
            </a:r>
            <a:endParaRPr dirty="0"/>
          </a:p>
        </p:txBody>
      </p:sp>
      <p:sp>
        <p:nvSpPr>
          <p:cNvPr id="265" name="Google Shape;265;p26"/>
          <p:cNvSpPr txBox="1"/>
          <p:nvPr/>
        </p:nvSpPr>
        <p:spPr>
          <a:xfrm>
            <a:off x="9410700" y="2686050"/>
            <a:ext cx="99465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Memory</a:t>
            </a:r>
            <a:endParaRPr/>
          </a:p>
        </p:txBody>
      </p:sp>
      <p:pic>
        <p:nvPicPr>
          <p:cNvPr id="266" name="Google Shape;266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3925" y="2066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52850" y="2066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81775" y="20669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410700" y="20669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Anatomy Overview</a:t>
            </a:r>
            <a:endParaRPr/>
          </a:p>
        </p:txBody>
      </p:sp>
      <p:sp>
        <p:nvSpPr>
          <p:cNvPr id="271" name="Google Shape;271;p26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5CAD2B-CF4D-6780-AD3A-3E232BB1FC4C}"/>
              </a:ext>
            </a:extLst>
          </p:cNvPr>
          <p:cNvSpPr txBox="1"/>
          <p:nvPr/>
        </p:nvSpPr>
        <p:spPr>
          <a:xfrm>
            <a:off x="641719" y="4410076"/>
            <a:ext cx="21872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0" i="0" u="none" strike="noStrike" dirty="0">
                <a:solidFill>
                  <a:srgbClr val="AAAAAA"/>
                </a:solidFill>
                <a:effectLst/>
                <a:latin typeface="Urbanist" panose="020B0A04040200000203" pitchFamily="34" charset="77"/>
              </a:rPr>
              <a:t>The LLM (GPT-4, Claude 3.5)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185B17-164B-DCCE-CDAB-CF92FACD048F}"/>
              </a:ext>
            </a:extLst>
          </p:cNvPr>
          <p:cNvSpPr txBox="1"/>
          <p:nvPr/>
        </p:nvSpPr>
        <p:spPr>
          <a:xfrm>
            <a:off x="3574244" y="4410075"/>
            <a:ext cx="18314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0" i="0" u="none" strike="noStrike" dirty="0">
                <a:solidFill>
                  <a:srgbClr val="AAAAAA"/>
                </a:solidFill>
                <a:effectLst/>
                <a:latin typeface="Urbanist" panose="020B0A04040200000203" pitchFamily="34" charset="77"/>
              </a:rPr>
              <a:t>Tools (Functions, APIs)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AE58A-3F42-180A-5EE3-6607611D39DC}"/>
              </a:ext>
            </a:extLst>
          </p:cNvPr>
          <p:cNvSpPr txBox="1"/>
          <p:nvPr/>
        </p:nvSpPr>
        <p:spPr>
          <a:xfrm>
            <a:off x="6238875" y="4423886"/>
            <a:ext cx="245785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0" i="0" u="none" strike="noStrike" dirty="0">
                <a:solidFill>
                  <a:srgbClr val="AAAAAA"/>
                </a:solidFill>
                <a:effectLst/>
                <a:latin typeface="Urbanist" panose="020B0A04040200000203" pitchFamily="34" charset="77"/>
              </a:rPr>
              <a:t>Observations (Tool Outputs)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1AF82D-0AEF-370A-D034-794E26DFAFE5}"/>
              </a:ext>
            </a:extLst>
          </p:cNvPr>
          <p:cNvSpPr txBox="1"/>
          <p:nvPr/>
        </p:nvSpPr>
        <p:spPr>
          <a:xfrm>
            <a:off x="9250325" y="4423886"/>
            <a:ext cx="18633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0" i="0" u="none" strike="noStrike" dirty="0">
                <a:solidFill>
                  <a:srgbClr val="AAAAAA"/>
                </a:solidFill>
                <a:effectLst/>
                <a:latin typeface="Urbanist" panose="020B0A04040200000203" pitchFamily="34" charset="77"/>
              </a:rPr>
              <a:t>Context Window &amp; Vector DB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7"/>
          <p:cNvSpPr txBox="1"/>
          <p:nvPr/>
        </p:nvSpPr>
        <p:spPr>
          <a:xfrm>
            <a:off x="581025" y="3052762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central processing unit.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1247775" y="3548062"/>
            <a:ext cx="1036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Role: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Reasoning, Planning, Routing.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1247775" y="4081462"/>
            <a:ext cx="1036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Models: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GPT-4, Claude 3.5 Sonnet, Llama 3.</a:t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1247775" y="4614862"/>
            <a:ext cx="1036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Constraint: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It is stateless. It forgets everything after the API call finishes.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962025" y="354806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962025" y="408146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962025" y="461486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581025" y="1709737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The Brain (LLM)</a:t>
            </a:r>
            <a:endParaRPr/>
          </a:p>
        </p:txBody>
      </p:sp>
      <p:sp>
        <p:nvSpPr>
          <p:cNvPr id="285" name="Google Shape;285;p27"/>
          <p:cNvSpPr/>
          <p:nvPr/>
        </p:nvSpPr>
        <p:spPr>
          <a:xfrm>
            <a:off x="581025" y="243363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005137"/>
            <a:ext cx="5229225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8"/>
          <p:cNvSpPr txBox="1"/>
          <p:nvPr/>
        </p:nvSpPr>
        <p:spPr>
          <a:xfrm>
            <a:off x="581025" y="3286125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"Working Memory" is limited (e.g., 128k tokens).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581025" y="3857625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As the agent loops, history grows.</a:t>
            </a:r>
            <a:endParaRPr/>
          </a:p>
        </p:txBody>
      </p:sp>
      <p:sp>
        <p:nvSpPr>
          <p:cNvPr id="294" name="Google Shape;294;p28"/>
          <p:cNvSpPr txBox="1"/>
          <p:nvPr/>
        </p:nvSpPr>
        <p:spPr>
          <a:xfrm>
            <a:off x="581025" y="4429125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If history &gt; window, the agent gets "amnesia."</a:t>
            </a:r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6724650" y="3348037"/>
            <a:ext cx="101934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Strategy</a:t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6724650" y="3967162"/>
            <a:ext cx="4543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Summarization steps are required for long-running agents to compress history.</a:t>
            </a:r>
            <a:endParaRPr/>
          </a:p>
        </p:txBody>
      </p:sp>
      <p:sp>
        <p:nvSpPr>
          <p:cNvPr id="297" name="Google Shape;297;p2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Brain Constraint: Context Window</a:t>
            </a:r>
            <a:endParaRPr/>
          </a:p>
        </p:txBody>
      </p:sp>
      <p:sp>
        <p:nvSpPr>
          <p:cNvPr id="298" name="Google Shape;298;p28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62275"/>
            <a:ext cx="1102995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9"/>
          <p:cNvSpPr txBox="1"/>
          <p:nvPr/>
        </p:nvSpPr>
        <p:spPr>
          <a:xfrm>
            <a:off x="581025" y="47148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LLM provides the 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intent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(JSON); the Code provides the 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execution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306" name="Google Shape;306;p29"/>
          <p:cNvSpPr txBox="1"/>
          <p:nvPr/>
        </p:nvSpPr>
        <p:spPr>
          <a:xfrm>
            <a:off x="876300" y="3257550"/>
            <a:ext cx="1096137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TOOL</a:t>
            </a: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876300" y="3743325"/>
            <a:ext cx="10439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An executable function or API that the LLM can invoke to affect the outside world.</a:t>
            </a:r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581025" y="16573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The Hands (Tools)</a:t>
            </a:r>
            <a:endParaRPr/>
          </a:p>
        </p:txBody>
      </p:sp>
      <p:sp>
        <p:nvSpPr>
          <p:cNvPr id="309" name="Google Shape;309;p29"/>
          <p:cNvSpPr/>
          <p:nvPr/>
        </p:nvSpPr>
        <p:spPr>
          <a:xfrm>
            <a:off x="581025" y="23812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5" name="Google Shape;315;p30"/>
          <p:cNvGraphicFramePr/>
          <p:nvPr/>
        </p:nvGraphicFramePr>
        <p:xfrm>
          <a:off x="581025" y="3105150"/>
          <a:ext cx="6515100" cy="1952625"/>
        </p:xfrm>
        <a:graphic>
          <a:graphicData uri="http://schemas.openxmlformats.org/drawingml/2006/table">
            <a:tbl>
              <a:tblPr firstRow="1" bandRow="1">
                <a:noFill/>
                <a:tableStyleId>{A09FA15F-5E0E-4433-87F4-F386121DBDC9}</a:tableStyleId>
              </a:tblPr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Read Tools (Low Risk)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Write Tools (High Risk)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Search, Get Weather, Read File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 Tweet, Delete File, Buy Crypto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Can be fully autonomous.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Should require "Human in Loop".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6" name="Google Shape;316;p30"/>
          <p:cNvSpPr/>
          <p:nvPr/>
        </p:nvSpPr>
        <p:spPr>
          <a:xfrm>
            <a:off x="600075" y="3686175"/>
            <a:ext cx="309562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0"/>
          <p:cNvSpPr/>
          <p:nvPr/>
        </p:nvSpPr>
        <p:spPr>
          <a:xfrm>
            <a:off x="3714750" y="3686175"/>
            <a:ext cx="341947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0"/>
          <p:cNvSpPr/>
          <p:nvPr/>
        </p:nvSpPr>
        <p:spPr>
          <a:xfrm>
            <a:off x="600075" y="4362450"/>
            <a:ext cx="309562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0"/>
          <p:cNvSpPr/>
          <p:nvPr/>
        </p:nvSpPr>
        <p:spPr>
          <a:xfrm>
            <a:off x="3714750" y="4362450"/>
            <a:ext cx="341947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600075" y="5029200"/>
            <a:ext cx="309562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3714750" y="5029200"/>
            <a:ext cx="341947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0"/>
          <p:cNvSpPr txBox="1"/>
          <p:nvPr/>
        </p:nvSpPr>
        <p:spPr>
          <a:xfrm>
            <a:off x="581025" y="18002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Read vs. Write Tools</a:t>
            </a:r>
            <a:endParaRPr/>
          </a:p>
        </p:txBody>
      </p:sp>
      <p:sp>
        <p:nvSpPr>
          <p:cNvPr id="323" name="Google Shape;323;p30"/>
          <p:cNvSpPr/>
          <p:nvPr/>
        </p:nvSpPr>
        <p:spPr>
          <a:xfrm>
            <a:off x="581025" y="25241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519487"/>
            <a:ext cx="1102995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1"/>
          <p:cNvSpPr txBox="1"/>
          <p:nvPr/>
        </p:nvSpPr>
        <p:spPr>
          <a:xfrm>
            <a:off x="581025" y="3033712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LLM cannot "see" the result of its action unless we feed it back.</a:t>
            </a:r>
            <a:endParaRPr/>
          </a:p>
        </p:txBody>
      </p:sp>
      <p:sp>
        <p:nvSpPr>
          <p:cNvPr id="331" name="Google Shape;331;p31"/>
          <p:cNvSpPr txBox="1"/>
          <p:nvPr/>
        </p:nvSpPr>
        <p:spPr>
          <a:xfrm>
            <a:off x="581025" y="4681537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If the observation is "Error: Timeout", the Brain sees that and can try again.</a:t>
            </a:r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3133725" y="3767137"/>
            <a:ext cx="28289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... Execution happens ...</a:t>
            </a:r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828675" y="3767137"/>
            <a:ext cx="104775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This text is fed back to the Brain</a:t>
            </a:r>
            <a:endParaRPr/>
          </a:p>
        </p:txBody>
      </p:sp>
      <p:sp>
        <p:nvSpPr>
          <p:cNvPr id="334" name="Google Shape;334;p31"/>
          <p:cNvSpPr txBox="1"/>
          <p:nvPr/>
        </p:nvSpPr>
        <p:spPr>
          <a:xfrm>
            <a:off x="581025" y="1690687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The Eyes (Observations)</a:t>
            </a:r>
            <a:endParaRPr/>
          </a:p>
        </p:txBody>
      </p:sp>
      <p:sp>
        <p:nvSpPr>
          <p:cNvPr id="335" name="Google Shape;335;p31"/>
          <p:cNvSpPr/>
          <p:nvPr/>
        </p:nvSpPr>
        <p:spPr>
          <a:xfrm>
            <a:off x="581025" y="241458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2"/>
          <p:cNvSpPr txBox="1"/>
          <p:nvPr/>
        </p:nvSpPr>
        <p:spPr>
          <a:xfrm>
            <a:off x="581025" y="323373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Short-Term</a:t>
            </a:r>
            <a:endParaRPr/>
          </a:p>
        </p:txBody>
      </p:sp>
      <p:sp>
        <p:nvSpPr>
          <p:cNvPr id="342" name="Google Shape;342;p32"/>
          <p:cNvSpPr txBox="1"/>
          <p:nvPr/>
        </p:nvSpPr>
        <p:spPr>
          <a:xfrm>
            <a:off x="581025" y="36814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list of messages in the current session.</a:t>
            </a:r>
            <a:endParaRPr/>
          </a:p>
        </p:txBody>
      </p:sp>
      <p:sp>
        <p:nvSpPr>
          <p:cNvPr id="343" name="Google Shape;343;p32"/>
          <p:cNvSpPr txBox="1"/>
          <p:nvPr/>
        </p:nvSpPr>
        <p:spPr>
          <a:xfrm>
            <a:off x="581025" y="42529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Ephemeral. Lost on restart.</a:t>
            </a:r>
            <a:endParaRPr/>
          </a:p>
        </p:txBody>
      </p:sp>
      <p:sp>
        <p:nvSpPr>
          <p:cNvPr id="344" name="Google Shape;344;p32"/>
          <p:cNvSpPr txBox="1"/>
          <p:nvPr/>
        </p:nvSpPr>
        <p:spPr>
          <a:xfrm>
            <a:off x="6381750" y="323373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Long-Term</a:t>
            </a:r>
            <a:endParaRPr/>
          </a:p>
        </p:txBody>
      </p:sp>
      <p:sp>
        <p:nvSpPr>
          <p:cNvPr id="345" name="Google Shape;345;p32"/>
          <p:cNvSpPr txBox="1"/>
          <p:nvPr/>
        </p:nvSpPr>
        <p:spPr>
          <a:xfrm>
            <a:off x="6381750" y="36814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External databases (Postgres, Vector DB).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6381750" y="42529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Persistent. Retrieved via RAG.</a:t>
            </a:r>
            <a:endParaRPr/>
          </a:p>
        </p:txBody>
      </p:sp>
      <p:sp>
        <p:nvSpPr>
          <p:cNvPr id="347" name="Google Shape;347;p32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Memory (State)</a:t>
            </a:r>
            <a:endParaRPr/>
          </a:p>
        </p:txBody>
      </p:sp>
      <p:sp>
        <p:nvSpPr>
          <p:cNvPr id="348" name="Google Shape;348;p32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43075"/>
            <a:ext cx="882387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3"/>
          <p:cNvSpPr txBox="1"/>
          <p:nvPr/>
        </p:nvSpPr>
        <p:spPr>
          <a:xfrm>
            <a:off x="1180530" y="2524125"/>
            <a:ext cx="7624859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Flow Engineering</a:t>
            </a:r>
            <a:endParaRPr/>
          </a:p>
        </p:txBody>
      </p:sp>
      <p:sp>
        <p:nvSpPr>
          <p:cNvPr id="356" name="Google Shape;356;p33"/>
          <p:cNvSpPr/>
          <p:nvPr/>
        </p:nvSpPr>
        <p:spPr>
          <a:xfrm>
            <a:off x="4516635" y="3543300"/>
            <a:ext cx="95250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3"/>
          <p:cNvSpPr txBox="1"/>
          <p:nvPr/>
        </p:nvSpPr>
        <p:spPr>
          <a:xfrm>
            <a:off x="1362075" y="3848100"/>
            <a:ext cx="72617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Architecture of Agency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28962"/>
            <a:ext cx="110299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4"/>
          <p:cNvSpPr txBox="1"/>
          <p:nvPr/>
        </p:nvSpPr>
        <p:spPr>
          <a:xfrm>
            <a:off x="876300" y="3424237"/>
            <a:ext cx="1096137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FLOW ENGINEERING</a:t>
            </a:r>
            <a:endParaRPr/>
          </a:p>
        </p:txBody>
      </p:sp>
      <p:sp>
        <p:nvSpPr>
          <p:cNvPr id="365" name="Google Shape;365;p34"/>
          <p:cNvSpPr txBox="1"/>
          <p:nvPr/>
        </p:nvSpPr>
        <p:spPr>
          <a:xfrm>
            <a:off x="876300" y="3910012"/>
            <a:ext cx="10439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iterative process of designing the cognitive architecture (loops, conditions, state) that surrounds an LLM to reliably solve tasks.</a:t>
            </a:r>
            <a:endParaRPr/>
          </a:p>
        </p:txBody>
      </p:sp>
      <p:sp>
        <p:nvSpPr>
          <p:cNvPr id="366" name="Google Shape;366;p34"/>
          <p:cNvSpPr txBox="1"/>
          <p:nvPr/>
        </p:nvSpPr>
        <p:spPr>
          <a:xfrm>
            <a:off x="581025" y="1824037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Definition: Flow Engineering</a:t>
            </a:r>
            <a:endParaRPr/>
          </a:p>
        </p:txBody>
      </p:sp>
      <p:sp>
        <p:nvSpPr>
          <p:cNvPr id="367" name="Google Shape;367;p34"/>
          <p:cNvSpPr/>
          <p:nvPr/>
        </p:nvSpPr>
        <p:spPr>
          <a:xfrm>
            <a:off x="581025" y="254793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5"/>
          <p:cNvSpPr txBox="1"/>
          <p:nvPr/>
        </p:nvSpPr>
        <p:spPr>
          <a:xfrm>
            <a:off x="581025" y="323373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Prompt Engineering</a:t>
            </a:r>
            <a:endParaRPr/>
          </a:p>
        </p:txBody>
      </p:sp>
      <p:sp>
        <p:nvSpPr>
          <p:cNvPr id="374" name="Google Shape;374;p35"/>
          <p:cNvSpPr txBox="1"/>
          <p:nvPr/>
        </p:nvSpPr>
        <p:spPr>
          <a:xfrm>
            <a:off x="581025" y="36814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Optimizing the 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Input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375" name="Google Shape;375;p35"/>
          <p:cNvSpPr txBox="1"/>
          <p:nvPr/>
        </p:nvSpPr>
        <p:spPr>
          <a:xfrm>
            <a:off x="581025" y="42529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"Write a better prompt to get the right answer."</a:t>
            </a:r>
            <a:endParaRPr/>
          </a:p>
        </p:txBody>
      </p:sp>
      <p:sp>
        <p:nvSpPr>
          <p:cNvPr id="376" name="Google Shape;376;p35"/>
          <p:cNvSpPr txBox="1"/>
          <p:nvPr/>
        </p:nvSpPr>
        <p:spPr>
          <a:xfrm>
            <a:off x="6381750" y="306228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Flow Engineering</a:t>
            </a:r>
            <a:endParaRPr/>
          </a:p>
        </p:txBody>
      </p:sp>
      <p:sp>
        <p:nvSpPr>
          <p:cNvPr id="377" name="Google Shape;377;p35"/>
          <p:cNvSpPr txBox="1"/>
          <p:nvPr/>
        </p:nvSpPr>
        <p:spPr>
          <a:xfrm>
            <a:off x="6381750" y="350996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Optimizing the 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Process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378" name="Google Shape;378;p35"/>
          <p:cNvSpPr txBox="1"/>
          <p:nvPr/>
        </p:nvSpPr>
        <p:spPr>
          <a:xfrm>
            <a:off x="6381750" y="4081462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"Break the task into 3 steps, loop on step 2, validate step 3."</a:t>
            </a:r>
            <a:endParaRPr/>
          </a:p>
        </p:txBody>
      </p:sp>
      <p:sp>
        <p:nvSpPr>
          <p:cNvPr id="379" name="Google Shape;379;p35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Prompting vs. Flow Engineering</a:t>
            </a:r>
            <a:endParaRPr/>
          </a:p>
        </p:txBody>
      </p:sp>
      <p:sp>
        <p:nvSpPr>
          <p:cNvPr id="380" name="Google Shape;380;p35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 txBox="1"/>
          <p:nvPr/>
        </p:nvSpPr>
        <p:spPr>
          <a:xfrm>
            <a:off x="581025" y="323373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Without Flow</a:t>
            </a:r>
            <a:endParaRPr/>
          </a:p>
        </p:txBody>
      </p:sp>
      <p:sp>
        <p:nvSpPr>
          <p:cNvPr id="387" name="Google Shape;387;p36"/>
          <p:cNvSpPr txBox="1"/>
          <p:nvPr/>
        </p:nvSpPr>
        <p:spPr>
          <a:xfrm>
            <a:off x="581025" y="36814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Telling a contractor: "Build me a house."</a:t>
            </a:r>
            <a:endParaRPr/>
          </a:p>
        </p:txBody>
      </p:sp>
      <p:sp>
        <p:nvSpPr>
          <p:cNvPr id="388" name="Google Shape;388;p36"/>
          <p:cNvSpPr txBox="1"/>
          <p:nvPr/>
        </p:nvSpPr>
        <p:spPr>
          <a:xfrm>
            <a:off x="581025" y="42529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Result: Random chaos.</a:t>
            </a:r>
            <a:endParaRPr/>
          </a:p>
        </p:txBody>
      </p:sp>
      <p:sp>
        <p:nvSpPr>
          <p:cNvPr id="389" name="Google Shape;389;p36"/>
          <p:cNvSpPr txBox="1"/>
          <p:nvPr/>
        </p:nvSpPr>
        <p:spPr>
          <a:xfrm>
            <a:off x="6381750" y="306228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With Flow</a:t>
            </a:r>
            <a:endParaRPr/>
          </a:p>
        </p:txBody>
      </p:sp>
      <p:sp>
        <p:nvSpPr>
          <p:cNvPr id="390" name="Google Shape;390;p36"/>
          <p:cNvSpPr txBox="1"/>
          <p:nvPr/>
        </p:nvSpPr>
        <p:spPr>
          <a:xfrm>
            <a:off x="6381750" y="3509962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Providing a Blueprint: "Pour foundation, then frame, then roof."</a:t>
            </a:r>
            <a:endParaRPr/>
          </a:p>
        </p:txBody>
      </p:sp>
      <p:sp>
        <p:nvSpPr>
          <p:cNvPr id="391" name="Google Shape;391;p36"/>
          <p:cNvSpPr txBox="1"/>
          <p:nvPr/>
        </p:nvSpPr>
        <p:spPr>
          <a:xfrm>
            <a:off x="6381750" y="442436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Result: Reliable structure.</a:t>
            </a:r>
            <a:endParaRPr/>
          </a:p>
        </p:txBody>
      </p:sp>
      <p:sp>
        <p:nvSpPr>
          <p:cNvPr id="392" name="Google Shape;392;p36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Analogy: The Blueprint</a:t>
            </a:r>
            <a:endParaRPr/>
          </a:p>
        </p:txBody>
      </p:sp>
      <p:sp>
        <p:nvSpPr>
          <p:cNvPr id="393" name="Google Shape;393;p36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62425"/>
            <a:ext cx="1102995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7"/>
          <p:cNvSpPr txBox="1"/>
          <p:nvPr/>
        </p:nvSpPr>
        <p:spPr>
          <a:xfrm>
            <a:off x="581025" y="3105150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LLMs are probabilistic (random). Code is deterministic (exact).</a:t>
            </a:r>
            <a:endParaRPr/>
          </a:p>
        </p:txBody>
      </p:sp>
      <p:sp>
        <p:nvSpPr>
          <p:cNvPr id="401" name="Google Shape;401;p37"/>
          <p:cNvSpPr txBox="1"/>
          <p:nvPr/>
        </p:nvSpPr>
        <p:spPr>
          <a:xfrm>
            <a:off x="581025" y="3676650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Flow Engineering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wraps the random LLM in deterministic code to reduce entropy.</a:t>
            </a:r>
            <a:endParaRPr/>
          </a:p>
        </p:txBody>
      </p:sp>
      <p:sp>
        <p:nvSpPr>
          <p:cNvPr id="402" name="Google Shape;402;p37"/>
          <p:cNvSpPr txBox="1"/>
          <p:nvPr/>
        </p:nvSpPr>
        <p:spPr>
          <a:xfrm>
            <a:off x="828675" y="4410075"/>
            <a:ext cx="5238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</a:t>
            </a:r>
            <a:endParaRPr/>
          </a:p>
        </p:txBody>
      </p:sp>
      <p:sp>
        <p:nvSpPr>
          <p:cNvPr id="403" name="Google Shape;403;p37"/>
          <p:cNvSpPr txBox="1"/>
          <p:nvPr/>
        </p:nvSpPr>
        <p:spPr>
          <a:xfrm>
            <a:off x="2609850" y="4410075"/>
            <a:ext cx="24098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Deterministic Control</a:t>
            </a:r>
            <a:endParaRPr/>
          </a:p>
        </p:txBody>
      </p:sp>
      <p:sp>
        <p:nvSpPr>
          <p:cNvPr id="404" name="Google Shape;404;p37"/>
          <p:cNvSpPr txBox="1"/>
          <p:nvPr/>
        </p:nvSpPr>
        <p:spPr>
          <a:xfrm>
            <a:off x="7848600" y="4410075"/>
            <a:ext cx="2095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Probabilistic Core</a:t>
            </a:r>
            <a:endParaRPr/>
          </a:p>
        </p:txBody>
      </p:sp>
      <p:sp>
        <p:nvSpPr>
          <p:cNvPr id="405" name="Google Shape;405;p37"/>
          <p:cNvSpPr txBox="1"/>
          <p:nvPr/>
        </p:nvSpPr>
        <p:spPr>
          <a:xfrm>
            <a:off x="10048875" y="4410075"/>
            <a:ext cx="2095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endParaRPr/>
          </a:p>
        </p:txBody>
      </p:sp>
      <p:sp>
        <p:nvSpPr>
          <p:cNvPr id="406" name="Google Shape;406;p37"/>
          <p:cNvSpPr txBox="1"/>
          <p:nvPr/>
        </p:nvSpPr>
        <p:spPr>
          <a:xfrm>
            <a:off x="2924175" y="4629150"/>
            <a:ext cx="22002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Deterministic Check</a:t>
            </a:r>
            <a:endParaRPr/>
          </a:p>
        </p:txBody>
      </p:sp>
      <p:sp>
        <p:nvSpPr>
          <p:cNvPr id="407" name="Google Shape;407;p37"/>
          <p:cNvSpPr txBox="1"/>
          <p:nvPr/>
        </p:nvSpPr>
        <p:spPr>
          <a:xfrm>
            <a:off x="5229225" y="4629150"/>
            <a:ext cx="5238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break</a:t>
            </a:r>
            <a:endParaRPr/>
          </a:p>
        </p:txBody>
      </p:sp>
      <p:sp>
        <p:nvSpPr>
          <p:cNvPr id="408" name="Google Shape;408;p37"/>
          <p:cNvSpPr txBox="1"/>
          <p:nvPr/>
        </p:nvSpPr>
        <p:spPr>
          <a:xfrm>
            <a:off x="581025" y="17621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Concept: Entropy Control</a:t>
            </a:r>
            <a:endParaRPr/>
          </a:p>
        </p:txBody>
      </p:sp>
      <p:sp>
        <p:nvSpPr>
          <p:cNvPr id="409" name="Google Shape;409;p37"/>
          <p:cNvSpPr/>
          <p:nvPr/>
        </p:nvSpPr>
        <p:spPr>
          <a:xfrm>
            <a:off x="581025" y="24860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8"/>
          <p:cNvSpPr txBox="1"/>
          <p:nvPr/>
        </p:nvSpPr>
        <p:spPr>
          <a:xfrm>
            <a:off x="581025" y="30003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Step A -&gt; Step B -&gt; Step C</a:t>
            </a:r>
            <a:endParaRPr/>
          </a:p>
        </p:txBody>
      </p:sp>
      <p:sp>
        <p:nvSpPr>
          <p:cNvPr id="416" name="Google Shape;416;p38"/>
          <p:cNvSpPr txBox="1"/>
          <p:nvPr/>
        </p:nvSpPr>
        <p:spPr>
          <a:xfrm>
            <a:off x="581025" y="35718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Use Case: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Content Pipeline.</a:t>
            </a:r>
            <a:endParaRPr/>
          </a:p>
        </p:txBody>
      </p:sp>
      <p:sp>
        <p:nvSpPr>
          <p:cNvPr id="417" name="Google Shape;417;p38"/>
          <p:cNvSpPr txBox="1"/>
          <p:nvPr/>
        </p:nvSpPr>
        <p:spPr>
          <a:xfrm>
            <a:off x="581025" y="41433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1. Generate Outline -&gt; 2. Write Draft -&gt; 3. Translate.</a:t>
            </a:r>
            <a:endParaRPr/>
          </a:p>
        </p:txBody>
      </p:sp>
      <p:sp>
        <p:nvSpPr>
          <p:cNvPr id="418" name="Google Shape;418;p38"/>
          <p:cNvSpPr txBox="1"/>
          <p:nvPr/>
        </p:nvSpPr>
        <p:spPr>
          <a:xfrm>
            <a:off x="581025" y="47148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Rigid. No feedback loop.</a:t>
            </a:r>
            <a:endParaRPr/>
          </a:p>
        </p:txBody>
      </p:sp>
      <p:sp>
        <p:nvSpPr>
          <p:cNvPr id="419" name="Google Shape;419;p38"/>
          <p:cNvSpPr txBox="1"/>
          <p:nvPr/>
        </p:nvSpPr>
        <p:spPr>
          <a:xfrm>
            <a:off x="581025" y="16573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Flow Pattern: The Chain</a:t>
            </a:r>
            <a:endParaRPr/>
          </a:p>
        </p:txBody>
      </p:sp>
      <p:sp>
        <p:nvSpPr>
          <p:cNvPr id="420" name="Google Shape;420;p38"/>
          <p:cNvSpPr/>
          <p:nvPr/>
        </p:nvSpPr>
        <p:spPr>
          <a:xfrm>
            <a:off x="581025" y="23812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9"/>
          <p:cNvSpPr txBox="1"/>
          <p:nvPr/>
        </p:nvSpPr>
        <p:spPr>
          <a:xfrm>
            <a:off x="581025" y="31146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Input -&gt; Classifier -&gt; Branch A / Branch B</a:t>
            </a:r>
            <a:endParaRPr/>
          </a:p>
        </p:txBody>
      </p:sp>
      <p:sp>
        <p:nvSpPr>
          <p:cNvPr id="427" name="Google Shape;427;p39"/>
          <p:cNvSpPr txBox="1"/>
          <p:nvPr/>
        </p:nvSpPr>
        <p:spPr>
          <a:xfrm>
            <a:off x="581025" y="36861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Use Case: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Customer Support.</a:t>
            </a:r>
            <a:endParaRPr/>
          </a:p>
        </p:txBody>
      </p:sp>
      <p:sp>
        <p:nvSpPr>
          <p:cNvPr id="428" name="Google Shape;428;p39"/>
          <p:cNvSpPr txBox="1"/>
          <p:nvPr/>
        </p:nvSpPr>
        <p:spPr>
          <a:xfrm>
            <a:off x="581025" y="4257675"/>
            <a:ext cx="11029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"Is this billing?" -&gt; Billing Agent.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"Is this tech support?" -&gt; Tech Agent.</a:t>
            </a:r>
            <a:endParaRPr/>
          </a:p>
        </p:txBody>
      </p:sp>
      <p:sp>
        <p:nvSpPr>
          <p:cNvPr id="429" name="Google Shape;429;p39"/>
          <p:cNvSpPr txBox="1"/>
          <p:nvPr/>
        </p:nvSpPr>
        <p:spPr>
          <a:xfrm>
            <a:off x="581025" y="17716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Flow Pattern: The Router</a:t>
            </a:r>
            <a:endParaRPr/>
          </a:p>
        </p:txBody>
      </p:sp>
      <p:sp>
        <p:nvSpPr>
          <p:cNvPr id="430" name="Google Shape;430;p39"/>
          <p:cNvSpPr/>
          <p:nvPr/>
        </p:nvSpPr>
        <p:spPr>
          <a:xfrm>
            <a:off x="581025" y="24955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0"/>
          <p:cNvSpPr txBox="1"/>
          <p:nvPr/>
        </p:nvSpPr>
        <p:spPr>
          <a:xfrm>
            <a:off x="581025" y="32861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Input -&gt; [Job A, Job B, Job C] -&gt; Aggregator</a:t>
            </a:r>
            <a:endParaRPr/>
          </a:p>
        </p:txBody>
      </p:sp>
      <p:sp>
        <p:nvSpPr>
          <p:cNvPr id="437" name="Google Shape;437;p40"/>
          <p:cNvSpPr txBox="1"/>
          <p:nvPr/>
        </p:nvSpPr>
        <p:spPr>
          <a:xfrm>
            <a:off x="581025" y="38576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Use Case: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Voting / Consensus.</a:t>
            </a:r>
            <a:endParaRPr/>
          </a:p>
        </p:txBody>
      </p:sp>
      <p:sp>
        <p:nvSpPr>
          <p:cNvPr id="438" name="Google Shape;438;p40"/>
          <p:cNvSpPr txBox="1"/>
          <p:nvPr/>
        </p:nvSpPr>
        <p:spPr>
          <a:xfrm>
            <a:off x="581025" y="44291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Ask 3 different models to verify a fact, then take the majority vote.</a:t>
            </a:r>
            <a:endParaRPr/>
          </a:p>
        </p:txBody>
      </p:sp>
      <p:sp>
        <p:nvSpPr>
          <p:cNvPr id="439" name="Google Shape;439;p40"/>
          <p:cNvSpPr txBox="1"/>
          <p:nvPr/>
        </p:nvSpPr>
        <p:spPr>
          <a:xfrm>
            <a:off x="581025" y="194310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Flow Pattern: Parallelization</a:t>
            </a:r>
            <a:endParaRPr/>
          </a:p>
        </p:txBody>
      </p:sp>
      <p:sp>
        <p:nvSpPr>
          <p:cNvPr id="440" name="Google Shape;440;p40"/>
          <p:cNvSpPr/>
          <p:nvPr/>
        </p:nvSpPr>
        <p:spPr>
          <a:xfrm>
            <a:off x="581025" y="266700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1"/>
          <p:cNvSpPr txBox="1"/>
          <p:nvPr/>
        </p:nvSpPr>
        <p:spPr>
          <a:xfrm>
            <a:off x="581025" y="30003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Input -&gt; Thought -&gt; Action -&gt; Obs -&gt; (Repeat)</a:t>
            </a:r>
            <a:endParaRPr/>
          </a:p>
        </p:txBody>
      </p:sp>
      <p:sp>
        <p:nvSpPr>
          <p:cNvPr id="447" name="Google Shape;447;p41"/>
          <p:cNvSpPr txBox="1"/>
          <p:nvPr/>
        </p:nvSpPr>
        <p:spPr>
          <a:xfrm>
            <a:off x="581025" y="35718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Use Case: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Problem Solving.</a:t>
            </a:r>
            <a:endParaRPr/>
          </a:p>
        </p:txBody>
      </p:sp>
      <p:sp>
        <p:nvSpPr>
          <p:cNvPr id="448" name="Google Shape;448;p41"/>
          <p:cNvSpPr txBox="1"/>
          <p:nvPr/>
        </p:nvSpPr>
        <p:spPr>
          <a:xfrm>
            <a:off x="581025" y="41433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"I don't know how many steps this takes. I will loop until done."</a:t>
            </a:r>
            <a:endParaRPr/>
          </a:p>
        </p:txBody>
      </p:sp>
      <p:sp>
        <p:nvSpPr>
          <p:cNvPr id="449" name="Google Shape;449;p41"/>
          <p:cNvSpPr txBox="1"/>
          <p:nvPr/>
        </p:nvSpPr>
        <p:spPr>
          <a:xfrm>
            <a:off x="581025" y="47148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This is the definition of an Agent.</a:t>
            </a:r>
            <a:endParaRPr/>
          </a:p>
        </p:txBody>
      </p:sp>
      <p:sp>
        <p:nvSpPr>
          <p:cNvPr id="450" name="Google Shape;450;p41"/>
          <p:cNvSpPr txBox="1"/>
          <p:nvPr/>
        </p:nvSpPr>
        <p:spPr>
          <a:xfrm>
            <a:off x="581025" y="16573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Flow Pattern: The Loop</a:t>
            </a:r>
            <a:endParaRPr/>
          </a:p>
        </p:txBody>
      </p:sp>
      <p:sp>
        <p:nvSpPr>
          <p:cNvPr id="451" name="Google Shape;451;p41"/>
          <p:cNvSpPr/>
          <p:nvPr/>
        </p:nvSpPr>
        <p:spPr>
          <a:xfrm>
            <a:off x="581025" y="23812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2"/>
          <p:cNvSpPr txBox="1"/>
          <p:nvPr/>
        </p:nvSpPr>
        <p:spPr>
          <a:xfrm>
            <a:off x="581025" y="32861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 a flow, "State" is the data passed between steps.</a:t>
            </a:r>
            <a:endParaRPr/>
          </a:p>
        </p:txBody>
      </p:sp>
      <p:sp>
        <p:nvSpPr>
          <p:cNvPr id="458" name="Google Shape;458;p42"/>
          <p:cNvSpPr txBox="1"/>
          <p:nvPr/>
        </p:nvSpPr>
        <p:spPr>
          <a:xfrm>
            <a:off x="581025" y="38576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Design Decision: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What do we keep? What do we discard?</a:t>
            </a:r>
            <a:endParaRPr/>
          </a:p>
        </p:txBody>
      </p:sp>
      <p:sp>
        <p:nvSpPr>
          <p:cNvPr id="459" name="Google Shape;459;p42"/>
          <p:cNvSpPr txBox="1"/>
          <p:nvPr/>
        </p:nvSpPr>
        <p:spPr>
          <a:xfrm>
            <a:off x="581025" y="44291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Passing too much state = High Cost + Confusion.</a:t>
            </a:r>
            <a:endParaRPr/>
          </a:p>
        </p:txBody>
      </p:sp>
      <p:sp>
        <p:nvSpPr>
          <p:cNvPr id="460" name="Google Shape;460;p42"/>
          <p:cNvSpPr txBox="1"/>
          <p:nvPr/>
        </p:nvSpPr>
        <p:spPr>
          <a:xfrm>
            <a:off x="581025" y="194310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State Management</a:t>
            </a:r>
            <a:endParaRPr/>
          </a:p>
        </p:txBody>
      </p:sp>
      <p:sp>
        <p:nvSpPr>
          <p:cNvPr id="461" name="Google Shape;461;p42"/>
          <p:cNvSpPr/>
          <p:nvPr/>
        </p:nvSpPr>
        <p:spPr>
          <a:xfrm>
            <a:off x="581025" y="266700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43075"/>
            <a:ext cx="882387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3"/>
          <p:cNvSpPr txBox="1"/>
          <p:nvPr/>
        </p:nvSpPr>
        <p:spPr>
          <a:xfrm>
            <a:off x="1180530" y="2524125"/>
            <a:ext cx="7624859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ReAct Pattern</a:t>
            </a:r>
            <a:endParaRPr/>
          </a:p>
        </p:txBody>
      </p:sp>
      <p:sp>
        <p:nvSpPr>
          <p:cNvPr id="469" name="Google Shape;469;p43"/>
          <p:cNvSpPr/>
          <p:nvPr/>
        </p:nvSpPr>
        <p:spPr>
          <a:xfrm>
            <a:off x="4516635" y="3543300"/>
            <a:ext cx="95250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3"/>
          <p:cNvSpPr txBox="1"/>
          <p:nvPr/>
        </p:nvSpPr>
        <p:spPr>
          <a:xfrm>
            <a:off x="1362075" y="3848100"/>
            <a:ext cx="72617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Reason + Act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262312"/>
            <a:ext cx="5229225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4"/>
          <p:cNvSpPr txBox="1"/>
          <p:nvPr/>
        </p:nvSpPr>
        <p:spPr>
          <a:xfrm>
            <a:off x="581025" y="3228975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Paper: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"Synergizing Reasoning and Acting in Language Models" (Yao et al., 2022).</a:t>
            </a:r>
            <a:endParaRPr/>
          </a:p>
        </p:txBody>
      </p:sp>
      <p:sp>
        <p:nvSpPr>
          <p:cNvPr id="478" name="Google Shape;478;p44"/>
          <p:cNvSpPr txBox="1"/>
          <p:nvPr/>
        </p:nvSpPr>
        <p:spPr>
          <a:xfrm>
            <a:off x="581025" y="4143375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Core Idea: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Interleaving "Thought" (Reasoning traces) with "Action" (Tool execution).</a:t>
            </a:r>
            <a:endParaRPr/>
          </a:p>
        </p:txBody>
      </p:sp>
      <p:pic>
        <p:nvPicPr>
          <p:cNvPr id="479" name="Google Shape;479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15362" y="36052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4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Introduction to ReAct</a:t>
            </a:r>
            <a:endParaRPr/>
          </a:p>
        </p:txBody>
      </p:sp>
      <p:sp>
        <p:nvSpPr>
          <p:cNvPr id="481" name="Google Shape;481;p44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319462"/>
            <a:ext cx="1102995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5"/>
          <p:cNvSpPr txBox="1"/>
          <p:nvPr/>
        </p:nvSpPr>
        <p:spPr>
          <a:xfrm>
            <a:off x="581025" y="4262437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Purpose: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Decompose the problem. Ground the model.</a:t>
            </a:r>
            <a:endParaRPr/>
          </a:p>
        </p:txBody>
      </p:sp>
      <p:sp>
        <p:nvSpPr>
          <p:cNvPr id="489" name="Google Shape;489;p45"/>
          <p:cNvSpPr txBox="1"/>
          <p:nvPr/>
        </p:nvSpPr>
        <p:spPr>
          <a:xfrm>
            <a:off x="581025" y="2109787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Step 1: The Thought</a:t>
            </a:r>
            <a:endParaRPr/>
          </a:p>
        </p:txBody>
      </p:sp>
      <p:sp>
        <p:nvSpPr>
          <p:cNvPr id="490" name="Google Shape;490;p45"/>
          <p:cNvSpPr/>
          <p:nvPr/>
        </p:nvSpPr>
        <p:spPr>
          <a:xfrm>
            <a:off x="581025" y="283368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390900"/>
            <a:ext cx="522922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6"/>
          <p:cNvSpPr txBox="1"/>
          <p:nvPr/>
        </p:nvSpPr>
        <p:spPr>
          <a:xfrm>
            <a:off x="581025" y="317658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Token Computation</a:t>
            </a:r>
            <a:endParaRPr/>
          </a:p>
        </p:txBody>
      </p:sp>
      <p:sp>
        <p:nvSpPr>
          <p:cNvPr id="498" name="Google Shape;498;p46"/>
          <p:cNvSpPr txBox="1"/>
          <p:nvPr/>
        </p:nvSpPr>
        <p:spPr>
          <a:xfrm>
            <a:off x="581025" y="3624262"/>
            <a:ext cx="52292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LLMs "think" by generating tokens. Writing out the logic gives the transformer more time/depth to process the request before committing to an action.</a:t>
            </a:r>
            <a:endParaRPr/>
          </a:p>
        </p:txBody>
      </p:sp>
      <p:sp>
        <p:nvSpPr>
          <p:cNvPr id="499" name="Google Shape;499;p46"/>
          <p:cNvSpPr txBox="1"/>
          <p:nvPr/>
        </p:nvSpPr>
        <p:spPr>
          <a:xfrm>
            <a:off x="6657975" y="3857625"/>
            <a:ext cx="4714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Silent Agents make more mistakes.</a:t>
            </a:r>
            <a:endParaRPr/>
          </a:p>
        </p:txBody>
      </p:sp>
      <p:sp>
        <p:nvSpPr>
          <p:cNvPr id="500" name="Google Shape;500;p46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Why "Think" Out Loud?</a:t>
            </a:r>
            <a:endParaRPr/>
          </a:p>
        </p:txBody>
      </p:sp>
      <p:sp>
        <p:nvSpPr>
          <p:cNvPr id="501" name="Google Shape;501;p46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33712"/>
            <a:ext cx="1102995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7"/>
          <p:cNvSpPr txBox="1"/>
          <p:nvPr/>
        </p:nvSpPr>
        <p:spPr>
          <a:xfrm>
            <a:off x="581025" y="3976687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Purpose: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Structured command to the system.</a:t>
            </a:r>
            <a:endParaRPr/>
          </a:p>
        </p:txBody>
      </p:sp>
      <p:sp>
        <p:nvSpPr>
          <p:cNvPr id="509" name="Google Shape;509;p47"/>
          <p:cNvSpPr txBox="1"/>
          <p:nvPr/>
        </p:nvSpPr>
        <p:spPr>
          <a:xfrm>
            <a:off x="581025" y="4548187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Must strictly follow the defined schema (JSON/Regex).</a:t>
            </a:r>
            <a:endParaRPr/>
          </a:p>
        </p:txBody>
      </p:sp>
      <p:sp>
        <p:nvSpPr>
          <p:cNvPr id="510" name="Google Shape;510;p47"/>
          <p:cNvSpPr txBox="1"/>
          <p:nvPr/>
        </p:nvSpPr>
        <p:spPr>
          <a:xfrm>
            <a:off x="581025" y="1824037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Step 2: The Action</a:t>
            </a:r>
            <a:endParaRPr dirty="0"/>
          </a:p>
        </p:txBody>
      </p:sp>
      <p:sp>
        <p:nvSpPr>
          <p:cNvPr id="511" name="Google Shape;511;p47"/>
          <p:cNvSpPr/>
          <p:nvPr/>
        </p:nvSpPr>
        <p:spPr>
          <a:xfrm>
            <a:off x="581025" y="254793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8"/>
          <p:cNvSpPr txBox="1"/>
          <p:nvPr/>
        </p:nvSpPr>
        <p:spPr>
          <a:xfrm>
            <a:off x="581025" y="32861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After generating an Action, the LLM must 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PAUSE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518" name="Google Shape;518;p48"/>
          <p:cNvSpPr txBox="1"/>
          <p:nvPr/>
        </p:nvSpPr>
        <p:spPr>
          <a:xfrm>
            <a:off x="581025" y="38576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It cannot execute the tool itself.</a:t>
            </a:r>
            <a:endParaRPr/>
          </a:p>
        </p:txBody>
      </p:sp>
      <p:sp>
        <p:nvSpPr>
          <p:cNvPr id="519" name="Google Shape;519;p48"/>
          <p:cNvSpPr txBox="1"/>
          <p:nvPr/>
        </p:nvSpPr>
        <p:spPr>
          <a:xfrm>
            <a:off x="581025" y="44291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We configure the API to stop generating when it sees a specific token (e.g., ] or PAUSE).</a:t>
            </a:r>
            <a:endParaRPr/>
          </a:p>
        </p:txBody>
      </p:sp>
      <p:sp>
        <p:nvSpPr>
          <p:cNvPr id="520" name="Google Shape;520;p48"/>
          <p:cNvSpPr txBox="1"/>
          <p:nvPr/>
        </p:nvSpPr>
        <p:spPr>
          <a:xfrm>
            <a:off x="581025" y="194310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Critical Concept: The Stop Token</a:t>
            </a:r>
            <a:endParaRPr/>
          </a:p>
        </p:txBody>
      </p:sp>
      <p:sp>
        <p:nvSpPr>
          <p:cNvPr id="521" name="Google Shape;521;p48"/>
          <p:cNvSpPr/>
          <p:nvPr/>
        </p:nvSpPr>
        <p:spPr>
          <a:xfrm>
            <a:off x="581025" y="266700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133725"/>
            <a:ext cx="5229225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49"/>
          <p:cNvSpPr txBox="1"/>
          <p:nvPr/>
        </p:nvSpPr>
        <p:spPr>
          <a:xfrm>
            <a:off x="581025" y="3000375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Python script wakes up.</a:t>
            </a:r>
            <a:endParaRPr/>
          </a:p>
        </p:txBody>
      </p:sp>
      <p:sp>
        <p:nvSpPr>
          <p:cNvPr id="529" name="Google Shape;529;p49"/>
          <p:cNvSpPr txBox="1"/>
          <p:nvPr/>
        </p:nvSpPr>
        <p:spPr>
          <a:xfrm>
            <a:off x="581025" y="3571875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1. Parses the Action.</a:t>
            </a:r>
            <a:endParaRPr/>
          </a:p>
        </p:txBody>
      </p:sp>
      <p:sp>
        <p:nvSpPr>
          <p:cNvPr id="530" name="Google Shape;530;p49"/>
          <p:cNvSpPr txBox="1"/>
          <p:nvPr/>
        </p:nvSpPr>
        <p:spPr>
          <a:xfrm>
            <a:off x="581025" y="4143375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2. Calls the API/Function.</a:t>
            </a:r>
            <a:endParaRPr/>
          </a:p>
        </p:txBody>
      </p:sp>
      <p:sp>
        <p:nvSpPr>
          <p:cNvPr id="531" name="Google Shape;531;p49"/>
          <p:cNvSpPr txBox="1"/>
          <p:nvPr/>
        </p:nvSpPr>
        <p:spPr>
          <a:xfrm>
            <a:off x="581025" y="4714875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3. Captures the output.</a:t>
            </a:r>
            <a:endParaRPr/>
          </a:p>
        </p:txBody>
      </p:sp>
      <p:sp>
        <p:nvSpPr>
          <p:cNvPr id="532" name="Google Shape;532;p49"/>
          <p:cNvSpPr txBox="1"/>
          <p:nvPr/>
        </p:nvSpPr>
        <p:spPr>
          <a:xfrm>
            <a:off x="6724650" y="3476625"/>
            <a:ext cx="190133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World Layer</a:t>
            </a:r>
            <a:endParaRPr/>
          </a:p>
        </p:txBody>
      </p:sp>
      <p:sp>
        <p:nvSpPr>
          <p:cNvPr id="533" name="Google Shape;533;p49"/>
          <p:cNvSpPr txBox="1"/>
          <p:nvPr/>
        </p:nvSpPr>
        <p:spPr>
          <a:xfrm>
            <a:off x="6724650" y="4095750"/>
            <a:ext cx="2266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This happens outside the LLM.</a:t>
            </a:r>
            <a:endParaRPr/>
          </a:p>
        </p:txBody>
      </p:sp>
      <p:sp>
        <p:nvSpPr>
          <p:cNvPr id="534" name="Google Shape;534;p49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Step 3: Execution</a:t>
            </a:r>
            <a:endParaRPr/>
          </a:p>
        </p:txBody>
      </p:sp>
      <p:sp>
        <p:nvSpPr>
          <p:cNvPr id="535" name="Google Shape;535;p49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319462"/>
            <a:ext cx="1102995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50"/>
          <p:cNvSpPr txBox="1"/>
          <p:nvPr/>
        </p:nvSpPr>
        <p:spPr>
          <a:xfrm>
            <a:off x="581025" y="2109787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Step 4: Observation</a:t>
            </a:r>
            <a:endParaRPr/>
          </a:p>
        </p:txBody>
      </p:sp>
      <p:sp>
        <p:nvSpPr>
          <p:cNvPr id="543" name="Google Shape;543;p50"/>
          <p:cNvSpPr/>
          <p:nvPr/>
        </p:nvSpPr>
        <p:spPr>
          <a:xfrm>
            <a:off x="581025" y="283368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0"/>
          <p:cNvSpPr txBox="1"/>
          <p:nvPr/>
        </p:nvSpPr>
        <p:spPr>
          <a:xfrm>
            <a:off x="581025" y="4262437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We inject this back into the conversation history as a "User" or "Tool" role message.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876675"/>
            <a:ext cx="1102995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51"/>
          <p:cNvSpPr txBox="1"/>
          <p:nvPr/>
        </p:nvSpPr>
        <p:spPr>
          <a:xfrm>
            <a:off x="581025" y="3390900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With the new Observation in context, the LLM generates again.</a:t>
            </a:r>
            <a:endParaRPr/>
          </a:p>
        </p:txBody>
      </p:sp>
      <p:sp>
        <p:nvSpPr>
          <p:cNvPr id="552" name="Google Shape;552;p51"/>
          <p:cNvSpPr txBox="1"/>
          <p:nvPr/>
        </p:nvSpPr>
        <p:spPr>
          <a:xfrm>
            <a:off x="581025" y="204787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Step 5: Next Thought</a:t>
            </a:r>
            <a:endParaRPr/>
          </a:p>
        </p:txBody>
      </p:sp>
      <p:sp>
        <p:nvSpPr>
          <p:cNvPr id="553" name="Google Shape;553;p51"/>
          <p:cNvSpPr/>
          <p:nvPr/>
        </p:nvSpPr>
        <p:spPr>
          <a:xfrm>
            <a:off x="581025" y="277177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9" name="Google Shape;559;p52"/>
          <p:cNvGraphicFramePr/>
          <p:nvPr/>
        </p:nvGraphicFramePr>
        <p:xfrm>
          <a:off x="581025" y="2771775"/>
          <a:ext cx="5400675" cy="2619400"/>
        </p:xfrm>
        <a:graphic>
          <a:graphicData uri="http://schemas.openxmlformats.org/drawingml/2006/table">
            <a:tbl>
              <a:tblPr firstRow="1" bandRow="1">
                <a:noFill/>
                <a:tableStyleId>{A09FA15F-5E0E-4433-87F4-F386121DBDC9}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Chain of Thought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ReAct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Internal reasoning only.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Reasoning + External Actions.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Good for Logic/Math.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Good for Real-world tasks.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Static knowledge.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Dynamic knowledge (Search).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60" name="Google Shape;560;p52"/>
          <p:cNvSpPr/>
          <p:nvPr/>
        </p:nvSpPr>
        <p:spPr>
          <a:xfrm>
            <a:off x="600075" y="3352800"/>
            <a:ext cx="23812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52"/>
          <p:cNvSpPr/>
          <p:nvPr/>
        </p:nvSpPr>
        <p:spPr>
          <a:xfrm>
            <a:off x="3000375" y="3352800"/>
            <a:ext cx="301942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2"/>
          <p:cNvSpPr/>
          <p:nvPr/>
        </p:nvSpPr>
        <p:spPr>
          <a:xfrm>
            <a:off x="600075" y="4029075"/>
            <a:ext cx="23812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2"/>
          <p:cNvSpPr/>
          <p:nvPr/>
        </p:nvSpPr>
        <p:spPr>
          <a:xfrm>
            <a:off x="3000375" y="4029075"/>
            <a:ext cx="301942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52"/>
          <p:cNvSpPr/>
          <p:nvPr/>
        </p:nvSpPr>
        <p:spPr>
          <a:xfrm>
            <a:off x="600075" y="4695825"/>
            <a:ext cx="23812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52"/>
          <p:cNvSpPr/>
          <p:nvPr/>
        </p:nvSpPr>
        <p:spPr>
          <a:xfrm>
            <a:off x="3000375" y="4695825"/>
            <a:ext cx="301942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2"/>
          <p:cNvSpPr/>
          <p:nvPr/>
        </p:nvSpPr>
        <p:spPr>
          <a:xfrm>
            <a:off x="600075" y="5362575"/>
            <a:ext cx="23812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2"/>
          <p:cNvSpPr/>
          <p:nvPr/>
        </p:nvSpPr>
        <p:spPr>
          <a:xfrm>
            <a:off x="3000375" y="5362575"/>
            <a:ext cx="301942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52"/>
          <p:cNvSpPr txBox="1"/>
          <p:nvPr/>
        </p:nvSpPr>
        <p:spPr>
          <a:xfrm>
            <a:off x="581025" y="14668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ReAct</a:t>
            </a:r>
            <a:r>
              <a:rPr lang="en-US" sz="3150" b="1" i="0" u="none" strike="noStrike" cap="none" dirty="0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 vs. Chain of Thought (</a:t>
            </a:r>
            <a:r>
              <a:rPr lang="en-US" sz="3150" b="1" i="0" u="none" strike="noStrike" cap="none" dirty="0" err="1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CoT</a:t>
            </a:r>
            <a:r>
              <a:rPr lang="en-US" sz="3150" b="1" i="0" u="none" strike="noStrike" cap="none" dirty="0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dirty="0"/>
          </a:p>
        </p:txBody>
      </p:sp>
      <p:sp>
        <p:nvSpPr>
          <p:cNvPr id="569" name="Google Shape;569;p52"/>
          <p:cNvSpPr/>
          <p:nvPr/>
        </p:nvSpPr>
        <p:spPr>
          <a:xfrm>
            <a:off x="581025" y="21907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53"/>
          <p:cNvSpPr txBox="1"/>
          <p:nvPr/>
        </p:nvSpPr>
        <p:spPr>
          <a:xfrm>
            <a:off x="581025" y="32861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Issue: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Model calls Action: get_bitcoin_price (Tool does not exist).</a:t>
            </a:r>
            <a:endParaRPr/>
          </a:p>
        </p:txBody>
      </p:sp>
      <p:sp>
        <p:nvSpPr>
          <p:cNvPr id="576" name="Google Shape;576;p53"/>
          <p:cNvSpPr txBox="1"/>
          <p:nvPr/>
        </p:nvSpPr>
        <p:spPr>
          <a:xfrm>
            <a:off x="581025" y="38576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Fix:</a:t>
            </a:r>
            <a:r>
              <a:rPr lang="en-US" sz="18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Catch the error and return Observation: Tool not found. Available tools: [A, B].</a:t>
            </a:r>
            <a:endParaRPr dirty="0"/>
          </a:p>
        </p:txBody>
      </p:sp>
      <p:sp>
        <p:nvSpPr>
          <p:cNvPr id="577" name="Google Shape;577;p53"/>
          <p:cNvSpPr txBox="1"/>
          <p:nvPr/>
        </p:nvSpPr>
        <p:spPr>
          <a:xfrm>
            <a:off x="581025" y="44291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model will read this and correct itself in the next turn.</a:t>
            </a:r>
            <a:endParaRPr/>
          </a:p>
        </p:txBody>
      </p:sp>
      <p:sp>
        <p:nvSpPr>
          <p:cNvPr id="578" name="Google Shape;578;p53"/>
          <p:cNvSpPr txBox="1"/>
          <p:nvPr/>
        </p:nvSpPr>
        <p:spPr>
          <a:xfrm>
            <a:off x="581025" y="194310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Pitfall: Hallucinated Tools</a:t>
            </a:r>
            <a:endParaRPr/>
          </a:p>
        </p:txBody>
      </p:sp>
      <p:sp>
        <p:nvSpPr>
          <p:cNvPr id="579" name="Google Shape;579;p53"/>
          <p:cNvSpPr/>
          <p:nvPr/>
        </p:nvSpPr>
        <p:spPr>
          <a:xfrm>
            <a:off x="581025" y="266700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54"/>
          <p:cNvSpPr txBox="1"/>
          <p:nvPr/>
        </p:nvSpPr>
        <p:spPr>
          <a:xfrm>
            <a:off x="581025" y="32861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Issue: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Model keeps trying the same failing action.</a:t>
            </a:r>
            <a:endParaRPr/>
          </a:p>
        </p:txBody>
      </p:sp>
      <p:sp>
        <p:nvSpPr>
          <p:cNvPr id="586" name="Google Shape;586;p54"/>
          <p:cNvSpPr txBox="1"/>
          <p:nvPr/>
        </p:nvSpPr>
        <p:spPr>
          <a:xfrm>
            <a:off x="581025" y="38576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Fix: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Implement a `MAX_ITERATIONS` counter (e.g., 5).</a:t>
            </a:r>
            <a:endParaRPr/>
          </a:p>
        </p:txBody>
      </p:sp>
      <p:sp>
        <p:nvSpPr>
          <p:cNvPr id="587" name="Google Shape;587;p54"/>
          <p:cNvSpPr txBox="1"/>
          <p:nvPr/>
        </p:nvSpPr>
        <p:spPr>
          <a:xfrm>
            <a:off x="581025" y="44291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Force a stop if limit reached to save money.</a:t>
            </a:r>
            <a:endParaRPr/>
          </a:p>
        </p:txBody>
      </p:sp>
      <p:sp>
        <p:nvSpPr>
          <p:cNvPr id="588" name="Google Shape;588;p54"/>
          <p:cNvSpPr txBox="1"/>
          <p:nvPr/>
        </p:nvSpPr>
        <p:spPr>
          <a:xfrm>
            <a:off x="581025" y="194310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Pitfall: Infinite Loops</a:t>
            </a:r>
            <a:endParaRPr/>
          </a:p>
        </p:txBody>
      </p:sp>
      <p:sp>
        <p:nvSpPr>
          <p:cNvPr id="589" name="Google Shape;589;p54"/>
          <p:cNvSpPr/>
          <p:nvPr/>
        </p:nvSpPr>
        <p:spPr>
          <a:xfrm>
            <a:off x="581025" y="266700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5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5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43075"/>
            <a:ext cx="882387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55"/>
          <p:cNvSpPr txBox="1"/>
          <p:nvPr/>
        </p:nvSpPr>
        <p:spPr>
          <a:xfrm>
            <a:off x="1180530" y="2524125"/>
            <a:ext cx="7624859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Tool Parsing</a:t>
            </a:r>
            <a:endParaRPr/>
          </a:p>
        </p:txBody>
      </p:sp>
      <p:sp>
        <p:nvSpPr>
          <p:cNvPr id="597" name="Google Shape;597;p55"/>
          <p:cNvSpPr/>
          <p:nvPr/>
        </p:nvSpPr>
        <p:spPr>
          <a:xfrm>
            <a:off x="4516635" y="3543300"/>
            <a:ext cx="95250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55"/>
          <p:cNvSpPr txBox="1"/>
          <p:nvPr/>
        </p:nvSpPr>
        <p:spPr>
          <a:xfrm>
            <a:off x="1362075" y="3848100"/>
            <a:ext cx="72617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Mechanics of "Action"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5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56"/>
          <p:cNvSpPr txBox="1"/>
          <p:nvPr/>
        </p:nvSpPr>
        <p:spPr>
          <a:xfrm>
            <a:off x="581025" y="35718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LLMs cannot actually call functions. They only output 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Text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605" name="Google Shape;605;p56"/>
          <p:cNvSpPr txBox="1"/>
          <p:nvPr/>
        </p:nvSpPr>
        <p:spPr>
          <a:xfrm>
            <a:off x="581025" y="41433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We need a parser to turn that Text into Code.</a:t>
            </a:r>
            <a:endParaRPr/>
          </a:p>
        </p:txBody>
      </p:sp>
      <p:sp>
        <p:nvSpPr>
          <p:cNvPr id="606" name="Google Shape;606;p56"/>
          <p:cNvSpPr txBox="1"/>
          <p:nvPr/>
        </p:nvSpPr>
        <p:spPr>
          <a:xfrm>
            <a:off x="581025" y="22288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How LLMs "Call" Tools</a:t>
            </a:r>
            <a:endParaRPr/>
          </a:p>
        </p:txBody>
      </p:sp>
      <p:sp>
        <p:nvSpPr>
          <p:cNvPr id="607" name="Google Shape;607;p56"/>
          <p:cNvSpPr/>
          <p:nvPr/>
        </p:nvSpPr>
        <p:spPr>
          <a:xfrm>
            <a:off x="581025" y="29527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5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5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567112"/>
            <a:ext cx="5229225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57"/>
          <p:cNvSpPr txBox="1"/>
          <p:nvPr/>
        </p:nvSpPr>
        <p:spPr>
          <a:xfrm>
            <a:off x="581025" y="3286125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"Hack" way.</a:t>
            </a:r>
            <a:endParaRPr/>
          </a:p>
        </p:txBody>
      </p:sp>
      <p:sp>
        <p:nvSpPr>
          <p:cNvPr id="615" name="Google Shape;615;p57"/>
          <p:cNvSpPr txBox="1"/>
          <p:nvPr/>
        </p:nvSpPr>
        <p:spPr>
          <a:xfrm>
            <a:off x="581025" y="3857625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Tell the model: "Please write Action: Name[Args]".</a:t>
            </a:r>
            <a:endParaRPr/>
          </a:p>
        </p:txBody>
      </p:sp>
      <p:sp>
        <p:nvSpPr>
          <p:cNvPr id="616" name="Google Shape;616;p57"/>
          <p:cNvSpPr txBox="1"/>
          <p:nvPr/>
        </p:nvSpPr>
        <p:spPr>
          <a:xfrm>
            <a:off x="581025" y="4429125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Use Regex to scrape it.</a:t>
            </a:r>
            <a:endParaRPr dirty="0"/>
          </a:p>
        </p:txBody>
      </p:sp>
      <p:sp>
        <p:nvSpPr>
          <p:cNvPr id="617" name="Google Shape;617;p57"/>
          <p:cNvSpPr txBox="1"/>
          <p:nvPr/>
        </p:nvSpPr>
        <p:spPr>
          <a:xfrm>
            <a:off x="6629400" y="3814762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endParaRPr/>
          </a:p>
        </p:txBody>
      </p:sp>
      <p:sp>
        <p:nvSpPr>
          <p:cNvPr id="618" name="Google Shape;618;p57"/>
          <p:cNvSpPr txBox="1"/>
          <p:nvPr/>
        </p:nvSpPr>
        <p:spPr>
          <a:xfrm>
            <a:off x="6629400" y="3814762"/>
            <a:ext cx="46101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"Action: (\w+)\[(.*)\]"</a:t>
            </a:r>
            <a:endParaRPr/>
          </a:p>
        </p:txBody>
      </p:sp>
      <p:sp>
        <p:nvSpPr>
          <p:cNvPr id="619" name="Google Shape;619;p57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Method 1: Regex Parsing</a:t>
            </a:r>
            <a:endParaRPr/>
          </a:p>
        </p:txBody>
      </p:sp>
      <p:sp>
        <p:nvSpPr>
          <p:cNvPr id="620" name="Google Shape;620;p57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5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5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343275"/>
            <a:ext cx="1102995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58"/>
          <p:cNvSpPr txBox="1"/>
          <p:nvPr/>
        </p:nvSpPr>
        <p:spPr>
          <a:xfrm>
            <a:off x="581025" y="2857500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Tell the model: "Output valid JSON only."</a:t>
            </a:r>
            <a:endParaRPr/>
          </a:p>
        </p:txBody>
      </p:sp>
      <p:sp>
        <p:nvSpPr>
          <p:cNvPr id="628" name="Google Shape;628;p58"/>
          <p:cNvSpPr txBox="1"/>
          <p:nvPr/>
        </p:nvSpPr>
        <p:spPr>
          <a:xfrm>
            <a:off x="581025" y="4286250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Pros: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Standard libraries (`json.loads`).</a:t>
            </a:r>
            <a:endParaRPr/>
          </a:p>
        </p:txBody>
      </p:sp>
      <p:sp>
        <p:nvSpPr>
          <p:cNvPr id="629" name="Google Shape;629;p58"/>
          <p:cNvSpPr txBox="1"/>
          <p:nvPr/>
        </p:nvSpPr>
        <p:spPr>
          <a:xfrm>
            <a:off x="581025" y="4857750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Cons: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Models sometimes miss a comma.</a:t>
            </a:r>
            <a:endParaRPr/>
          </a:p>
        </p:txBody>
      </p:sp>
      <p:sp>
        <p:nvSpPr>
          <p:cNvPr id="630" name="Google Shape;630;p58"/>
          <p:cNvSpPr txBox="1"/>
          <p:nvPr/>
        </p:nvSpPr>
        <p:spPr>
          <a:xfrm>
            <a:off x="581025" y="151447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Method 2: JSON Mode</a:t>
            </a:r>
            <a:endParaRPr/>
          </a:p>
        </p:txBody>
      </p:sp>
      <p:sp>
        <p:nvSpPr>
          <p:cNvPr id="631" name="Google Shape;631;p58"/>
          <p:cNvSpPr/>
          <p:nvPr/>
        </p:nvSpPr>
        <p:spPr>
          <a:xfrm>
            <a:off x="581025" y="223837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5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59"/>
          <p:cNvSpPr txBox="1"/>
          <p:nvPr/>
        </p:nvSpPr>
        <p:spPr>
          <a:xfrm>
            <a:off x="581025" y="32861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Modern APIs (OpenAI/Anthropic) have a dedicated tools parameter.</a:t>
            </a:r>
            <a:endParaRPr/>
          </a:p>
        </p:txBody>
      </p:sp>
      <p:sp>
        <p:nvSpPr>
          <p:cNvPr id="638" name="Google Shape;638;p59"/>
          <p:cNvSpPr txBox="1"/>
          <p:nvPr/>
        </p:nvSpPr>
        <p:spPr>
          <a:xfrm>
            <a:off x="581025" y="38576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model returns a structured object, not just text.</a:t>
            </a:r>
            <a:endParaRPr/>
          </a:p>
        </p:txBody>
      </p:sp>
      <p:sp>
        <p:nvSpPr>
          <p:cNvPr id="639" name="Google Shape;639;p59"/>
          <p:cNvSpPr txBox="1"/>
          <p:nvPr/>
        </p:nvSpPr>
        <p:spPr>
          <a:xfrm>
            <a:off x="581025" y="44291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Verdict: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Use this for production.</a:t>
            </a:r>
            <a:endParaRPr/>
          </a:p>
        </p:txBody>
      </p:sp>
      <p:sp>
        <p:nvSpPr>
          <p:cNvPr id="640" name="Google Shape;640;p59"/>
          <p:cNvSpPr txBox="1"/>
          <p:nvPr/>
        </p:nvSpPr>
        <p:spPr>
          <a:xfrm>
            <a:off x="581025" y="194310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Method 3: Native Tool Calling</a:t>
            </a:r>
            <a:endParaRPr/>
          </a:p>
        </p:txBody>
      </p:sp>
      <p:sp>
        <p:nvSpPr>
          <p:cNvPr id="641" name="Google Shape;641;p59"/>
          <p:cNvSpPr/>
          <p:nvPr/>
        </p:nvSpPr>
        <p:spPr>
          <a:xfrm>
            <a:off x="581025" y="266700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6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29025"/>
            <a:ext cx="1102995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0"/>
          <p:cNvSpPr txBox="1"/>
          <p:nvPr/>
        </p:nvSpPr>
        <p:spPr>
          <a:xfrm>
            <a:off x="581025" y="3143250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How does the model know how to use a tool? 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Docstring.</a:t>
            </a:r>
            <a:endParaRPr/>
          </a:p>
        </p:txBody>
      </p:sp>
      <p:sp>
        <p:nvSpPr>
          <p:cNvPr id="649" name="Google Shape;649;p60"/>
          <p:cNvSpPr txBox="1"/>
          <p:nvPr/>
        </p:nvSpPr>
        <p:spPr>
          <a:xfrm>
            <a:off x="581025" y="4572000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docstring is injected into the System Prompt. Good docs = Good agent.</a:t>
            </a:r>
            <a:endParaRPr/>
          </a:p>
        </p:txBody>
      </p:sp>
      <p:sp>
        <p:nvSpPr>
          <p:cNvPr id="650" name="Google Shape;650;p60"/>
          <p:cNvSpPr txBox="1"/>
          <p:nvPr/>
        </p:nvSpPr>
        <p:spPr>
          <a:xfrm>
            <a:off x="828675" y="3876675"/>
            <a:ext cx="3143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endParaRPr/>
          </a:p>
        </p:txBody>
      </p:sp>
      <p:sp>
        <p:nvSpPr>
          <p:cNvPr id="651" name="Google Shape;651;p60"/>
          <p:cNvSpPr txBox="1"/>
          <p:nvPr/>
        </p:nvSpPr>
        <p:spPr>
          <a:xfrm>
            <a:off x="1247775" y="3876675"/>
            <a:ext cx="3143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add</a:t>
            </a:r>
            <a:endParaRPr/>
          </a:p>
        </p:txBody>
      </p:sp>
      <p:sp>
        <p:nvSpPr>
          <p:cNvPr id="652" name="Google Shape;652;p60"/>
          <p:cNvSpPr txBox="1"/>
          <p:nvPr/>
        </p:nvSpPr>
        <p:spPr>
          <a:xfrm>
            <a:off x="2400300" y="3876675"/>
            <a:ext cx="4191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"""Adds two numbers. Useful for math."""</a:t>
            </a:r>
            <a:endParaRPr/>
          </a:p>
        </p:txBody>
      </p:sp>
      <p:sp>
        <p:nvSpPr>
          <p:cNvPr id="653" name="Google Shape;653;p60"/>
          <p:cNvSpPr txBox="1"/>
          <p:nvPr/>
        </p:nvSpPr>
        <p:spPr>
          <a:xfrm>
            <a:off x="6696075" y="3876675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endParaRPr/>
          </a:p>
        </p:txBody>
      </p:sp>
      <p:sp>
        <p:nvSpPr>
          <p:cNvPr id="654" name="Google Shape;654;p60"/>
          <p:cNvSpPr txBox="1"/>
          <p:nvPr/>
        </p:nvSpPr>
        <p:spPr>
          <a:xfrm>
            <a:off x="581025" y="18002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The "Prompt" for Tools</a:t>
            </a:r>
            <a:endParaRPr/>
          </a:p>
        </p:txBody>
      </p:sp>
      <p:sp>
        <p:nvSpPr>
          <p:cNvPr id="655" name="Google Shape;655;p60"/>
          <p:cNvSpPr/>
          <p:nvPr/>
        </p:nvSpPr>
        <p:spPr>
          <a:xfrm>
            <a:off x="581025" y="25241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6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6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43075"/>
            <a:ext cx="882387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61"/>
          <p:cNvSpPr txBox="1"/>
          <p:nvPr/>
        </p:nvSpPr>
        <p:spPr>
          <a:xfrm>
            <a:off x="1180530" y="2524125"/>
            <a:ext cx="7624859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Protocols &amp; MCP</a:t>
            </a:r>
            <a:endParaRPr/>
          </a:p>
        </p:txBody>
      </p:sp>
      <p:sp>
        <p:nvSpPr>
          <p:cNvPr id="663" name="Google Shape;663;p61"/>
          <p:cNvSpPr/>
          <p:nvPr/>
        </p:nvSpPr>
        <p:spPr>
          <a:xfrm>
            <a:off x="4516635" y="3543300"/>
            <a:ext cx="95250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61"/>
          <p:cNvSpPr txBox="1"/>
          <p:nvPr/>
        </p:nvSpPr>
        <p:spPr>
          <a:xfrm>
            <a:off x="1362075" y="3848100"/>
            <a:ext cx="72617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Standardizing Connections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EEC62E-E933-C0D7-F408-4AA76B660765}"/>
              </a:ext>
            </a:extLst>
          </p:cNvPr>
          <p:cNvSpPr txBox="1"/>
          <p:nvPr/>
        </p:nvSpPr>
        <p:spPr>
          <a:xfrm>
            <a:off x="7645827" y="968961"/>
            <a:ext cx="62548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+-------------------+                +-------------------+</a:t>
            </a:r>
          </a:p>
          <a:p>
            <a:r>
              <a:rPr lang="en-US" dirty="0">
                <a:solidFill>
                  <a:schemeClr val="bg1"/>
                </a:solidFill>
              </a:rPr>
              <a:t>           | Code Generation   |                | Code Execution    |</a:t>
            </a:r>
          </a:p>
          <a:p>
            <a:r>
              <a:rPr lang="en-US" dirty="0">
                <a:solidFill>
                  <a:schemeClr val="bg1"/>
                </a:solidFill>
              </a:rPr>
              <a:t>           | Agent (A)         |                | Agent (A)         |</a:t>
            </a:r>
          </a:p>
          <a:p>
            <a:r>
              <a:rPr lang="en-US" dirty="0">
                <a:solidFill>
                  <a:schemeClr val="bg1"/>
                </a:solidFill>
              </a:rPr>
              <a:t>           +-------------------+                +-------------------+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|                                    ^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| A2A (Send generated code)          |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v                                    |</a:t>
            </a:r>
          </a:p>
          <a:p>
            <a:r>
              <a:rPr lang="en-US" dirty="0">
                <a:solidFill>
                  <a:schemeClr val="bg1"/>
                </a:solidFill>
              </a:rPr>
              <a:t>           +-------------------+                          |</a:t>
            </a:r>
          </a:p>
          <a:p>
            <a:r>
              <a:rPr lang="en-US" dirty="0">
                <a:solidFill>
                  <a:schemeClr val="bg1"/>
                </a:solidFill>
              </a:rPr>
              <a:t>           | Controller /      |--------------------------+</a:t>
            </a:r>
          </a:p>
          <a:p>
            <a:r>
              <a:rPr lang="en-US" dirty="0">
                <a:solidFill>
                  <a:schemeClr val="bg1"/>
                </a:solidFill>
              </a:rPr>
              <a:t>           | Orchestrator (C) |</a:t>
            </a:r>
          </a:p>
          <a:p>
            <a:r>
              <a:rPr lang="en-US" dirty="0">
                <a:solidFill>
                  <a:schemeClr val="bg1"/>
                </a:solidFill>
              </a:rPr>
              <a:t>           +-------------------+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^          ^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| C2A      | A2C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|          |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|          |</a:t>
            </a:r>
          </a:p>
          <a:p>
            <a:r>
              <a:rPr lang="en-US" dirty="0">
                <a:solidFill>
                  <a:schemeClr val="bg1"/>
                </a:solidFill>
              </a:rPr>
              <a:t>   (Direct agents)   (Report execution results)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       +-------------------+</a:t>
            </a:r>
          </a:p>
          <a:p>
            <a:r>
              <a:rPr lang="en-US" dirty="0">
                <a:solidFill>
                  <a:schemeClr val="bg1"/>
                </a:solidFill>
              </a:rPr>
              <a:t>           | Backup Controller |</a:t>
            </a:r>
          </a:p>
          <a:p>
            <a:r>
              <a:rPr lang="en-US" dirty="0">
                <a:solidFill>
                  <a:schemeClr val="bg1"/>
                </a:solidFill>
              </a:rPr>
              <a:t>           | / Orchestrator    |</a:t>
            </a:r>
          </a:p>
          <a:p>
            <a:r>
              <a:rPr lang="en-US" dirty="0">
                <a:solidFill>
                  <a:schemeClr val="bg1"/>
                </a:solidFill>
              </a:rPr>
              <a:t>           +-------------------+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^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      |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(C2C: Sync status and logs)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6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62"/>
          <p:cNvSpPr txBox="1"/>
          <p:nvPr/>
        </p:nvSpPr>
        <p:spPr>
          <a:xfrm>
            <a:off x="581025" y="35718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Every app (Claude, Cursor, Python) needs to connect to every data source (Google, Slack, Postgres).</a:t>
            </a:r>
            <a:endParaRPr dirty="0"/>
          </a:p>
        </p:txBody>
      </p:sp>
      <p:sp>
        <p:nvSpPr>
          <p:cNvPr id="671" name="Google Shape;671;p62"/>
          <p:cNvSpPr txBox="1"/>
          <p:nvPr/>
        </p:nvSpPr>
        <p:spPr>
          <a:xfrm>
            <a:off x="581025" y="41433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Building 1:1 bridges is unsustainable.</a:t>
            </a:r>
            <a:endParaRPr dirty="0"/>
          </a:p>
        </p:txBody>
      </p:sp>
      <p:sp>
        <p:nvSpPr>
          <p:cNvPr id="672" name="Google Shape;672;p62"/>
          <p:cNvSpPr txBox="1"/>
          <p:nvPr/>
        </p:nvSpPr>
        <p:spPr>
          <a:xfrm>
            <a:off x="581025" y="22288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The Interoperability Crisis</a:t>
            </a:r>
            <a:endParaRPr/>
          </a:p>
        </p:txBody>
      </p:sp>
      <p:sp>
        <p:nvSpPr>
          <p:cNvPr id="673" name="Google Shape;673;p62"/>
          <p:cNvSpPr/>
          <p:nvPr/>
        </p:nvSpPr>
        <p:spPr>
          <a:xfrm>
            <a:off x="581025" y="29527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" name="Google Shape;678;p6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6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43225"/>
            <a:ext cx="1102995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63"/>
          <p:cNvSpPr txBox="1"/>
          <p:nvPr/>
        </p:nvSpPr>
        <p:spPr>
          <a:xfrm>
            <a:off x="581025" y="47339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Analogy: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USB-C. One cable for everything.</a:t>
            </a:r>
            <a:endParaRPr/>
          </a:p>
        </p:txBody>
      </p:sp>
      <p:sp>
        <p:nvSpPr>
          <p:cNvPr id="681" name="Google Shape;681;p63"/>
          <p:cNvSpPr txBox="1"/>
          <p:nvPr/>
        </p:nvSpPr>
        <p:spPr>
          <a:xfrm>
            <a:off x="876300" y="3238500"/>
            <a:ext cx="1096137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MODEL CONTEXT PROTOCOL</a:t>
            </a:r>
            <a:endParaRPr/>
          </a:p>
        </p:txBody>
      </p:sp>
      <p:sp>
        <p:nvSpPr>
          <p:cNvPr id="682" name="Google Shape;682;p63"/>
          <p:cNvSpPr txBox="1"/>
          <p:nvPr/>
        </p:nvSpPr>
        <p:spPr>
          <a:xfrm>
            <a:off x="876300" y="3724275"/>
            <a:ext cx="10439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An open standard that standardizes how AI models connect to data and tools.</a:t>
            </a:r>
            <a:endParaRPr/>
          </a:p>
        </p:txBody>
      </p:sp>
      <p:sp>
        <p:nvSpPr>
          <p:cNvPr id="683" name="Google Shape;683;p63"/>
          <p:cNvSpPr txBox="1"/>
          <p:nvPr/>
        </p:nvSpPr>
        <p:spPr>
          <a:xfrm>
            <a:off x="581025" y="163830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Definition: MCP</a:t>
            </a:r>
            <a:endParaRPr/>
          </a:p>
        </p:txBody>
      </p:sp>
      <p:sp>
        <p:nvSpPr>
          <p:cNvPr id="684" name="Google Shape;684;p63"/>
          <p:cNvSpPr/>
          <p:nvPr/>
        </p:nvSpPr>
        <p:spPr>
          <a:xfrm>
            <a:off x="581025" y="236220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6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6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95450"/>
            <a:ext cx="3486150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6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695450"/>
            <a:ext cx="3486150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6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695450"/>
            <a:ext cx="3486150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64"/>
          <p:cNvSpPr txBox="1"/>
          <p:nvPr/>
        </p:nvSpPr>
        <p:spPr>
          <a:xfrm>
            <a:off x="923925" y="2038350"/>
            <a:ext cx="50975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Host</a:t>
            </a:r>
            <a:endParaRPr/>
          </a:p>
        </p:txBody>
      </p:sp>
      <p:sp>
        <p:nvSpPr>
          <p:cNvPr id="694" name="Google Shape;694;p64"/>
          <p:cNvSpPr txBox="1"/>
          <p:nvPr/>
        </p:nvSpPr>
        <p:spPr>
          <a:xfrm>
            <a:off x="923925" y="2657475"/>
            <a:ext cx="2038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The App (Claude Desktop).</a:t>
            </a:r>
            <a:endParaRPr/>
          </a:p>
        </p:txBody>
      </p:sp>
      <p:sp>
        <p:nvSpPr>
          <p:cNvPr id="695" name="Google Shape;695;p64"/>
          <p:cNvSpPr txBox="1"/>
          <p:nvPr/>
        </p:nvSpPr>
        <p:spPr>
          <a:xfrm>
            <a:off x="4695825" y="2038350"/>
            <a:ext cx="67461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Client</a:t>
            </a:r>
            <a:endParaRPr/>
          </a:p>
        </p:txBody>
      </p:sp>
      <p:sp>
        <p:nvSpPr>
          <p:cNvPr id="696" name="Google Shape;696;p64"/>
          <p:cNvSpPr txBox="1"/>
          <p:nvPr/>
        </p:nvSpPr>
        <p:spPr>
          <a:xfrm>
            <a:off x="4695825" y="2657475"/>
            <a:ext cx="17716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The Protocol Connector.</a:t>
            </a:r>
            <a:endParaRPr dirty="0"/>
          </a:p>
        </p:txBody>
      </p:sp>
      <p:sp>
        <p:nvSpPr>
          <p:cNvPr id="697" name="Google Shape;697;p64"/>
          <p:cNvSpPr txBox="1"/>
          <p:nvPr/>
        </p:nvSpPr>
        <p:spPr>
          <a:xfrm>
            <a:off x="8467725" y="2038350"/>
            <a:ext cx="78462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Server</a:t>
            </a:r>
            <a:endParaRPr/>
          </a:p>
        </p:txBody>
      </p:sp>
      <p:sp>
        <p:nvSpPr>
          <p:cNvPr id="698" name="Google Shape;698;p64"/>
          <p:cNvSpPr txBox="1"/>
          <p:nvPr/>
        </p:nvSpPr>
        <p:spPr>
          <a:xfrm>
            <a:off x="8467725" y="2657475"/>
            <a:ext cx="2438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The Tool Provider (Google Drive).</a:t>
            </a:r>
            <a:endParaRPr/>
          </a:p>
        </p:txBody>
      </p:sp>
      <p:sp>
        <p:nvSpPr>
          <p:cNvPr id="699" name="Google Shape;699;p64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MCP Architecture</a:t>
            </a:r>
            <a:endParaRPr/>
          </a:p>
        </p:txBody>
      </p:sp>
      <p:sp>
        <p:nvSpPr>
          <p:cNvPr id="700" name="Google Shape;700;p64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6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6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676650"/>
            <a:ext cx="522922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65"/>
          <p:cNvSpPr txBox="1"/>
          <p:nvPr/>
        </p:nvSpPr>
        <p:spPr>
          <a:xfrm>
            <a:off x="581025" y="323373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Resources</a:t>
            </a:r>
            <a:endParaRPr/>
          </a:p>
        </p:txBody>
      </p:sp>
      <p:sp>
        <p:nvSpPr>
          <p:cNvPr id="708" name="Google Shape;708;p65"/>
          <p:cNvSpPr txBox="1"/>
          <p:nvPr/>
        </p:nvSpPr>
        <p:spPr>
          <a:xfrm>
            <a:off x="581025" y="36814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Passive data the model can read.</a:t>
            </a:r>
            <a:endParaRPr/>
          </a:p>
        </p:txBody>
      </p:sp>
      <p:sp>
        <p:nvSpPr>
          <p:cNvPr id="709" name="Google Shape;709;p65"/>
          <p:cNvSpPr txBox="1"/>
          <p:nvPr/>
        </p:nvSpPr>
        <p:spPr>
          <a:xfrm>
            <a:off x="581025" y="42529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Files, Logs, Database Rows.</a:t>
            </a:r>
            <a:endParaRPr/>
          </a:p>
        </p:txBody>
      </p:sp>
      <p:sp>
        <p:nvSpPr>
          <p:cNvPr id="710" name="Google Shape;710;p65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MCP Primitive: Resources</a:t>
            </a:r>
            <a:endParaRPr/>
          </a:p>
        </p:txBody>
      </p:sp>
      <p:sp>
        <p:nvSpPr>
          <p:cNvPr id="711" name="Google Shape;711;p65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6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6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676650"/>
            <a:ext cx="522922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66"/>
          <p:cNvSpPr txBox="1"/>
          <p:nvPr/>
        </p:nvSpPr>
        <p:spPr>
          <a:xfrm>
            <a:off x="581025" y="323373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Tools</a:t>
            </a:r>
            <a:endParaRPr/>
          </a:p>
        </p:txBody>
      </p:sp>
      <p:sp>
        <p:nvSpPr>
          <p:cNvPr id="719" name="Google Shape;719;p66"/>
          <p:cNvSpPr txBox="1"/>
          <p:nvPr/>
        </p:nvSpPr>
        <p:spPr>
          <a:xfrm>
            <a:off x="581025" y="36814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Executable functions.</a:t>
            </a:r>
            <a:endParaRPr/>
          </a:p>
        </p:txBody>
      </p:sp>
      <p:sp>
        <p:nvSpPr>
          <p:cNvPr id="720" name="Google Shape;720;p66"/>
          <p:cNvSpPr txBox="1"/>
          <p:nvPr/>
        </p:nvSpPr>
        <p:spPr>
          <a:xfrm>
            <a:off x="581025" y="425291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API Calls, Database Writes.</a:t>
            </a:r>
            <a:endParaRPr/>
          </a:p>
        </p:txBody>
      </p:sp>
      <p:sp>
        <p:nvSpPr>
          <p:cNvPr id="721" name="Google Shape;721;p66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MCP Primitive: Tools</a:t>
            </a:r>
            <a:endParaRPr/>
          </a:p>
        </p:txBody>
      </p:sp>
      <p:sp>
        <p:nvSpPr>
          <p:cNvPr id="722" name="Google Shape;722;p66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" name="Google Shape;727;p6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8" name="Google Shape;728;p67"/>
          <p:cNvGraphicFramePr/>
          <p:nvPr/>
        </p:nvGraphicFramePr>
        <p:xfrm>
          <a:off x="581025" y="2771775"/>
          <a:ext cx="4800600" cy="2619400"/>
        </p:xfrm>
        <a:graphic>
          <a:graphicData uri="http://schemas.openxmlformats.org/drawingml/2006/table">
            <a:tbl>
              <a:tblPr firstRow="1" bandRow="1">
                <a:noFill/>
                <a:tableStyleId>{A09FA15F-5E0E-4433-87F4-F386121DBDC9}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Vertical (A2T)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FF4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Horizontal (A2A)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Agent &lt;-&gt; Tool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Agent &lt;-&gt; Agent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Standard: </a:t>
                      </a:r>
                      <a:r>
                        <a:rPr lang="en-US" sz="1650" b="1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MCP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Standard: None (CrewAI, etc.)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Focus: Capability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Focus: Collaboration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29" name="Google Shape;729;p67"/>
          <p:cNvSpPr/>
          <p:nvPr/>
        </p:nvSpPr>
        <p:spPr>
          <a:xfrm>
            <a:off x="600075" y="3352800"/>
            <a:ext cx="18097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67"/>
          <p:cNvSpPr/>
          <p:nvPr/>
        </p:nvSpPr>
        <p:spPr>
          <a:xfrm>
            <a:off x="2428875" y="3352800"/>
            <a:ext cx="29908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67"/>
          <p:cNvSpPr/>
          <p:nvPr/>
        </p:nvSpPr>
        <p:spPr>
          <a:xfrm>
            <a:off x="600075" y="4029075"/>
            <a:ext cx="18097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67"/>
          <p:cNvSpPr/>
          <p:nvPr/>
        </p:nvSpPr>
        <p:spPr>
          <a:xfrm>
            <a:off x="2428875" y="4029075"/>
            <a:ext cx="29908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67"/>
          <p:cNvSpPr/>
          <p:nvPr/>
        </p:nvSpPr>
        <p:spPr>
          <a:xfrm>
            <a:off x="600075" y="4695825"/>
            <a:ext cx="18097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7"/>
          <p:cNvSpPr/>
          <p:nvPr/>
        </p:nvSpPr>
        <p:spPr>
          <a:xfrm>
            <a:off x="2428875" y="4695825"/>
            <a:ext cx="29908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67"/>
          <p:cNvSpPr/>
          <p:nvPr/>
        </p:nvSpPr>
        <p:spPr>
          <a:xfrm>
            <a:off x="600075" y="5362575"/>
            <a:ext cx="18097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67"/>
          <p:cNvSpPr/>
          <p:nvPr/>
        </p:nvSpPr>
        <p:spPr>
          <a:xfrm>
            <a:off x="2428875" y="5362575"/>
            <a:ext cx="29908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67"/>
          <p:cNvSpPr txBox="1"/>
          <p:nvPr/>
        </p:nvSpPr>
        <p:spPr>
          <a:xfrm>
            <a:off x="581025" y="14668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Vertical vs. Horizontal</a:t>
            </a:r>
            <a:endParaRPr/>
          </a:p>
        </p:txBody>
      </p:sp>
      <p:sp>
        <p:nvSpPr>
          <p:cNvPr id="738" name="Google Shape;738;p67"/>
          <p:cNvSpPr/>
          <p:nvPr/>
        </p:nvSpPr>
        <p:spPr>
          <a:xfrm>
            <a:off x="581025" y="21907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Google Shape;743;p6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68"/>
          <p:cNvSpPr txBox="1"/>
          <p:nvPr/>
        </p:nvSpPr>
        <p:spPr>
          <a:xfrm>
            <a:off x="1247775" y="2995612"/>
            <a:ext cx="1036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Initialization: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Handshake.</a:t>
            </a:r>
            <a:endParaRPr/>
          </a:p>
        </p:txBody>
      </p:sp>
      <p:sp>
        <p:nvSpPr>
          <p:cNvPr id="745" name="Google Shape;745;p68"/>
          <p:cNvSpPr txBox="1"/>
          <p:nvPr/>
        </p:nvSpPr>
        <p:spPr>
          <a:xfrm>
            <a:off x="1247775" y="3529012"/>
            <a:ext cx="1036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Discovery: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"List Tools".</a:t>
            </a:r>
            <a:endParaRPr/>
          </a:p>
        </p:txBody>
      </p:sp>
      <p:sp>
        <p:nvSpPr>
          <p:cNvPr id="746" name="Google Shape;746;p68"/>
          <p:cNvSpPr txBox="1"/>
          <p:nvPr/>
        </p:nvSpPr>
        <p:spPr>
          <a:xfrm>
            <a:off x="1247775" y="4062412"/>
            <a:ext cx="1036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Call: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"Execute Tool A".</a:t>
            </a:r>
            <a:endParaRPr/>
          </a:p>
        </p:txBody>
      </p:sp>
      <p:sp>
        <p:nvSpPr>
          <p:cNvPr id="747" name="Google Shape;747;p68"/>
          <p:cNvSpPr txBox="1"/>
          <p:nvPr/>
        </p:nvSpPr>
        <p:spPr>
          <a:xfrm>
            <a:off x="1247775" y="4595812"/>
            <a:ext cx="1036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Result: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Return JSON.</a:t>
            </a:r>
            <a:endParaRPr/>
          </a:p>
        </p:txBody>
      </p:sp>
      <p:sp>
        <p:nvSpPr>
          <p:cNvPr id="748" name="Google Shape;748;p68"/>
          <p:cNvSpPr txBox="1"/>
          <p:nvPr/>
        </p:nvSpPr>
        <p:spPr>
          <a:xfrm>
            <a:off x="962025" y="29956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749" name="Google Shape;749;p68"/>
          <p:cNvSpPr txBox="1"/>
          <p:nvPr/>
        </p:nvSpPr>
        <p:spPr>
          <a:xfrm>
            <a:off x="962025" y="35290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750" name="Google Shape;750;p68"/>
          <p:cNvSpPr txBox="1"/>
          <p:nvPr/>
        </p:nvSpPr>
        <p:spPr>
          <a:xfrm>
            <a:off x="962025" y="40624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751" name="Google Shape;751;p68"/>
          <p:cNvSpPr txBox="1"/>
          <p:nvPr/>
        </p:nvSpPr>
        <p:spPr>
          <a:xfrm>
            <a:off x="962025" y="45958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752" name="Google Shape;752;p68"/>
          <p:cNvSpPr txBox="1"/>
          <p:nvPr/>
        </p:nvSpPr>
        <p:spPr>
          <a:xfrm>
            <a:off x="581025" y="1728787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The MCP Lifecycle</a:t>
            </a:r>
            <a:endParaRPr/>
          </a:p>
        </p:txBody>
      </p:sp>
      <p:sp>
        <p:nvSpPr>
          <p:cNvPr id="753" name="Google Shape;753;p68"/>
          <p:cNvSpPr/>
          <p:nvPr/>
        </p:nvSpPr>
        <p:spPr>
          <a:xfrm>
            <a:off x="581025" y="245268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6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9"/>
          <p:cNvSpPr txBox="1"/>
          <p:nvPr/>
        </p:nvSpPr>
        <p:spPr>
          <a:xfrm>
            <a:off x="581025" y="32861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MCP Servers run as separate processes.</a:t>
            </a:r>
            <a:endParaRPr/>
          </a:p>
        </p:txBody>
      </p:sp>
      <p:sp>
        <p:nvSpPr>
          <p:cNvPr id="760" name="Google Shape;760;p69"/>
          <p:cNvSpPr txBox="1"/>
          <p:nvPr/>
        </p:nvSpPr>
        <p:spPr>
          <a:xfrm>
            <a:off x="581025" y="38576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They only have access to what you explicitly give them (e.g., one folder).</a:t>
            </a:r>
            <a:endParaRPr/>
          </a:p>
        </p:txBody>
      </p:sp>
      <p:sp>
        <p:nvSpPr>
          <p:cNvPr id="761" name="Google Shape;761;p69"/>
          <p:cNvSpPr txBox="1"/>
          <p:nvPr/>
        </p:nvSpPr>
        <p:spPr>
          <a:xfrm>
            <a:off x="581025" y="442912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This prevents the Agent from deleting your entire hard drive.</a:t>
            </a:r>
            <a:endParaRPr/>
          </a:p>
        </p:txBody>
      </p:sp>
      <p:sp>
        <p:nvSpPr>
          <p:cNvPr id="762" name="Google Shape;762;p69"/>
          <p:cNvSpPr txBox="1"/>
          <p:nvPr/>
        </p:nvSpPr>
        <p:spPr>
          <a:xfrm>
            <a:off x="581025" y="194310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Security: Sandboxing</a:t>
            </a:r>
            <a:endParaRPr/>
          </a:p>
        </p:txBody>
      </p:sp>
      <p:sp>
        <p:nvSpPr>
          <p:cNvPr id="763" name="Google Shape;763;p69"/>
          <p:cNvSpPr/>
          <p:nvPr/>
        </p:nvSpPr>
        <p:spPr>
          <a:xfrm>
            <a:off x="581025" y="266700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" name="Google Shape;768;p7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7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43075"/>
            <a:ext cx="882387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70"/>
          <p:cNvSpPr txBox="1"/>
          <p:nvPr/>
        </p:nvSpPr>
        <p:spPr>
          <a:xfrm>
            <a:off x="1180530" y="2524125"/>
            <a:ext cx="7624859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Coding Illustration</a:t>
            </a:r>
            <a:endParaRPr/>
          </a:p>
        </p:txBody>
      </p:sp>
      <p:sp>
        <p:nvSpPr>
          <p:cNvPr id="771" name="Google Shape;771;p70"/>
          <p:cNvSpPr/>
          <p:nvPr/>
        </p:nvSpPr>
        <p:spPr>
          <a:xfrm>
            <a:off x="4516635" y="3543300"/>
            <a:ext cx="95250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70"/>
          <p:cNvSpPr txBox="1"/>
          <p:nvPr/>
        </p:nvSpPr>
        <p:spPr>
          <a:xfrm>
            <a:off x="1362075" y="3848100"/>
            <a:ext cx="72617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Smart Investor Agent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7" name="Google Shape;777;p7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71"/>
          <p:cNvSpPr txBox="1"/>
          <p:nvPr/>
        </p:nvSpPr>
        <p:spPr>
          <a:xfrm>
            <a:off x="581025" y="35718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Goal: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Check stock price -&gt; Check news -&gt; Give advice.</a:t>
            </a:r>
            <a:endParaRPr/>
          </a:p>
        </p:txBody>
      </p:sp>
      <p:sp>
        <p:nvSpPr>
          <p:cNvPr id="779" name="Google Shape;779;p71"/>
          <p:cNvSpPr txBox="1"/>
          <p:nvPr/>
        </p:nvSpPr>
        <p:spPr>
          <a:xfrm>
            <a:off x="581025" y="41433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Stack: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Python + OpenAI.</a:t>
            </a:r>
            <a:endParaRPr/>
          </a:p>
        </p:txBody>
      </p:sp>
      <p:sp>
        <p:nvSpPr>
          <p:cNvPr id="780" name="Google Shape;780;p71"/>
          <p:cNvSpPr txBox="1"/>
          <p:nvPr/>
        </p:nvSpPr>
        <p:spPr>
          <a:xfrm>
            <a:off x="581025" y="22288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Use Case: Smart Investor</a:t>
            </a:r>
            <a:endParaRPr/>
          </a:p>
        </p:txBody>
      </p:sp>
      <p:sp>
        <p:nvSpPr>
          <p:cNvPr id="781" name="Google Shape;781;p71"/>
          <p:cNvSpPr/>
          <p:nvPr/>
        </p:nvSpPr>
        <p:spPr>
          <a:xfrm>
            <a:off x="581025" y="29527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7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7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76650"/>
            <a:ext cx="1102995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72"/>
          <p:cNvSpPr txBox="1"/>
          <p:nvPr/>
        </p:nvSpPr>
        <p:spPr>
          <a:xfrm>
            <a:off x="828675" y="3924300"/>
            <a:ext cx="4191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endParaRPr/>
          </a:p>
        </p:txBody>
      </p:sp>
      <p:sp>
        <p:nvSpPr>
          <p:cNvPr id="789" name="Google Shape;789;p72"/>
          <p:cNvSpPr txBox="1"/>
          <p:nvPr/>
        </p:nvSpPr>
        <p:spPr>
          <a:xfrm>
            <a:off x="2085975" y="3924300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endParaRPr/>
          </a:p>
        </p:txBody>
      </p:sp>
      <p:sp>
        <p:nvSpPr>
          <p:cNvPr id="790" name="Google Shape;790;p72"/>
          <p:cNvSpPr txBox="1"/>
          <p:nvPr/>
        </p:nvSpPr>
        <p:spPr>
          <a:xfrm>
            <a:off x="4076700" y="3924300"/>
            <a:ext cx="4191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endParaRPr/>
          </a:p>
        </p:txBody>
      </p:sp>
      <p:sp>
        <p:nvSpPr>
          <p:cNvPr id="791" name="Google Shape;791;p72"/>
          <p:cNvSpPr txBox="1"/>
          <p:nvPr/>
        </p:nvSpPr>
        <p:spPr>
          <a:xfrm>
            <a:off x="5334000" y="3924300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endParaRPr/>
          </a:p>
        </p:txBody>
      </p:sp>
      <p:sp>
        <p:nvSpPr>
          <p:cNvPr id="792" name="Google Shape;792;p72"/>
          <p:cNvSpPr txBox="1"/>
          <p:nvPr/>
        </p:nvSpPr>
        <p:spPr>
          <a:xfrm>
            <a:off x="6800850" y="3924300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endParaRPr/>
          </a:p>
        </p:txBody>
      </p:sp>
      <p:sp>
        <p:nvSpPr>
          <p:cNvPr id="793" name="Google Shape;793;p72"/>
          <p:cNvSpPr txBox="1"/>
          <p:nvPr/>
        </p:nvSpPr>
        <p:spPr>
          <a:xfrm>
            <a:off x="581025" y="246697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Step 0: Setup</a:t>
            </a:r>
            <a:endParaRPr/>
          </a:p>
        </p:txBody>
      </p:sp>
      <p:sp>
        <p:nvSpPr>
          <p:cNvPr id="794" name="Google Shape;794;p72"/>
          <p:cNvSpPr/>
          <p:nvPr/>
        </p:nvSpPr>
        <p:spPr>
          <a:xfrm>
            <a:off x="581025" y="319087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" name="Google Shape;799;p7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7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567112"/>
            <a:ext cx="1102995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3"/>
          <p:cNvSpPr txBox="1"/>
          <p:nvPr/>
        </p:nvSpPr>
        <p:spPr>
          <a:xfrm>
            <a:off x="828675" y="3814762"/>
            <a:ext cx="3143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endParaRPr/>
          </a:p>
        </p:txBody>
      </p:sp>
      <p:sp>
        <p:nvSpPr>
          <p:cNvPr id="802" name="Google Shape;802;p73"/>
          <p:cNvSpPr txBox="1"/>
          <p:nvPr/>
        </p:nvSpPr>
        <p:spPr>
          <a:xfrm>
            <a:off x="1247775" y="3814762"/>
            <a:ext cx="9429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get_price</a:t>
            </a:r>
            <a:endParaRPr/>
          </a:p>
        </p:txBody>
      </p:sp>
      <p:sp>
        <p:nvSpPr>
          <p:cNvPr id="803" name="Google Shape;803;p73"/>
          <p:cNvSpPr txBox="1"/>
          <p:nvPr/>
        </p:nvSpPr>
        <p:spPr>
          <a:xfrm>
            <a:off x="3238500" y="3814762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endParaRPr/>
          </a:p>
        </p:txBody>
      </p:sp>
      <p:sp>
        <p:nvSpPr>
          <p:cNvPr id="804" name="Google Shape;804;p73"/>
          <p:cNvSpPr txBox="1"/>
          <p:nvPr/>
        </p:nvSpPr>
        <p:spPr>
          <a:xfrm>
            <a:off x="5857875" y="3814762"/>
            <a:ext cx="3143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endParaRPr/>
          </a:p>
        </p:txBody>
      </p:sp>
      <p:sp>
        <p:nvSpPr>
          <p:cNvPr id="805" name="Google Shape;805;p73"/>
          <p:cNvSpPr txBox="1"/>
          <p:nvPr/>
        </p:nvSpPr>
        <p:spPr>
          <a:xfrm>
            <a:off x="6276975" y="3814762"/>
            <a:ext cx="838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get_news</a:t>
            </a:r>
            <a:endParaRPr/>
          </a:p>
        </p:txBody>
      </p:sp>
      <p:sp>
        <p:nvSpPr>
          <p:cNvPr id="806" name="Google Shape;806;p73"/>
          <p:cNvSpPr txBox="1"/>
          <p:nvPr/>
        </p:nvSpPr>
        <p:spPr>
          <a:xfrm>
            <a:off x="8162925" y="3814762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endParaRPr/>
          </a:p>
        </p:txBody>
      </p:sp>
      <p:sp>
        <p:nvSpPr>
          <p:cNvPr id="807" name="Google Shape;807;p73"/>
          <p:cNvSpPr txBox="1"/>
          <p:nvPr/>
        </p:nvSpPr>
        <p:spPr>
          <a:xfrm>
            <a:off x="1771650" y="4033837"/>
            <a:ext cx="11525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"get_price"</a:t>
            </a:r>
            <a:endParaRPr/>
          </a:p>
        </p:txBody>
      </p:sp>
      <p:sp>
        <p:nvSpPr>
          <p:cNvPr id="808" name="Google Shape;808;p73"/>
          <p:cNvSpPr txBox="1"/>
          <p:nvPr/>
        </p:nvSpPr>
        <p:spPr>
          <a:xfrm>
            <a:off x="4286250" y="4033837"/>
            <a:ext cx="104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"get_news"</a:t>
            </a:r>
            <a:endParaRPr/>
          </a:p>
        </p:txBody>
      </p:sp>
      <p:sp>
        <p:nvSpPr>
          <p:cNvPr id="809" name="Google Shape;809;p73"/>
          <p:cNvSpPr txBox="1"/>
          <p:nvPr/>
        </p:nvSpPr>
        <p:spPr>
          <a:xfrm>
            <a:off x="581025" y="2357437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Step 1: Define Tools</a:t>
            </a:r>
            <a:endParaRPr/>
          </a:p>
        </p:txBody>
      </p:sp>
      <p:sp>
        <p:nvSpPr>
          <p:cNvPr id="810" name="Google Shape;810;p73"/>
          <p:cNvSpPr/>
          <p:nvPr/>
        </p:nvSpPr>
        <p:spPr>
          <a:xfrm>
            <a:off x="581025" y="308133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7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7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76650"/>
            <a:ext cx="1102995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4"/>
          <p:cNvSpPr txBox="1"/>
          <p:nvPr/>
        </p:nvSpPr>
        <p:spPr>
          <a:xfrm>
            <a:off x="581025" y="246697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Step 2: System Prompt</a:t>
            </a:r>
            <a:endParaRPr/>
          </a:p>
        </p:txBody>
      </p:sp>
      <p:sp>
        <p:nvSpPr>
          <p:cNvPr id="818" name="Google Shape;818;p74"/>
          <p:cNvSpPr/>
          <p:nvPr/>
        </p:nvSpPr>
        <p:spPr>
          <a:xfrm>
            <a:off x="581025" y="319087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7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7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457575"/>
            <a:ext cx="1102995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5"/>
          <p:cNvSpPr txBox="1"/>
          <p:nvPr/>
        </p:nvSpPr>
        <p:spPr>
          <a:xfrm>
            <a:off x="828675" y="3705225"/>
            <a:ext cx="3143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endParaRPr/>
          </a:p>
        </p:txBody>
      </p:sp>
      <p:sp>
        <p:nvSpPr>
          <p:cNvPr id="826" name="Google Shape;826;p75"/>
          <p:cNvSpPr txBox="1"/>
          <p:nvPr/>
        </p:nvSpPr>
        <p:spPr>
          <a:xfrm>
            <a:off x="1247775" y="3705225"/>
            <a:ext cx="3143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C66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</a:t>
            </a:r>
            <a:endParaRPr/>
          </a:p>
        </p:txBody>
      </p:sp>
      <p:sp>
        <p:nvSpPr>
          <p:cNvPr id="827" name="Google Shape;827;p75"/>
          <p:cNvSpPr txBox="1"/>
          <p:nvPr/>
        </p:nvSpPr>
        <p:spPr>
          <a:xfrm>
            <a:off x="3448050" y="3705225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"role"</a:t>
            </a:r>
            <a:endParaRPr/>
          </a:p>
        </p:txBody>
      </p:sp>
      <p:sp>
        <p:nvSpPr>
          <p:cNvPr id="828" name="Google Shape;828;p75"/>
          <p:cNvSpPr txBox="1"/>
          <p:nvPr/>
        </p:nvSpPr>
        <p:spPr>
          <a:xfrm>
            <a:off x="4181475" y="3705225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"user"</a:t>
            </a:r>
            <a:endParaRPr/>
          </a:p>
        </p:txBody>
      </p:sp>
      <p:sp>
        <p:nvSpPr>
          <p:cNvPr id="829" name="Google Shape;829;p75"/>
          <p:cNvSpPr txBox="1"/>
          <p:nvPr/>
        </p:nvSpPr>
        <p:spPr>
          <a:xfrm>
            <a:off x="5019675" y="3705225"/>
            <a:ext cx="9429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"content"</a:t>
            </a:r>
            <a:endParaRPr/>
          </a:p>
        </p:txBody>
      </p:sp>
      <p:sp>
        <p:nvSpPr>
          <p:cNvPr id="830" name="Google Shape;830;p75"/>
          <p:cNvSpPr txBox="1"/>
          <p:nvPr/>
        </p:nvSpPr>
        <p:spPr>
          <a:xfrm>
            <a:off x="6905625" y="3705225"/>
            <a:ext cx="3143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endParaRPr/>
          </a:p>
        </p:txBody>
      </p:sp>
      <p:sp>
        <p:nvSpPr>
          <p:cNvPr id="831" name="Google Shape;831;p75"/>
          <p:cNvSpPr txBox="1"/>
          <p:nvPr/>
        </p:nvSpPr>
        <p:spPr>
          <a:xfrm>
            <a:off x="7534275" y="3705225"/>
            <a:ext cx="2095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endParaRPr/>
          </a:p>
        </p:txBody>
      </p:sp>
      <p:sp>
        <p:nvSpPr>
          <p:cNvPr id="832" name="Google Shape;832;p75"/>
          <p:cNvSpPr txBox="1"/>
          <p:nvPr/>
        </p:nvSpPr>
        <p:spPr>
          <a:xfrm>
            <a:off x="4810125" y="3924300"/>
            <a:ext cx="7334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"gpt-4"</a:t>
            </a:r>
            <a:endParaRPr/>
          </a:p>
        </p:txBody>
      </p:sp>
      <p:sp>
        <p:nvSpPr>
          <p:cNvPr id="833" name="Google Shape;833;p75"/>
          <p:cNvSpPr txBox="1"/>
          <p:nvPr/>
        </p:nvSpPr>
        <p:spPr>
          <a:xfrm>
            <a:off x="581025" y="224790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Step 3: The Loop (Call)</a:t>
            </a:r>
            <a:endParaRPr/>
          </a:p>
        </p:txBody>
      </p:sp>
      <p:sp>
        <p:nvSpPr>
          <p:cNvPr id="834" name="Google Shape;834;p75"/>
          <p:cNvSpPr/>
          <p:nvPr/>
        </p:nvSpPr>
        <p:spPr>
          <a:xfrm>
            <a:off x="581025" y="297180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" name="Google Shape;839;p7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7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567112"/>
            <a:ext cx="1102995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76"/>
          <p:cNvSpPr txBox="1"/>
          <p:nvPr/>
        </p:nvSpPr>
        <p:spPr>
          <a:xfrm>
            <a:off x="2819400" y="3814762"/>
            <a:ext cx="24098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"Action: (\w+)\[(.*)\]"</a:t>
            </a:r>
            <a:endParaRPr/>
          </a:p>
        </p:txBody>
      </p:sp>
      <p:sp>
        <p:nvSpPr>
          <p:cNvPr id="842" name="Google Shape;842;p76"/>
          <p:cNvSpPr txBox="1"/>
          <p:nvPr/>
        </p:nvSpPr>
        <p:spPr>
          <a:xfrm>
            <a:off x="6067425" y="3814762"/>
            <a:ext cx="2095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endParaRPr/>
          </a:p>
        </p:txBody>
      </p:sp>
      <p:sp>
        <p:nvSpPr>
          <p:cNvPr id="843" name="Google Shape;843;p76"/>
          <p:cNvSpPr txBox="1"/>
          <p:nvPr/>
        </p:nvSpPr>
        <p:spPr>
          <a:xfrm>
            <a:off x="4076700" y="4033837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"role"</a:t>
            </a:r>
            <a:endParaRPr/>
          </a:p>
        </p:txBody>
      </p:sp>
      <p:sp>
        <p:nvSpPr>
          <p:cNvPr id="844" name="Google Shape;844;p76"/>
          <p:cNvSpPr txBox="1"/>
          <p:nvPr/>
        </p:nvSpPr>
        <p:spPr>
          <a:xfrm>
            <a:off x="4810125" y="4033837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"user"</a:t>
            </a:r>
            <a:endParaRPr/>
          </a:p>
        </p:txBody>
      </p:sp>
      <p:sp>
        <p:nvSpPr>
          <p:cNvPr id="845" name="Google Shape;845;p76"/>
          <p:cNvSpPr txBox="1"/>
          <p:nvPr/>
        </p:nvSpPr>
        <p:spPr>
          <a:xfrm>
            <a:off x="5648325" y="4033837"/>
            <a:ext cx="9429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"content"</a:t>
            </a:r>
            <a:endParaRPr/>
          </a:p>
        </p:txBody>
      </p:sp>
      <p:sp>
        <p:nvSpPr>
          <p:cNvPr id="846" name="Google Shape;846;p76"/>
          <p:cNvSpPr txBox="1"/>
          <p:nvPr/>
        </p:nvSpPr>
        <p:spPr>
          <a:xfrm>
            <a:off x="6905625" y="4033837"/>
            <a:ext cx="24098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"Observation: {result}"</a:t>
            </a:r>
            <a:endParaRPr/>
          </a:p>
        </p:txBody>
      </p:sp>
      <p:sp>
        <p:nvSpPr>
          <p:cNvPr id="847" name="Google Shape;847;p76"/>
          <p:cNvSpPr txBox="1"/>
          <p:nvPr/>
        </p:nvSpPr>
        <p:spPr>
          <a:xfrm>
            <a:off x="581025" y="2357437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Step 3: The Loop (Parse)</a:t>
            </a:r>
            <a:endParaRPr/>
          </a:p>
        </p:txBody>
      </p:sp>
      <p:sp>
        <p:nvSpPr>
          <p:cNvPr id="848" name="Google Shape;848;p76"/>
          <p:cNvSpPr/>
          <p:nvPr/>
        </p:nvSpPr>
        <p:spPr>
          <a:xfrm>
            <a:off x="581025" y="308133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3" name="Google Shape;853;p7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7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567112"/>
            <a:ext cx="1102995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7"/>
          <p:cNvSpPr txBox="1"/>
          <p:nvPr/>
        </p:nvSpPr>
        <p:spPr>
          <a:xfrm>
            <a:off x="581025" y="2357437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Demo Trace</a:t>
            </a:r>
            <a:endParaRPr/>
          </a:p>
        </p:txBody>
      </p:sp>
      <p:sp>
        <p:nvSpPr>
          <p:cNvPr id="856" name="Google Shape;856;p77"/>
          <p:cNvSpPr/>
          <p:nvPr/>
        </p:nvSpPr>
        <p:spPr>
          <a:xfrm>
            <a:off x="581025" y="308133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Google Shape;861;p7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8"/>
          <p:cNvSpPr txBox="1"/>
          <p:nvPr/>
        </p:nvSpPr>
        <p:spPr>
          <a:xfrm>
            <a:off x="581025" y="35718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Replace local tools dict with dynamic MCP discovery.</a:t>
            </a:r>
            <a:endParaRPr/>
          </a:p>
        </p:txBody>
      </p:sp>
      <p:sp>
        <p:nvSpPr>
          <p:cNvPr id="863" name="Google Shape;863;p78"/>
          <p:cNvSpPr txBox="1"/>
          <p:nvPr/>
        </p:nvSpPr>
        <p:spPr>
          <a:xfrm>
            <a:off x="581025" y="41433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Allows us to use tools from any external server.</a:t>
            </a:r>
            <a:endParaRPr/>
          </a:p>
        </p:txBody>
      </p:sp>
      <p:sp>
        <p:nvSpPr>
          <p:cNvPr id="864" name="Google Shape;864;p78"/>
          <p:cNvSpPr txBox="1"/>
          <p:nvPr/>
        </p:nvSpPr>
        <p:spPr>
          <a:xfrm>
            <a:off x="581025" y="22288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Phase 2: MCP Upgrade</a:t>
            </a:r>
            <a:endParaRPr/>
          </a:p>
        </p:txBody>
      </p:sp>
      <p:sp>
        <p:nvSpPr>
          <p:cNvPr id="865" name="Google Shape;865;p78"/>
          <p:cNvSpPr/>
          <p:nvPr/>
        </p:nvSpPr>
        <p:spPr>
          <a:xfrm>
            <a:off x="581025" y="29527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Google Shape;870;p7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7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567112"/>
            <a:ext cx="1102995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9"/>
          <p:cNvSpPr txBox="1"/>
          <p:nvPr/>
        </p:nvSpPr>
        <p:spPr>
          <a:xfrm>
            <a:off x="828675" y="3814762"/>
            <a:ext cx="4191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endParaRPr/>
          </a:p>
        </p:txBody>
      </p:sp>
      <p:sp>
        <p:nvSpPr>
          <p:cNvPr id="873" name="Google Shape;873;p79"/>
          <p:cNvSpPr txBox="1"/>
          <p:nvPr/>
        </p:nvSpPr>
        <p:spPr>
          <a:xfrm>
            <a:off x="1771650" y="3814762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endParaRPr/>
          </a:p>
        </p:txBody>
      </p:sp>
      <p:sp>
        <p:nvSpPr>
          <p:cNvPr id="874" name="Google Shape;874;p79"/>
          <p:cNvSpPr txBox="1"/>
          <p:nvPr/>
        </p:nvSpPr>
        <p:spPr>
          <a:xfrm>
            <a:off x="6381750" y="3814762"/>
            <a:ext cx="4191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endParaRPr/>
          </a:p>
        </p:txBody>
      </p:sp>
      <p:sp>
        <p:nvSpPr>
          <p:cNvPr id="875" name="Google Shape;875;p79"/>
          <p:cNvSpPr txBox="1"/>
          <p:nvPr/>
        </p:nvSpPr>
        <p:spPr>
          <a:xfrm>
            <a:off x="8686800" y="3814762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endParaRPr/>
          </a:p>
        </p:txBody>
      </p:sp>
      <p:sp>
        <p:nvSpPr>
          <p:cNvPr id="876" name="Google Shape;876;p79"/>
          <p:cNvSpPr txBox="1"/>
          <p:nvPr/>
        </p:nvSpPr>
        <p:spPr>
          <a:xfrm>
            <a:off x="4914900" y="4033837"/>
            <a:ext cx="5238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"npx"</a:t>
            </a:r>
            <a:endParaRPr/>
          </a:p>
        </p:txBody>
      </p:sp>
      <p:sp>
        <p:nvSpPr>
          <p:cNvPr id="877" name="Google Shape;877;p79"/>
          <p:cNvSpPr txBox="1"/>
          <p:nvPr/>
        </p:nvSpPr>
        <p:spPr>
          <a:xfrm>
            <a:off x="6276975" y="4033837"/>
            <a:ext cx="19907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"server-filesystem"</a:t>
            </a:r>
            <a:endParaRPr/>
          </a:p>
        </p:txBody>
      </p:sp>
      <p:sp>
        <p:nvSpPr>
          <p:cNvPr id="878" name="Google Shape;878;p79"/>
          <p:cNvSpPr txBox="1"/>
          <p:nvPr/>
        </p:nvSpPr>
        <p:spPr>
          <a:xfrm>
            <a:off x="581025" y="2357437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MCP Code: Connection</a:t>
            </a:r>
            <a:endParaRPr/>
          </a:p>
        </p:txBody>
      </p:sp>
      <p:sp>
        <p:nvSpPr>
          <p:cNvPr id="879" name="Google Shape;879;p79"/>
          <p:cNvSpPr/>
          <p:nvPr/>
        </p:nvSpPr>
        <p:spPr>
          <a:xfrm>
            <a:off x="581025" y="308133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8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8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567112"/>
            <a:ext cx="1102995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80"/>
          <p:cNvSpPr txBox="1"/>
          <p:nvPr/>
        </p:nvSpPr>
        <p:spPr>
          <a:xfrm>
            <a:off x="828675" y="3814762"/>
            <a:ext cx="104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 with</a:t>
            </a:r>
            <a:endParaRPr/>
          </a:p>
        </p:txBody>
      </p:sp>
      <p:sp>
        <p:nvSpPr>
          <p:cNvPr id="887" name="Google Shape;887;p80"/>
          <p:cNvSpPr txBox="1"/>
          <p:nvPr/>
        </p:nvSpPr>
        <p:spPr>
          <a:xfrm>
            <a:off x="4181475" y="3814762"/>
            <a:ext cx="2095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endParaRPr/>
          </a:p>
        </p:txBody>
      </p:sp>
      <p:sp>
        <p:nvSpPr>
          <p:cNvPr id="888" name="Google Shape;888;p80"/>
          <p:cNvSpPr txBox="1"/>
          <p:nvPr/>
        </p:nvSpPr>
        <p:spPr>
          <a:xfrm>
            <a:off x="5334000" y="3814762"/>
            <a:ext cx="104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 with</a:t>
            </a:r>
            <a:endParaRPr/>
          </a:p>
        </p:txBody>
      </p:sp>
      <p:sp>
        <p:nvSpPr>
          <p:cNvPr id="889" name="Google Shape;889;p80"/>
          <p:cNvSpPr txBox="1"/>
          <p:nvPr/>
        </p:nvSpPr>
        <p:spPr>
          <a:xfrm>
            <a:off x="8582025" y="3814762"/>
            <a:ext cx="2095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endParaRPr/>
          </a:p>
        </p:txBody>
      </p:sp>
      <p:sp>
        <p:nvSpPr>
          <p:cNvPr id="890" name="Google Shape;890;p80"/>
          <p:cNvSpPr txBox="1"/>
          <p:nvPr/>
        </p:nvSpPr>
        <p:spPr>
          <a:xfrm>
            <a:off x="9839325" y="3814762"/>
            <a:ext cx="5238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endParaRPr/>
          </a:p>
        </p:txBody>
      </p:sp>
      <p:sp>
        <p:nvSpPr>
          <p:cNvPr id="891" name="Google Shape;891;p80"/>
          <p:cNvSpPr txBox="1"/>
          <p:nvPr/>
        </p:nvSpPr>
        <p:spPr>
          <a:xfrm>
            <a:off x="3867150" y="4033837"/>
            <a:ext cx="5238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endParaRPr/>
          </a:p>
        </p:txBody>
      </p:sp>
      <p:sp>
        <p:nvSpPr>
          <p:cNvPr id="892" name="Google Shape;892;p80"/>
          <p:cNvSpPr txBox="1"/>
          <p:nvPr/>
        </p:nvSpPr>
        <p:spPr>
          <a:xfrm>
            <a:off x="581025" y="2357437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MCP Code: Discovery</a:t>
            </a:r>
            <a:endParaRPr/>
          </a:p>
        </p:txBody>
      </p:sp>
      <p:sp>
        <p:nvSpPr>
          <p:cNvPr id="893" name="Google Shape;893;p80"/>
          <p:cNvSpPr/>
          <p:nvPr/>
        </p:nvSpPr>
        <p:spPr>
          <a:xfrm>
            <a:off x="581025" y="308133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8" name="Google Shape;898;p8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76650"/>
            <a:ext cx="1102995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81"/>
          <p:cNvSpPr txBox="1"/>
          <p:nvPr/>
        </p:nvSpPr>
        <p:spPr>
          <a:xfrm>
            <a:off x="828675" y="3924300"/>
            <a:ext cx="16764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08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Inside loop...</a:t>
            </a:r>
            <a:endParaRPr/>
          </a:p>
        </p:txBody>
      </p:sp>
      <p:sp>
        <p:nvSpPr>
          <p:cNvPr id="901" name="Google Shape;901;p81"/>
          <p:cNvSpPr txBox="1"/>
          <p:nvPr/>
        </p:nvSpPr>
        <p:spPr>
          <a:xfrm>
            <a:off x="2609850" y="3924300"/>
            <a:ext cx="2095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endParaRPr/>
          </a:p>
        </p:txBody>
      </p:sp>
      <p:sp>
        <p:nvSpPr>
          <p:cNvPr id="902" name="Google Shape;902;p81"/>
          <p:cNvSpPr txBox="1"/>
          <p:nvPr/>
        </p:nvSpPr>
        <p:spPr>
          <a:xfrm>
            <a:off x="3971925" y="3924300"/>
            <a:ext cx="12573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"write_file"</a:t>
            </a:r>
            <a:endParaRPr/>
          </a:p>
        </p:txBody>
      </p:sp>
      <p:sp>
        <p:nvSpPr>
          <p:cNvPr id="903" name="Google Shape;903;p81"/>
          <p:cNvSpPr txBox="1"/>
          <p:nvPr/>
        </p:nvSpPr>
        <p:spPr>
          <a:xfrm>
            <a:off x="5438775" y="3924300"/>
            <a:ext cx="5238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78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endParaRPr/>
          </a:p>
        </p:txBody>
      </p:sp>
      <p:sp>
        <p:nvSpPr>
          <p:cNvPr id="904" name="Google Shape;904;p81"/>
          <p:cNvSpPr txBox="1"/>
          <p:nvPr/>
        </p:nvSpPr>
        <p:spPr>
          <a:xfrm>
            <a:off x="7953375" y="3924300"/>
            <a:ext cx="12573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A875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"write_file"</a:t>
            </a:r>
            <a:endParaRPr/>
          </a:p>
        </p:txBody>
      </p:sp>
      <p:sp>
        <p:nvSpPr>
          <p:cNvPr id="905" name="Google Shape;905;p81"/>
          <p:cNvSpPr txBox="1"/>
          <p:nvPr/>
        </p:nvSpPr>
        <p:spPr>
          <a:xfrm>
            <a:off x="581025" y="246697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MCP Code: Execution</a:t>
            </a:r>
            <a:endParaRPr/>
          </a:p>
        </p:txBody>
      </p:sp>
      <p:sp>
        <p:nvSpPr>
          <p:cNvPr id="906" name="Google Shape;906;p81"/>
          <p:cNvSpPr/>
          <p:nvPr/>
        </p:nvSpPr>
        <p:spPr>
          <a:xfrm>
            <a:off x="581025" y="319087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" name="Google Shape;911;p8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95450"/>
            <a:ext cx="3486150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8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695450"/>
            <a:ext cx="3486150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695450"/>
            <a:ext cx="3486150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82"/>
          <p:cNvSpPr txBox="1"/>
          <p:nvPr/>
        </p:nvSpPr>
        <p:spPr>
          <a:xfrm>
            <a:off x="923925" y="2038350"/>
            <a:ext cx="15879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Portability</a:t>
            </a:r>
            <a:endParaRPr dirty="0"/>
          </a:p>
        </p:txBody>
      </p:sp>
      <p:sp>
        <p:nvSpPr>
          <p:cNvPr id="916" name="Google Shape;916;p82"/>
          <p:cNvSpPr txBox="1"/>
          <p:nvPr/>
        </p:nvSpPr>
        <p:spPr>
          <a:xfrm>
            <a:off x="923925" y="2657475"/>
            <a:ext cx="26098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Use same tools in Python &amp; Claude.</a:t>
            </a:r>
            <a:endParaRPr dirty="0"/>
          </a:p>
        </p:txBody>
      </p:sp>
      <p:sp>
        <p:nvSpPr>
          <p:cNvPr id="917" name="Google Shape;917;p82"/>
          <p:cNvSpPr txBox="1"/>
          <p:nvPr/>
        </p:nvSpPr>
        <p:spPr>
          <a:xfrm>
            <a:off x="4695825" y="2038350"/>
            <a:ext cx="9593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Security</a:t>
            </a:r>
            <a:endParaRPr/>
          </a:p>
        </p:txBody>
      </p:sp>
      <p:sp>
        <p:nvSpPr>
          <p:cNvPr id="918" name="Google Shape;918;p82"/>
          <p:cNvSpPr txBox="1"/>
          <p:nvPr/>
        </p:nvSpPr>
        <p:spPr>
          <a:xfrm>
            <a:off x="4695825" y="2657475"/>
            <a:ext cx="14859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Sandboxed servers.</a:t>
            </a:r>
            <a:endParaRPr/>
          </a:p>
        </p:txBody>
      </p:sp>
      <p:sp>
        <p:nvSpPr>
          <p:cNvPr id="919" name="Google Shape;919;p82"/>
          <p:cNvSpPr txBox="1"/>
          <p:nvPr/>
        </p:nvSpPr>
        <p:spPr>
          <a:xfrm>
            <a:off x="8467725" y="2038350"/>
            <a:ext cx="175131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Maintainability</a:t>
            </a:r>
            <a:endParaRPr/>
          </a:p>
        </p:txBody>
      </p:sp>
      <p:sp>
        <p:nvSpPr>
          <p:cNvPr id="920" name="Google Shape;920;p82"/>
          <p:cNvSpPr txBox="1"/>
          <p:nvPr/>
        </p:nvSpPr>
        <p:spPr>
          <a:xfrm>
            <a:off x="8467725" y="2657475"/>
            <a:ext cx="21812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Decoupled tools from agents.</a:t>
            </a:r>
            <a:endParaRPr/>
          </a:p>
        </p:txBody>
      </p:sp>
      <p:sp>
        <p:nvSpPr>
          <p:cNvPr id="921" name="Google Shape;921;p82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Why MCP Wins</a:t>
            </a:r>
            <a:endParaRPr/>
          </a:p>
        </p:txBody>
      </p:sp>
      <p:sp>
        <p:nvSpPr>
          <p:cNvPr id="922" name="Google Shape;922;p82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Google Shape;927;p8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43075"/>
            <a:ext cx="882387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83"/>
          <p:cNvSpPr txBox="1"/>
          <p:nvPr/>
        </p:nvSpPr>
        <p:spPr>
          <a:xfrm>
            <a:off x="1180530" y="2524125"/>
            <a:ext cx="7624859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Wrap Up</a:t>
            </a:r>
            <a:endParaRPr/>
          </a:p>
        </p:txBody>
      </p:sp>
      <p:sp>
        <p:nvSpPr>
          <p:cNvPr id="930" name="Google Shape;930;p83"/>
          <p:cNvSpPr/>
          <p:nvPr/>
        </p:nvSpPr>
        <p:spPr>
          <a:xfrm>
            <a:off x="4516635" y="3543300"/>
            <a:ext cx="95250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83"/>
          <p:cNvSpPr txBox="1"/>
          <p:nvPr/>
        </p:nvSpPr>
        <p:spPr>
          <a:xfrm>
            <a:off x="1362075" y="3848100"/>
            <a:ext cx="72617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Lab &amp; Assignments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Google Shape;936;p8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84"/>
          <p:cNvSpPr txBox="1"/>
          <p:nvPr/>
        </p:nvSpPr>
        <p:spPr>
          <a:xfrm>
            <a:off x="581025" y="35718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Task: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Clone the repo and run smart_investor.py.</a:t>
            </a:r>
            <a:endParaRPr/>
          </a:p>
        </p:txBody>
      </p:sp>
      <p:sp>
        <p:nvSpPr>
          <p:cNvPr id="938" name="Google Shape;938;p84"/>
          <p:cNvSpPr txBox="1"/>
          <p:nvPr/>
        </p:nvSpPr>
        <p:spPr>
          <a:xfrm>
            <a:off x="581025" y="41433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Challenge: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Add a "Calculator" tool to the agent so it can calculate profit margins.</a:t>
            </a:r>
            <a:endParaRPr/>
          </a:p>
        </p:txBody>
      </p:sp>
      <p:sp>
        <p:nvSpPr>
          <p:cNvPr id="939" name="Google Shape;939;p84"/>
          <p:cNvSpPr txBox="1"/>
          <p:nvPr/>
        </p:nvSpPr>
        <p:spPr>
          <a:xfrm>
            <a:off x="581025" y="22288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Lab 1: Build It</a:t>
            </a:r>
            <a:endParaRPr/>
          </a:p>
        </p:txBody>
      </p:sp>
      <p:sp>
        <p:nvSpPr>
          <p:cNvPr id="940" name="Google Shape;940;p84"/>
          <p:cNvSpPr/>
          <p:nvPr/>
        </p:nvSpPr>
        <p:spPr>
          <a:xfrm>
            <a:off x="581025" y="29527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5" name="Google Shape;945;p8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85"/>
          <p:cNvSpPr txBox="1"/>
          <p:nvPr/>
        </p:nvSpPr>
        <p:spPr>
          <a:xfrm>
            <a:off x="1247775" y="3186112"/>
            <a:ext cx="1036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What is the difference between </a:t>
            </a:r>
            <a:r>
              <a:rPr lang="en-US" sz="18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ReAct</a:t>
            </a:r>
            <a:r>
              <a:rPr lang="en-US" sz="18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lang="en-US" sz="18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CoT</a:t>
            </a:r>
            <a:r>
              <a:rPr lang="en-US" sz="18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 dirty="0"/>
          </a:p>
        </p:txBody>
      </p:sp>
      <p:sp>
        <p:nvSpPr>
          <p:cNvPr id="947" name="Google Shape;947;p85"/>
          <p:cNvSpPr txBox="1"/>
          <p:nvPr/>
        </p:nvSpPr>
        <p:spPr>
          <a:xfrm>
            <a:off x="1247775" y="3719512"/>
            <a:ext cx="1036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Why does the LLM need to "Stop" after generating an Action?</a:t>
            </a:r>
            <a:endParaRPr dirty="0"/>
          </a:p>
        </p:txBody>
      </p:sp>
      <p:sp>
        <p:nvSpPr>
          <p:cNvPr id="948" name="Google Shape;948;p85"/>
          <p:cNvSpPr txBox="1"/>
          <p:nvPr/>
        </p:nvSpPr>
        <p:spPr>
          <a:xfrm>
            <a:off x="1247775" y="4252912"/>
            <a:ext cx="10363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What are the 3 primitives of MCP?</a:t>
            </a:r>
            <a:endParaRPr/>
          </a:p>
        </p:txBody>
      </p:sp>
      <p:sp>
        <p:nvSpPr>
          <p:cNvPr id="949" name="Google Shape;949;p85"/>
          <p:cNvSpPr txBox="1"/>
          <p:nvPr/>
        </p:nvSpPr>
        <p:spPr>
          <a:xfrm>
            <a:off x="962025" y="31861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950" name="Google Shape;950;p85"/>
          <p:cNvSpPr txBox="1"/>
          <p:nvPr/>
        </p:nvSpPr>
        <p:spPr>
          <a:xfrm>
            <a:off x="962025" y="37195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951" name="Google Shape;951;p85"/>
          <p:cNvSpPr txBox="1"/>
          <p:nvPr/>
        </p:nvSpPr>
        <p:spPr>
          <a:xfrm>
            <a:off x="962025" y="4252912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952" name="Google Shape;952;p85"/>
          <p:cNvSpPr txBox="1"/>
          <p:nvPr/>
        </p:nvSpPr>
        <p:spPr>
          <a:xfrm>
            <a:off x="581025" y="1919287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Quiz Preview</a:t>
            </a:r>
            <a:endParaRPr/>
          </a:p>
        </p:txBody>
      </p:sp>
      <p:sp>
        <p:nvSpPr>
          <p:cNvPr id="953" name="Google Shape;953;p85"/>
          <p:cNvSpPr/>
          <p:nvPr/>
        </p:nvSpPr>
        <p:spPr>
          <a:xfrm>
            <a:off x="581025" y="2643187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8" name="Google Shape;958;p8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86"/>
          <p:cNvSpPr txBox="1"/>
          <p:nvPr/>
        </p:nvSpPr>
        <p:spPr>
          <a:xfrm>
            <a:off x="581025" y="334803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Essential</a:t>
            </a:r>
            <a:endParaRPr/>
          </a:p>
        </p:txBody>
      </p:sp>
      <p:sp>
        <p:nvSpPr>
          <p:cNvPr id="960" name="Google Shape;960;p86"/>
          <p:cNvSpPr txBox="1"/>
          <p:nvPr/>
        </p:nvSpPr>
        <p:spPr>
          <a:xfrm>
            <a:off x="581025" y="3795712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"ReAct: Synergizing Reasoning and Acting" (Yao et al.)</a:t>
            </a:r>
            <a:endParaRPr/>
          </a:p>
        </p:txBody>
      </p:sp>
      <p:sp>
        <p:nvSpPr>
          <p:cNvPr id="961" name="Google Shape;961;p86"/>
          <p:cNvSpPr txBox="1"/>
          <p:nvPr/>
        </p:nvSpPr>
        <p:spPr>
          <a:xfrm>
            <a:off x="6381750" y="334803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Advanced</a:t>
            </a:r>
            <a:endParaRPr/>
          </a:p>
        </p:txBody>
      </p:sp>
      <p:sp>
        <p:nvSpPr>
          <p:cNvPr id="962" name="Google Shape;962;p86"/>
          <p:cNvSpPr txBox="1"/>
          <p:nvPr/>
        </p:nvSpPr>
        <p:spPr>
          <a:xfrm>
            <a:off x="6381750" y="3795712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"Toolformer: Language Models Can Teach Themselves to Use Tools"</a:t>
            </a:r>
            <a:endParaRPr/>
          </a:p>
        </p:txBody>
      </p:sp>
      <p:sp>
        <p:nvSpPr>
          <p:cNvPr id="963" name="Google Shape;963;p86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Reading List</a:t>
            </a:r>
            <a:endParaRPr/>
          </a:p>
        </p:txBody>
      </p:sp>
      <p:sp>
        <p:nvSpPr>
          <p:cNvPr id="964" name="Google Shape;964;p86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9" name="Google Shape;969;p8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87"/>
          <p:cNvSpPr txBox="1"/>
          <p:nvPr/>
        </p:nvSpPr>
        <p:spPr>
          <a:xfrm>
            <a:off x="581025" y="334803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Regex Fails</a:t>
            </a:r>
            <a:endParaRPr/>
          </a:p>
        </p:txBody>
      </p:sp>
      <p:sp>
        <p:nvSpPr>
          <p:cNvPr id="971" name="Google Shape;971;p87"/>
          <p:cNvSpPr txBox="1"/>
          <p:nvPr/>
        </p:nvSpPr>
        <p:spPr>
          <a:xfrm>
            <a:off x="581025" y="3795712"/>
            <a:ext cx="52292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Check if the model output `Action: Name (Args)` instead of `[Args]`.</a:t>
            </a:r>
            <a:endParaRPr/>
          </a:p>
        </p:txBody>
      </p:sp>
      <p:sp>
        <p:nvSpPr>
          <p:cNvPr id="972" name="Google Shape;972;p87"/>
          <p:cNvSpPr txBox="1"/>
          <p:nvPr/>
        </p:nvSpPr>
        <p:spPr>
          <a:xfrm>
            <a:off x="6381750" y="351948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API Errors</a:t>
            </a:r>
            <a:endParaRPr/>
          </a:p>
        </p:txBody>
      </p:sp>
      <p:sp>
        <p:nvSpPr>
          <p:cNvPr id="973" name="Google Shape;973;p87"/>
          <p:cNvSpPr txBox="1"/>
          <p:nvPr/>
        </p:nvSpPr>
        <p:spPr>
          <a:xfrm>
            <a:off x="6381750" y="3967162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Check your `.env` file and API credits.</a:t>
            </a:r>
            <a:endParaRPr/>
          </a:p>
        </p:txBody>
      </p:sp>
      <p:sp>
        <p:nvSpPr>
          <p:cNvPr id="974" name="Google Shape;974;p87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FAQ: Common Errors</a:t>
            </a:r>
            <a:endParaRPr/>
          </a:p>
        </p:txBody>
      </p:sp>
      <p:sp>
        <p:nvSpPr>
          <p:cNvPr id="975" name="Google Shape;975;p87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0" name="Google Shape;980;p8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88"/>
          <p:cNvSpPr txBox="1"/>
          <p:nvPr/>
        </p:nvSpPr>
        <p:spPr>
          <a:xfrm>
            <a:off x="581025" y="35718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We wrap probabilistic models in deterministic loops.</a:t>
            </a:r>
            <a:endParaRPr/>
          </a:p>
        </p:txBody>
      </p:sp>
      <p:sp>
        <p:nvSpPr>
          <p:cNvPr id="982" name="Google Shape;982;p88"/>
          <p:cNvSpPr txBox="1"/>
          <p:nvPr/>
        </p:nvSpPr>
        <p:spPr>
          <a:xfrm>
            <a:off x="581025" y="41433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We use State to track progress.</a:t>
            </a:r>
            <a:endParaRPr/>
          </a:p>
        </p:txBody>
      </p:sp>
      <p:sp>
        <p:nvSpPr>
          <p:cNvPr id="983" name="Google Shape;983;p88"/>
          <p:cNvSpPr txBox="1"/>
          <p:nvPr/>
        </p:nvSpPr>
        <p:spPr>
          <a:xfrm>
            <a:off x="581025" y="22288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Summary: Flow Engineering</a:t>
            </a:r>
            <a:endParaRPr/>
          </a:p>
        </p:txBody>
      </p:sp>
      <p:sp>
        <p:nvSpPr>
          <p:cNvPr id="984" name="Google Shape;984;p88"/>
          <p:cNvSpPr/>
          <p:nvPr/>
        </p:nvSpPr>
        <p:spPr>
          <a:xfrm>
            <a:off x="581025" y="29527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9" name="Google Shape;989;p8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9"/>
          <p:cNvSpPr txBox="1"/>
          <p:nvPr/>
        </p:nvSpPr>
        <p:spPr>
          <a:xfrm>
            <a:off x="581025" y="35718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ReAct: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standard for autonomous agents.</a:t>
            </a:r>
            <a:endParaRPr/>
          </a:p>
        </p:txBody>
      </p:sp>
      <p:sp>
        <p:nvSpPr>
          <p:cNvPr id="991" name="Google Shape;991;p89"/>
          <p:cNvSpPr txBox="1"/>
          <p:nvPr/>
        </p:nvSpPr>
        <p:spPr>
          <a:xfrm>
            <a:off x="581025" y="41433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Router: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For classification and branching.</a:t>
            </a:r>
            <a:endParaRPr/>
          </a:p>
        </p:txBody>
      </p:sp>
      <p:sp>
        <p:nvSpPr>
          <p:cNvPr id="992" name="Google Shape;992;p89"/>
          <p:cNvSpPr txBox="1"/>
          <p:nvPr/>
        </p:nvSpPr>
        <p:spPr>
          <a:xfrm>
            <a:off x="581025" y="22288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Summary: Patterns</a:t>
            </a:r>
            <a:endParaRPr/>
          </a:p>
        </p:txBody>
      </p:sp>
      <p:sp>
        <p:nvSpPr>
          <p:cNvPr id="993" name="Google Shape;993;p89"/>
          <p:cNvSpPr/>
          <p:nvPr/>
        </p:nvSpPr>
        <p:spPr>
          <a:xfrm>
            <a:off x="581025" y="29527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98;p9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90"/>
          <p:cNvSpPr txBox="1"/>
          <p:nvPr/>
        </p:nvSpPr>
        <p:spPr>
          <a:xfrm>
            <a:off x="581025" y="35718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MCP: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standard for connecting tools (Vertical).</a:t>
            </a:r>
            <a:endParaRPr/>
          </a:p>
        </p:txBody>
      </p:sp>
      <p:sp>
        <p:nvSpPr>
          <p:cNvPr id="1000" name="Google Shape;1000;p90"/>
          <p:cNvSpPr txBox="1"/>
          <p:nvPr/>
        </p:nvSpPr>
        <p:spPr>
          <a:xfrm>
            <a:off x="581025" y="41433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Solves the N+1 integration problem.</a:t>
            </a:r>
            <a:endParaRPr dirty="0"/>
          </a:p>
        </p:txBody>
      </p:sp>
      <p:sp>
        <p:nvSpPr>
          <p:cNvPr id="1001" name="Google Shape;1001;p90"/>
          <p:cNvSpPr txBox="1"/>
          <p:nvPr/>
        </p:nvSpPr>
        <p:spPr>
          <a:xfrm>
            <a:off x="581025" y="22288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Summary: Protocols</a:t>
            </a:r>
            <a:endParaRPr/>
          </a:p>
        </p:txBody>
      </p:sp>
      <p:sp>
        <p:nvSpPr>
          <p:cNvPr id="1002" name="Google Shape;1002;p90"/>
          <p:cNvSpPr/>
          <p:nvPr/>
        </p:nvSpPr>
        <p:spPr>
          <a:xfrm>
            <a:off x="581025" y="29527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>
          <a:extLst>
            <a:ext uri="{FF2B5EF4-FFF2-40B4-BE49-F238E27FC236}">
              <a16:creationId xmlns:a16="http://schemas.microsoft.com/office/drawing/2014/main" id="{F33C0699-1586-A166-D8BB-B115EC3AF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98;p90" descr="image.png">
            <a:extLst>
              <a:ext uri="{FF2B5EF4-FFF2-40B4-BE49-F238E27FC236}">
                <a16:creationId xmlns:a16="http://schemas.microsoft.com/office/drawing/2014/main" id="{D05DF993-8764-99A5-3034-C09633A526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90">
            <a:extLst>
              <a:ext uri="{FF2B5EF4-FFF2-40B4-BE49-F238E27FC236}">
                <a16:creationId xmlns:a16="http://schemas.microsoft.com/office/drawing/2014/main" id="{30AE186E-ABFD-6FAA-0A8D-B1E8323781B5}"/>
              </a:ext>
            </a:extLst>
          </p:cNvPr>
          <p:cNvSpPr txBox="1"/>
          <p:nvPr/>
        </p:nvSpPr>
        <p:spPr>
          <a:xfrm>
            <a:off x="581025" y="35718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MCP:</a:t>
            </a: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standard for connecting tools (Vertical).</a:t>
            </a:r>
            <a:endParaRPr/>
          </a:p>
        </p:txBody>
      </p:sp>
      <p:sp>
        <p:nvSpPr>
          <p:cNvPr id="1000" name="Google Shape;1000;p90">
            <a:extLst>
              <a:ext uri="{FF2B5EF4-FFF2-40B4-BE49-F238E27FC236}">
                <a16:creationId xmlns:a16="http://schemas.microsoft.com/office/drawing/2014/main" id="{96CD882D-1CC7-925F-7DAC-74E1993CFBD9}"/>
              </a:ext>
            </a:extLst>
          </p:cNvPr>
          <p:cNvSpPr txBox="1"/>
          <p:nvPr/>
        </p:nvSpPr>
        <p:spPr>
          <a:xfrm>
            <a:off x="581025" y="414337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Solves the N+1 integration problem.</a:t>
            </a:r>
            <a:endParaRPr/>
          </a:p>
        </p:txBody>
      </p:sp>
      <p:sp>
        <p:nvSpPr>
          <p:cNvPr id="1001" name="Google Shape;1001;p90">
            <a:extLst>
              <a:ext uri="{FF2B5EF4-FFF2-40B4-BE49-F238E27FC236}">
                <a16:creationId xmlns:a16="http://schemas.microsoft.com/office/drawing/2014/main" id="{88341E9F-5480-A1F4-965C-AA5E9160F594}"/>
              </a:ext>
            </a:extLst>
          </p:cNvPr>
          <p:cNvSpPr txBox="1"/>
          <p:nvPr/>
        </p:nvSpPr>
        <p:spPr>
          <a:xfrm>
            <a:off x="581025" y="222885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Summary: Protocols</a:t>
            </a:r>
            <a:endParaRPr/>
          </a:p>
        </p:txBody>
      </p:sp>
      <p:sp>
        <p:nvSpPr>
          <p:cNvPr id="1002" name="Google Shape;1002;p90">
            <a:extLst>
              <a:ext uri="{FF2B5EF4-FFF2-40B4-BE49-F238E27FC236}">
                <a16:creationId xmlns:a16="http://schemas.microsoft.com/office/drawing/2014/main" id="{A0051AB9-1E1F-4B22-F3F1-91FBFCE8C9EE}"/>
              </a:ext>
            </a:extLst>
          </p:cNvPr>
          <p:cNvSpPr/>
          <p:nvPr/>
        </p:nvSpPr>
        <p:spPr>
          <a:xfrm>
            <a:off x="581025" y="2952750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059273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7" name="Google Shape;1007;p9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9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95450"/>
            <a:ext cx="5372100" cy="45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9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695450"/>
            <a:ext cx="5372100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91"/>
          <p:cNvSpPr txBox="1"/>
          <p:nvPr/>
        </p:nvSpPr>
        <p:spPr>
          <a:xfrm>
            <a:off x="923925" y="2038350"/>
            <a:ext cx="251578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Single Agent Patterns</a:t>
            </a:r>
            <a:endParaRPr/>
          </a:p>
        </p:txBody>
      </p:sp>
      <p:sp>
        <p:nvSpPr>
          <p:cNvPr id="1011" name="Google Shape;1011;p91"/>
          <p:cNvSpPr txBox="1"/>
          <p:nvPr/>
        </p:nvSpPr>
        <p:spPr>
          <a:xfrm>
            <a:off x="923925" y="2657475"/>
            <a:ext cx="3388583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Planning &amp; Self-Correction.</a:t>
            </a:r>
            <a:endParaRPr dirty="0"/>
          </a:p>
        </p:txBody>
      </p:sp>
      <p:sp>
        <p:nvSpPr>
          <p:cNvPr id="1012" name="Google Shape;1012;p91"/>
          <p:cNvSpPr txBox="1"/>
          <p:nvPr/>
        </p:nvSpPr>
        <p:spPr>
          <a:xfrm>
            <a:off x="6581775" y="2038350"/>
            <a:ext cx="99465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Memory</a:t>
            </a:r>
            <a:endParaRPr/>
          </a:p>
        </p:txBody>
      </p:sp>
      <p:sp>
        <p:nvSpPr>
          <p:cNvPr id="1013" name="Google Shape;1013;p91"/>
          <p:cNvSpPr txBox="1"/>
          <p:nvPr/>
        </p:nvSpPr>
        <p:spPr>
          <a:xfrm>
            <a:off x="6581775" y="2657475"/>
            <a:ext cx="15716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99999"/>
                </a:solidFill>
                <a:latin typeface="Urbanist"/>
                <a:ea typeface="Urbanist"/>
                <a:cs typeface="Urbanist"/>
                <a:sym typeface="Urbanist"/>
              </a:rPr>
              <a:t>RAG &amp; Vector Stores.</a:t>
            </a:r>
            <a:endParaRPr/>
          </a:p>
        </p:txBody>
      </p:sp>
      <p:sp>
        <p:nvSpPr>
          <p:cNvPr id="1014" name="Google Shape;1014;p91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Next Week</a:t>
            </a:r>
            <a:endParaRPr/>
          </a:p>
        </p:txBody>
      </p:sp>
      <p:sp>
        <p:nvSpPr>
          <p:cNvPr id="1015" name="Google Shape;1015;p91"/>
          <p:cNvSpPr/>
          <p:nvPr/>
        </p:nvSpPr>
        <p:spPr>
          <a:xfrm>
            <a:off x="581025" y="130492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001D88-6CF5-D471-CE52-DC58A6F94A5C}"/>
              </a:ext>
            </a:extLst>
          </p:cNvPr>
          <p:cNvSpPr txBox="1"/>
          <p:nvPr/>
        </p:nvSpPr>
        <p:spPr>
          <a:xfrm>
            <a:off x="1461630" y="4534544"/>
            <a:ext cx="982023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Apply our learning: Decoding Agentic Workflow Patterns on AWS</a:t>
            </a:r>
            <a:r>
              <a:rPr lang="en-US" sz="1800" dirty="0">
                <a:solidFill>
                  <a:schemeClr val="bg1"/>
                </a:solidFill>
              </a:rPr>
              <a:t> 🚀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🔗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https://docs.aws.amazon.com/prescriptive-guidance/latest/agentic-ai-patterns/prompt-chaining-saga-patterns.html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0" name="Google Shape;1020;p9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92"/>
          <p:cNvSpPr txBox="1"/>
          <p:nvPr/>
        </p:nvSpPr>
        <p:spPr>
          <a:xfrm>
            <a:off x="305276" y="2452687"/>
            <a:ext cx="11581447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Q&amp;A</a:t>
            </a:r>
            <a:endParaRPr/>
          </a:p>
        </p:txBody>
      </p:sp>
      <p:sp>
        <p:nvSpPr>
          <p:cNvPr id="1022" name="Google Shape;1022;p92"/>
          <p:cNvSpPr txBox="1"/>
          <p:nvPr/>
        </p:nvSpPr>
        <p:spPr>
          <a:xfrm>
            <a:off x="581025" y="3805237"/>
            <a:ext cx="110299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End of Week1 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1943</TotalTime>
  <Words>3780</Words>
  <Application>Microsoft Macintosh PowerPoint</Application>
  <PresentationFormat>Widescreen</PresentationFormat>
  <Paragraphs>638</Paragraphs>
  <Slides>91</Slides>
  <Notes>91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103" baseType="lpstr">
      <vt:lpstr>Urbanist Medium</vt:lpstr>
      <vt:lpstr>Calibri</vt:lpstr>
      <vt:lpstr>Wingdings</vt:lpstr>
      <vt:lpstr>JetBrains Mono</vt:lpstr>
      <vt:lpstr>Inter ExtraBold</vt:lpstr>
      <vt:lpstr>Times New Roman</vt:lpstr>
      <vt:lpstr>Arial</vt:lpstr>
      <vt:lpstr>fkGroteskNeue</vt:lpstr>
      <vt:lpstr>Urbanist</vt:lpstr>
      <vt:lpstr>Inter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Minukuri, Anvesh Reddy</cp:lastModifiedBy>
  <cp:revision>12</cp:revision>
  <dcterms:modified xsi:type="dcterms:W3CDTF">2026-02-09T02:45:32Z</dcterms:modified>
</cp:coreProperties>
</file>