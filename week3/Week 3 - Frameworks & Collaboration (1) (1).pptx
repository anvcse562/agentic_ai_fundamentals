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Urbanist" panose="020B0A04040200000203" pitchFamily="34" charset="77"/>
      <p:regular r:id="rId43"/>
      <p:bold r:id="rId44"/>
      <p:italic r:id="rId45"/>
      <p:boldItalic r:id="rId46"/>
    </p:embeddedFont>
    <p:embeddedFont>
      <p:font typeface="Urbanist Light" panose="020B0A04040200000203" pitchFamily="34" charset="77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048624-881E-4EE4-BC63-408C12183049}">
  <a:tblStyle styleId="{E4048624-881E-4EE4-BC63-408C121830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50569" y="2618779"/>
            <a:ext cx="6890861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Agentic AI- week3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814637" y="3523654"/>
            <a:ext cx="65627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Agentic Frameworks &amp; </a:t>
            </a:r>
            <a:r>
              <a:rPr lang="en-US" sz="2400" b="0" i="0" u="none" strike="noStrike" cap="none">
                <a:solidFill>
                  <a:srgbClr val="00FF4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Multi-Agent Collaboration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14637" y="4361854"/>
            <a:ext cx="6562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AutoGen</a:t>
            </a:r>
            <a:r>
              <a:rPr lang="en-US" sz="120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CrewAI</a:t>
            </a:r>
            <a:r>
              <a:rPr lang="en-US" sz="120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LangGraph</a:t>
            </a:r>
            <a:r>
              <a:rPr lang="en-US" sz="120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 &amp; State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38200" y="14859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14859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Foundations: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Why Frameworks &amp; T-Flow Principles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38200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18383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Deep Dive: AutoGen: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Conversational Agents &amp; Code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8200" y="21907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1907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Deep Dive: CrewAI: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Role-Playing &amp; Process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" y="25431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25431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Deep Dive: LangGraph: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Cyclic Graphs &amp; State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895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8956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Enterprise: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Vertex AI &amp; Managed Agents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32480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32480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Patterns: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Collaboration &amp; State Management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3181350"/>
            <a:ext cx="50196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361033" y="360997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86525" y="415290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Mastering the tools to orchestrate complex multi-agent systems.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Week 3 Agenda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05473" y="33956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Level 1: Script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5800" y="39385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Linear Python script calling OpenAI API.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409074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Level 2: Chain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4894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LangChain sequences (Prompt A -&gt; Prompt B).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Level 3: Framework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Multi-Agent Orchestration (AutoGen, CrewAI).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Evolution of AI Systems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"Code from Scratch" Problem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61033" y="313372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486525" y="36766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Frameworks handle the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"Plumbing"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486525" y="42005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State, Memory, Retry Logic, and Inter-agent Messaging.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8200" y="17430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17430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Handling conversation history is tedious.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8200" y="20955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20955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Error handling for tool calls is complex.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8200" y="24479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24479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Orchestrating 5+ agents is a nightmare.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Use Frameworks?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485775" y="1543050"/>
            <a:ext cx="11220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"Specialization beats Generalization."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1700"/>
            <a:ext cx="5419725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85775" y="217170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Power of Specialization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85775" y="26193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Instead of one "God Mode" agent, split the task.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89096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38200" y="3028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30289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 A: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Researcher (Browsing tool).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8200" y="33813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33813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 B: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Writer (File tool).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Multi-Agent Systems (MAS)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05473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Transparency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58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Frameworks provide logs/tracing (e.g., LangSmith) to see *why* an agent failed.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409074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Traceability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4894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Every state change is recorded. You can "replay" the agent's thought process.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Tool-Use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Standardized interfaces (MCP) for connecting agents to the real world.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T-Flow Principles in Frameworks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19"/>
          <p:cNvGraphicFramePr/>
          <p:nvPr/>
        </p:nvGraphicFramePr>
        <p:xfrm>
          <a:off x="485775" y="31718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{E4048624-881E-4EE4-BC63-408C12183049}</a:tableStyleId>
              </a:tblPr>
              <a:tblGrid>
                <a:gridCol w="231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AutoGen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CrewAI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LangGraph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Metaphor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Conversational Chat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Role-Playing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Graph / State Machine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Best For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Code Generation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Process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Production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Difficulty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 (Easy start)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(Powerful)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" name="Google Shape;183;p19"/>
          <p:cNvSpPr/>
          <p:nvPr/>
        </p:nvSpPr>
        <p:spPr>
          <a:xfrm>
            <a:off x="485775" y="3533775"/>
            <a:ext cx="231889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804666" y="3533775"/>
            <a:ext cx="294322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47891" y="3533775"/>
            <a:ext cx="269349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8441382" y="3533775"/>
            <a:ext cx="326484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85775" y="3929062"/>
            <a:ext cx="23188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804666" y="3929062"/>
            <a:ext cx="29432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47891" y="3929062"/>
            <a:ext cx="26934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8441382" y="3929062"/>
            <a:ext cx="326484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85775" y="4310062"/>
            <a:ext cx="23188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804666" y="4310062"/>
            <a:ext cx="29432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47891" y="4310062"/>
            <a:ext cx="26934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8441382" y="4310062"/>
            <a:ext cx="326484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85775" y="4691062"/>
            <a:ext cx="23188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804666" y="4691062"/>
            <a:ext cx="29432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47891" y="4691062"/>
            <a:ext cx="26934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441382" y="4691062"/>
            <a:ext cx="326484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Framework Landscape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"Everything is an Agent"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AutoGen models the world as a conversation between agents.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85775" y="21907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Even the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User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is modeled as a "UserProxy Agent" that can execute code or ask for human input.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46233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AutoGen: Core Philosophy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60308" y="3395662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Assistant Agent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85800" y="3938587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"Brain". It suggests Python code or answers questions.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61033" y="326707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Proxy Agent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486525" y="3810000"/>
            <a:ext cx="5019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"Executor". It runs the code suggested by the Assistant and reports the output.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AutoGen: Architecture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55758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485775" y="320516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This is AutoGen's superpower. It can write, debug, and run code autonomously.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AutoGen: Code Execution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Dynamic Orchestration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special agent that manages a group of 3+ agents.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It decides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"Who speaks next"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based on the conversation history.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486525" y="37528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Select Speaker -&gt; Agent A -&gt; Speak -&gt; Agent B -&gt; Speak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AutoGen: Group Chat Manager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Defining AutoGen Agents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114675"/>
            <a:ext cx="112204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485775" y="42195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This single line triggers the entire autonomous loop.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Initiating Chat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195637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195637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195637"/>
            <a:ext cx="3613249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05473" y="33956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685800" y="39385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Write a Snake game in Python.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4409074" y="33956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Role: Coder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4489400" y="39385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Writes the game logic using PyGame.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8212670" y="3395662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Role: Reviewer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8293000" y="3938587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Executes it, finds bugs, and requests fixes.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Case: Collaborative Coding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"Role-Playing Teams"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CrewAI structures agents like a human company.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Each agent has a specific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Role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Backstory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289" name="Google Shape;28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2987" y="3462337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CrewAI: Core Philosophy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028825"/>
            <a:ext cx="1122045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485775" y="148590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 CrewAI, you define the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Tasks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first, then assign them to Agents.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415290" y="3490912"/>
            <a:ext cx="113614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Task Definition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685800" y="4033837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"Description: Analyze the 2024 AI Market Report."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685800" y="4557712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"Expected Output: A 3-paragraph summary bullet list."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CrewAI: The "Task" First Approach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81337"/>
            <a:ext cx="36131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81337"/>
            <a:ext cx="36131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081337"/>
            <a:ext cx="361324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605473" y="33956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Step 1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85800" y="39385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Researcher finds data.</a:t>
            </a:r>
            <a:endParaRPr/>
          </a:p>
        </p:txBody>
      </p:sp>
      <p:pic>
        <p:nvPicPr>
          <p:cNvPr id="314" name="Google Shape;31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9400" y="3281362"/>
            <a:ext cx="32130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4409074" y="35099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Step 2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4489400" y="40528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Analyst processes data.</a:t>
            </a:r>
            <a:endParaRPr/>
          </a:p>
        </p:txBody>
      </p:sp>
      <p:pic>
        <p:nvPicPr>
          <p:cNvPr id="317" name="Google Shape;31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3000" y="3281362"/>
            <a:ext cx="321319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8212670" y="3509962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Step 3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8293000" y="4052887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Writer creates blog.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CrewAI Process: Sequential</a:t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Manager Agent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Automatically assigned (usually GPT-4).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485775" y="21907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It receives the high-level goal and delegates tasks to workers dynamically.</a:t>
            </a:r>
            <a:endParaRPr/>
          </a:p>
        </p:txBody>
      </p:sp>
      <p:pic>
        <p:nvPicPr>
          <p:cNvPr id="331" name="Google Shape;33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67737" y="346233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CrewAI Process: Hierarchical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838200" y="3314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866775" y="331470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Short-Term Memory: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Context of the current execution.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838200" y="3667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866775" y="366712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Long-Term Memory: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Stored in local Vector DB (Chroma/FAISS) to remember past executions.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838200" y="40195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866775" y="401955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Entity Memory: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Remembers facts about specific entities (e.g., "Company X").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CrewAI Memory Systems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CrewAI Agents &amp; Tasks</a:t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 txBox="1"/>
          <p:nvPr/>
        </p:nvSpPr>
        <p:spPr>
          <a:xfrm>
            <a:off x="485775" y="30718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Create a competitive analysis report.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838200" y="35766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866775" y="3576637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Scraper Agent: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Visits competitor websites.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838200" y="392906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866775" y="3929062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Analyst Agent: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Compares pricing and features.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838200" y="428148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866775" y="4281487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Reporter Agent: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Formats into a PDF.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Case: Market Research Team</a:t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4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"Cyclic State Machines"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LangGraph treats agent workflows as a Graph.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485775" y="21907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Unlike linear chains (LangChain), LangGraph allows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Cycles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(Loops), which are essential for agentic behavior.</a:t>
            </a:r>
            <a:endParaRPr/>
          </a:p>
        </p:txBody>
      </p:sp>
      <p:pic>
        <p:nvPicPr>
          <p:cNvPr id="378" name="Google Shape;37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5362" y="34623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LangGraph: Core Philosophy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5"/>
          <p:cNvSpPr txBox="1"/>
          <p:nvPr/>
        </p:nvSpPr>
        <p:spPr>
          <a:xfrm>
            <a:off x="560308" y="313372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Nodes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85800" y="36766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Python functions that do the work.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685800" y="42005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Input: Current State. Output: State Update.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6361033" y="313372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Edges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6486525" y="36766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control flow logic.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6486525" y="42005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Determines which Node runs next based on the State.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Nodes &amp; Edges</a:t>
            </a:r>
            <a:endParaRPr/>
          </a:p>
        </p:txBody>
      </p:sp>
      <p:sp>
        <p:nvSpPr>
          <p:cNvPr id="395" name="Google Shape;395;p3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33712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6"/>
          <p:cNvSpPr txBox="1"/>
          <p:nvPr/>
        </p:nvSpPr>
        <p:spPr>
          <a:xfrm>
            <a:off x="485775" y="430053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This schema is the "Blackboard" that all nodes read from and write to.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Shared State Schema</a:t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55758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7"/>
          <p:cNvSpPr txBox="1"/>
          <p:nvPr/>
        </p:nvSpPr>
        <p:spPr>
          <a:xfrm>
            <a:off x="485775" y="320516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Logic gates within the graph.</a:t>
            </a:r>
            <a:endParaRPr/>
          </a:p>
        </p:txBody>
      </p:sp>
      <p:sp>
        <p:nvSpPr>
          <p:cNvPr id="412" name="Google Shape;412;p3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Conditional Edges (The Router)</a:t>
            </a:r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"Time Travel"</a:t>
            </a:r>
            <a:endParaRPr/>
          </a:p>
        </p:txBody>
      </p:sp>
      <p:sp>
        <p:nvSpPr>
          <p:cNvPr id="421" name="Google Shape;421;p38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LangGraph saves the state after every node execution.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485775" y="21907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You can pause an agent, resume it later, or "rewind" to a previous step to fix an error.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6486525" y="37528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Essential for long-running human-in-the-loop workflows.</a:t>
            </a:r>
            <a:endParaRPr/>
          </a:p>
        </p:txBody>
      </p:sp>
      <p:sp>
        <p:nvSpPr>
          <p:cNvPr id="424" name="Google Shape;424;p3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Persistence &amp; Checkpointing</a:t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376612"/>
            <a:ext cx="112204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9"/>
          <p:cNvSpPr txBox="1"/>
          <p:nvPr/>
        </p:nvSpPr>
        <p:spPr>
          <a:xfrm>
            <a:off x="485775" y="30241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LangGraph allows you to interrupt the graph before sensitive actions.</a:t>
            </a:r>
            <a:endParaRPr/>
          </a:p>
        </p:txBody>
      </p:sp>
      <p:sp>
        <p:nvSpPr>
          <p:cNvPr id="433" name="Google Shape;433;p39"/>
          <p:cNvSpPr txBox="1"/>
          <p:nvPr/>
        </p:nvSpPr>
        <p:spPr>
          <a:xfrm>
            <a:off x="485775" y="44815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system pauses and waits for human approval to proceed.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Human-in-the-Loop</a:t>
            </a:r>
            <a:endParaRPr/>
          </a:p>
        </p:txBody>
      </p:sp>
      <p:sp>
        <p:nvSpPr>
          <p:cNvPr id="435" name="Google Shape;435;p3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Defining the Graph</a:t>
            </a:r>
            <a:endParaRPr/>
          </a:p>
        </p:txBody>
      </p:sp>
      <p:sp>
        <p:nvSpPr>
          <p:cNvPr id="443" name="Google Shape;443;p4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Compiling the Graph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2"/>
          <p:cNvSpPr txBox="1"/>
          <p:nvPr/>
        </p:nvSpPr>
        <p:spPr>
          <a:xfrm>
            <a:off x="838200" y="29622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58" name="Google Shape;458;p42"/>
          <p:cNvSpPr txBox="1"/>
          <p:nvPr/>
        </p:nvSpPr>
        <p:spPr>
          <a:xfrm>
            <a:off x="866775" y="296227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Node 1: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Classify Intent.</a:t>
            </a:r>
            <a:endParaRPr/>
          </a:p>
        </p:txBody>
      </p:sp>
      <p:sp>
        <p:nvSpPr>
          <p:cNvPr id="459" name="Google Shape;459;p42"/>
          <p:cNvSpPr txBox="1"/>
          <p:nvPr/>
        </p:nvSpPr>
        <p:spPr>
          <a:xfrm>
            <a:off x="838200" y="3314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0" name="Google Shape;460;p42"/>
          <p:cNvSpPr txBox="1"/>
          <p:nvPr/>
        </p:nvSpPr>
        <p:spPr>
          <a:xfrm>
            <a:off x="866775" y="331470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Node 2: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RAG Retrieval.</a:t>
            </a:r>
            <a:endParaRPr/>
          </a:p>
        </p:txBody>
      </p:sp>
      <p:sp>
        <p:nvSpPr>
          <p:cNvPr id="461" name="Google Shape;461;p42"/>
          <p:cNvSpPr txBox="1"/>
          <p:nvPr/>
        </p:nvSpPr>
        <p:spPr>
          <a:xfrm>
            <a:off x="838200" y="3667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2" name="Google Shape;462;p42"/>
          <p:cNvSpPr txBox="1"/>
          <p:nvPr/>
        </p:nvSpPr>
        <p:spPr>
          <a:xfrm>
            <a:off x="866775" y="366712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Node 3: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Draft Response.</a:t>
            </a:r>
            <a:endParaRPr/>
          </a:p>
        </p:txBody>
      </p:sp>
      <p:sp>
        <p:nvSpPr>
          <p:cNvPr id="463" name="Google Shape;463;p42"/>
          <p:cNvSpPr txBox="1"/>
          <p:nvPr/>
        </p:nvSpPr>
        <p:spPr>
          <a:xfrm>
            <a:off x="838200" y="40195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4" name="Google Shape;464;p42"/>
          <p:cNvSpPr txBox="1"/>
          <p:nvPr/>
        </p:nvSpPr>
        <p:spPr>
          <a:xfrm>
            <a:off x="866775" y="401955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Node 4 (Human):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Review Response.</a:t>
            </a:r>
            <a:endParaRPr/>
          </a:p>
        </p:txBody>
      </p:sp>
      <p:sp>
        <p:nvSpPr>
          <p:cNvPr id="465" name="Google Shape;465;p42"/>
          <p:cNvSpPr txBox="1"/>
          <p:nvPr/>
        </p:nvSpPr>
        <p:spPr>
          <a:xfrm>
            <a:off x="838200" y="43719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6" name="Google Shape;466;p42"/>
          <p:cNvSpPr txBox="1"/>
          <p:nvPr/>
        </p:nvSpPr>
        <p:spPr>
          <a:xfrm>
            <a:off x="866775" y="437197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Edge: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If Approved -&gt; Send. If Rejected -&gt; Node 3.</a:t>
            </a:r>
            <a:endParaRPr/>
          </a:p>
        </p:txBody>
      </p:sp>
      <p:sp>
        <p:nvSpPr>
          <p:cNvPr id="467" name="Google Shape;467;p4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Case: Customer Support</a:t>
            </a:r>
            <a:endParaRPr/>
          </a:p>
        </p:txBody>
      </p:sp>
      <p:sp>
        <p:nvSpPr>
          <p:cNvPr id="468" name="Google Shape;468;p4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Managed Agents</a:t>
            </a:r>
            <a:endParaRPr/>
          </a:p>
        </p:txBody>
      </p:sp>
      <p:sp>
        <p:nvSpPr>
          <p:cNvPr id="476" name="Google Shape;476;p43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Google Cloud's no-code/low-code solution.</a:t>
            </a:r>
            <a:endParaRPr/>
          </a:p>
        </p:txBody>
      </p:sp>
      <p:sp>
        <p:nvSpPr>
          <p:cNvPr id="477" name="Google Shape;477;p43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Integrates naturally with LangChain and LangGraph.</a:t>
            </a:r>
            <a:endParaRPr/>
          </a:p>
        </p:txBody>
      </p:sp>
      <p:pic>
        <p:nvPicPr>
          <p:cNvPr id="478" name="Google Shape;478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46233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Enterprise: Vertex AI Agent Builder</a:t>
            </a:r>
            <a:endParaRPr/>
          </a:p>
        </p:txBody>
      </p:sp>
      <p:sp>
        <p:nvSpPr>
          <p:cNvPr id="480" name="Google Shape;480;p4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605473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Grounding</a:t>
            </a:r>
            <a:endParaRPr/>
          </a:p>
        </p:txBody>
      </p:sp>
      <p:sp>
        <p:nvSpPr>
          <p:cNvPr id="490" name="Google Shape;490;p44"/>
          <p:cNvSpPr txBox="1"/>
          <p:nvPr/>
        </p:nvSpPr>
        <p:spPr>
          <a:xfrm>
            <a:off x="6858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Native integration with Google Search to reduce hallucinations.</a:t>
            </a:r>
            <a:endParaRPr/>
          </a:p>
        </p:txBody>
      </p:sp>
      <p:sp>
        <p:nvSpPr>
          <p:cNvPr id="491" name="Google Shape;491;p44"/>
          <p:cNvSpPr txBox="1"/>
          <p:nvPr/>
        </p:nvSpPr>
        <p:spPr>
          <a:xfrm>
            <a:off x="4409074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</a:t>
            </a:r>
            <a:endParaRPr/>
          </a:p>
        </p:txBody>
      </p:sp>
      <p:sp>
        <p:nvSpPr>
          <p:cNvPr id="492" name="Google Shape;492;p44"/>
          <p:cNvSpPr txBox="1"/>
          <p:nvPr/>
        </p:nvSpPr>
        <p:spPr>
          <a:xfrm>
            <a:off x="44894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Enterprise IAM, VPC-SC, and data residency compliance.</a:t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Tools</a:t>
            </a:r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Pre-built connectors for Gmail, Drive, and BigQuery.</a:t>
            </a:r>
            <a:endParaRPr/>
          </a:p>
        </p:txBody>
      </p:sp>
      <p:sp>
        <p:nvSpPr>
          <p:cNvPr id="495" name="Google Shape;495;p4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Vertex AI Features</a:t>
            </a:r>
            <a:endParaRPr/>
          </a:p>
        </p:txBody>
      </p:sp>
      <p:sp>
        <p:nvSpPr>
          <p:cNvPr id="496" name="Google Shape;496;p4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5"/>
          <p:cNvSpPr txBox="1"/>
          <p:nvPr/>
        </p:nvSpPr>
        <p:spPr>
          <a:xfrm>
            <a:off x="485775" y="34909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You can build custom agents in LangGraph and deploy them to Vertex AI for managed hosting and scaling.</a:t>
            </a:r>
            <a:endParaRPr/>
          </a:p>
        </p:txBody>
      </p:sp>
      <p:sp>
        <p:nvSpPr>
          <p:cNvPr id="503" name="Google Shape;503;p45"/>
          <p:cNvSpPr txBox="1"/>
          <p:nvPr/>
        </p:nvSpPr>
        <p:spPr>
          <a:xfrm>
            <a:off x="485775" y="40147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Best of both worlds: Open Source flexibility + Enterprise infrastructure.</a:t>
            </a:r>
            <a:endParaRPr/>
          </a:p>
        </p:txBody>
      </p:sp>
      <p:sp>
        <p:nvSpPr>
          <p:cNvPr id="504" name="Google Shape;504;p4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Integrating Vertex with LangGraph</a:t>
            </a:r>
            <a:endParaRPr/>
          </a:p>
        </p:txBody>
      </p:sp>
      <p:sp>
        <p:nvSpPr>
          <p:cNvPr id="505" name="Google Shape;505;p4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6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Message Passing (AutoGen)</a:t>
            </a:r>
            <a:endParaRPr/>
          </a:p>
        </p:txBody>
      </p:sp>
      <p:sp>
        <p:nvSpPr>
          <p:cNvPr id="512" name="Google Shape;512;p46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Agents send text to each other.</a:t>
            </a:r>
            <a:endParaRPr/>
          </a:p>
        </p:txBody>
      </p:sp>
      <p:sp>
        <p:nvSpPr>
          <p:cNvPr id="513" name="Google Shape;513;p46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 is distributed in conversation histories.</a:t>
            </a:r>
            <a:endParaRPr/>
          </a:p>
        </p:txBody>
      </p:sp>
      <p:sp>
        <p:nvSpPr>
          <p:cNvPr id="514" name="Google Shape;514;p46"/>
          <p:cNvSpPr txBox="1"/>
          <p:nvPr/>
        </p:nvSpPr>
        <p:spPr>
          <a:xfrm>
            <a:off x="6286500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Shared Blackboard (LangGraph)</a:t>
            </a:r>
            <a:endParaRPr/>
          </a:p>
        </p:txBody>
      </p:sp>
      <p:sp>
        <p:nvSpPr>
          <p:cNvPr id="515" name="Google Shape;515;p46"/>
          <p:cNvSpPr txBox="1"/>
          <p:nvPr/>
        </p:nvSpPr>
        <p:spPr>
          <a:xfrm>
            <a:off x="6286500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central State object.</a:t>
            </a:r>
            <a:endParaRPr/>
          </a:p>
        </p:txBody>
      </p:sp>
      <p:sp>
        <p:nvSpPr>
          <p:cNvPr id="516" name="Google Shape;516;p46"/>
          <p:cNvSpPr txBox="1"/>
          <p:nvPr/>
        </p:nvSpPr>
        <p:spPr>
          <a:xfrm>
            <a:off x="6286500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All agents read/write to the same structured schema.</a:t>
            </a:r>
            <a:endParaRPr/>
          </a:p>
        </p:txBody>
      </p:sp>
      <p:sp>
        <p:nvSpPr>
          <p:cNvPr id="517" name="Google Shape;517;p4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State: Message Passing vs Shared</a:t>
            </a:r>
            <a:endParaRPr/>
          </a:p>
        </p:txBody>
      </p:sp>
      <p:sp>
        <p:nvSpPr>
          <p:cNvPr id="518" name="Google Shape;518;p4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7"/>
          <p:cNvSpPr txBox="1"/>
          <p:nvPr/>
        </p:nvSpPr>
        <p:spPr>
          <a:xfrm>
            <a:off x="485775" y="34909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"Triage" Agent passes the user to a "Specialist".</a:t>
            </a:r>
            <a:endParaRPr/>
          </a:p>
        </p:txBody>
      </p:sp>
      <p:sp>
        <p:nvSpPr>
          <p:cNvPr id="525" name="Google Shape;525;p47"/>
          <p:cNvSpPr txBox="1"/>
          <p:nvPr/>
        </p:nvSpPr>
        <p:spPr>
          <a:xfrm>
            <a:off x="485775" y="40147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Key Requirement: The Specialist must inherit the conversation history (context).</a:t>
            </a:r>
            <a:endParaRPr/>
          </a:p>
        </p:txBody>
      </p:sp>
      <p:sp>
        <p:nvSpPr>
          <p:cNvPr id="526" name="Google Shape;526;p4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Pattern: The Handoff</a:t>
            </a:r>
            <a:endParaRPr/>
          </a:p>
        </p:txBody>
      </p:sp>
      <p:sp>
        <p:nvSpPr>
          <p:cNvPr id="527" name="Google Shape;527;p4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8"/>
          <p:cNvSpPr txBox="1"/>
          <p:nvPr/>
        </p:nvSpPr>
        <p:spPr>
          <a:xfrm>
            <a:off x="485775" y="32289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An Orchestrator agent that monitors the conversation.</a:t>
            </a:r>
            <a:endParaRPr/>
          </a:p>
        </p:txBody>
      </p:sp>
      <p:sp>
        <p:nvSpPr>
          <p:cNvPr id="534" name="Google Shape;534;p48"/>
          <p:cNvSpPr txBox="1"/>
          <p:nvPr/>
        </p:nvSpPr>
        <p:spPr>
          <a:xfrm>
            <a:off x="485775" y="375285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It does not perform tasks. It only commands others.</a:t>
            </a:r>
            <a:endParaRPr/>
          </a:p>
        </p:txBody>
      </p:sp>
      <p:sp>
        <p:nvSpPr>
          <p:cNvPr id="535" name="Google Shape;535;p48"/>
          <p:cNvSpPr txBox="1"/>
          <p:nvPr/>
        </p:nvSpPr>
        <p:spPr>
          <a:xfrm>
            <a:off x="485775" y="427672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Example: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Project Manager agent in CrewAI.</a:t>
            </a:r>
            <a:endParaRPr/>
          </a:p>
        </p:txBody>
      </p:sp>
      <p:sp>
        <p:nvSpPr>
          <p:cNvPr id="536" name="Google Shape;536;p4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Pattern: The Supervisor</a:t>
            </a:r>
            <a:endParaRPr/>
          </a:p>
        </p:txBody>
      </p:sp>
      <p:sp>
        <p:nvSpPr>
          <p:cNvPr id="537" name="Google Shape;537;p4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38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9"/>
          <p:cNvSpPr txBox="1"/>
          <p:nvPr/>
        </p:nvSpPr>
        <p:spPr>
          <a:xfrm>
            <a:off x="485775" y="32289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Agents speak when they have something to add.</a:t>
            </a:r>
            <a:endParaRPr dirty="0"/>
          </a:p>
        </p:txBody>
      </p:sp>
      <p:sp>
        <p:nvSpPr>
          <p:cNvPr id="544" name="Google Shape;544;p49"/>
          <p:cNvSpPr txBox="1"/>
          <p:nvPr/>
        </p:nvSpPr>
        <p:spPr>
          <a:xfrm>
            <a:off x="485775" y="375285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Requires a "Speaker Selection" function to prevent chaos.</a:t>
            </a:r>
            <a:endParaRPr/>
          </a:p>
        </p:txBody>
      </p:sp>
      <p:sp>
        <p:nvSpPr>
          <p:cNvPr id="545" name="Google Shape;545;p49"/>
          <p:cNvSpPr txBox="1"/>
          <p:nvPr/>
        </p:nvSpPr>
        <p:spPr>
          <a:xfrm>
            <a:off x="485775" y="427672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Common in AutoGen.</a:t>
            </a:r>
            <a:endParaRPr/>
          </a:p>
        </p:txBody>
      </p:sp>
      <p:sp>
        <p:nvSpPr>
          <p:cNvPr id="546" name="Google Shape;546;p4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Pattern: Dynamic Group Chat</a:t>
            </a:r>
            <a:endParaRPr/>
          </a:p>
        </p:txBody>
      </p:sp>
      <p:sp>
        <p:nvSpPr>
          <p:cNvPr id="547" name="Google Shape;547;p4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3" name="Google Shape;553;p50"/>
          <p:cNvGraphicFramePr/>
          <p:nvPr>
            <p:extLst>
              <p:ext uri="{D42A27DB-BD31-4B8C-83A1-F6EECF244321}">
                <p14:modId xmlns:p14="http://schemas.microsoft.com/office/powerpoint/2010/main" val="1988582049"/>
              </p:ext>
            </p:extLst>
          </p:nvPr>
        </p:nvGraphicFramePr>
        <p:xfrm>
          <a:off x="485775" y="3176587"/>
          <a:ext cx="11220450" cy="1524000"/>
        </p:xfrm>
        <a:graphic>
          <a:graphicData uri="http://schemas.openxmlformats.org/drawingml/2006/table">
            <a:tbl>
              <a:tblPr firstRow="1" bandRow="1">
                <a:noFill/>
                <a:tableStyleId>{E4048624-881E-4EE4-BC63-408C12183049}</a:tableStyleId>
              </a:tblPr>
              <a:tblGrid>
                <a:gridCol w="675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Quick Prototype?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CrewAI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Code Generation?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AutoGen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Production App?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LangGraph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Enterprise Data?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Vertex AI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4" name="Google Shape;554;p50"/>
          <p:cNvSpPr/>
          <p:nvPr/>
        </p:nvSpPr>
        <p:spPr>
          <a:xfrm>
            <a:off x="485775" y="3543300"/>
            <a:ext cx="67591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0"/>
          <p:cNvSpPr/>
          <p:nvPr/>
        </p:nvSpPr>
        <p:spPr>
          <a:xfrm>
            <a:off x="7244953" y="3543300"/>
            <a:ext cx="44612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0"/>
          <p:cNvSpPr/>
          <p:nvPr/>
        </p:nvSpPr>
        <p:spPr>
          <a:xfrm>
            <a:off x="485775" y="3924300"/>
            <a:ext cx="67591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0"/>
          <p:cNvSpPr/>
          <p:nvPr/>
        </p:nvSpPr>
        <p:spPr>
          <a:xfrm>
            <a:off x="7244953" y="3924300"/>
            <a:ext cx="44612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0"/>
          <p:cNvSpPr/>
          <p:nvPr/>
        </p:nvSpPr>
        <p:spPr>
          <a:xfrm>
            <a:off x="485775" y="4305300"/>
            <a:ext cx="67591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0"/>
          <p:cNvSpPr/>
          <p:nvPr/>
        </p:nvSpPr>
        <p:spPr>
          <a:xfrm>
            <a:off x="7244953" y="4305300"/>
            <a:ext cx="44612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0"/>
          <p:cNvSpPr/>
          <p:nvPr/>
        </p:nvSpPr>
        <p:spPr>
          <a:xfrm>
            <a:off x="485775" y="4686300"/>
            <a:ext cx="67591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0"/>
          <p:cNvSpPr/>
          <p:nvPr/>
        </p:nvSpPr>
        <p:spPr>
          <a:xfrm>
            <a:off x="7244953" y="4686300"/>
            <a:ext cx="44612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Which Tool When?</a:t>
            </a:r>
            <a:endParaRPr/>
          </a:p>
        </p:txBody>
      </p:sp>
      <p:sp>
        <p:nvSpPr>
          <p:cNvPr id="563" name="Google Shape;563;p5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1"/>
          <p:cNvSpPr txBox="1"/>
          <p:nvPr/>
        </p:nvSpPr>
        <p:spPr>
          <a:xfrm>
            <a:off x="838200" y="313848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70" name="Google Shape;570;p51"/>
          <p:cNvSpPr txBox="1"/>
          <p:nvPr/>
        </p:nvSpPr>
        <p:spPr>
          <a:xfrm>
            <a:off x="866775" y="3138487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Moved from single scripts to orchestration frameworks.</a:t>
            </a:r>
            <a:endParaRPr/>
          </a:p>
        </p:txBody>
      </p:sp>
      <p:sp>
        <p:nvSpPr>
          <p:cNvPr id="571" name="Google Shape;571;p51"/>
          <p:cNvSpPr txBox="1"/>
          <p:nvPr/>
        </p:nvSpPr>
        <p:spPr>
          <a:xfrm>
            <a:off x="838200" y="349091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72" name="Google Shape;572;p51"/>
          <p:cNvSpPr txBox="1"/>
          <p:nvPr/>
        </p:nvSpPr>
        <p:spPr>
          <a:xfrm>
            <a:off x="866775" y="3490912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Learned AutoGen (Chat), CrewAI (Roleplay), LangGraph (Control).</a:t>
            </a:r>
            <a:endParaRPr/>
          </a:p>
        </p:txBody>
      </p:sp>
      <p:sp>
        <p:nvSpPr>
          <p:cNvPr id="573" name="Google Shape;573;p51"/>
          <p:cNvSpPr txBox="1"/>
          <p:nvPr/>
        </p:nvSpPr>
        <p:spPr>
          <a:xfrm>
            <a:off x="838200" y="38433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74" name="Google Shape;574;p51"/>
          <p:cNvSpPr txBox="1"/>
          <p:nvPr/>
        </p:nvSpPr>
        <p:spPr>
          <a:xfrm>
            <a:off x="866775" y="3843337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Understood how State Management enables multi-turn reliability.</a:t>
            </a:r>
            <a:endParaRPr/>
          </a:p>
        </p:txBody>
      </p:sp>
      <p:sp>
        <p:nvSpPr>
          <p:cNvPr id="575" name="Google Shape;575;p51"/>
          <p:cNvSpPr txBox="1"/>
          <p:nvPr/>
        </p:nvSpPr>
        <p:spPr>
          <a:xfrm>
            <a:off x="838200" y="419576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76" name="Google Shape;576;p51"/>
          <p:cNvSpPr txBox="1"/>
          <p:nvPr/>
        </p:nvSpPr>
        <p:spPr>
          <a:xfrm>
            <a:off x="866775" y="4195762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Explored Collaboration Patterns: Handoffs &amp; Hierarchies.</a:t>
            </a:r>
            <a:endParaRPr/>
          </a:p>
        </p:txBody>
      </p:sp>
      <p:sp>
        <p:nvSpPr>
          <p:cNvPr id="577" name="Google Shape;577;p5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Week 3 Summary</a:t>
            </a:r>
            <a:endParaRPr/>
          </a:p>
        </p:txBody>
      </p:sp>
      <p:sp>
        <p:nvSpPr>
          <p:cNvPr id="578" name="Google Shape;578;p5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4700" y="1738312"/>
            <a:ext cx="556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2"/>
          <p:cNvSpPr txBox="1"/>
          <p:nvPr/>
        </p:nvSpPr>
        <p:spPr>
          <a:xfrm>
            <a:off x="3595687" y="2138362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Lab Assignment</a:t>
            </a:r>
            <a:endParaRPr/>
          </a:p>
        </p:txBody>
      </p:sp>
      <p:sp>
        <p:nvSpPr>
          <p:cNvPr id="586" name="Google Shape;586;p52"/>
          <p:cNvSpPr txBox="1"/>
          <p:nvPr/>
        </p:nvSpPr>
        <p:spPr>
          <a:xfrm>
            <a:off x="3714750" y="2995612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Build a </a:t>
            </a: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Multi-Agent Research Team</a:t>
            </a:r>
            <a:endParaRPr/>
          </a:p>
        </p:txBody>
      </p:sp>
      <p:sp>
        <p:nvSpPr>
          <p:cNvPr id="587" name="Google Shape;587;p52"/>
          <p:cNvSpPr txBox="1"/>
          <p:nvPr/>
        </p:nvSpPr>
        <p:spPr>
          <a:xfrm>
            <a:off x="3714750" y="350996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CrewAI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AutoGen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588" name="Google Shape;588;p52"/>
          <p:cNvSpPr txBox="1"/>
          <p:nvPr/>
        </p:nvSpPr>
        <p:spPr>
          <a:xfrm>
            <a:off x="3714750" y="3938587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Goal: Research a stock ticker and write a recommendation.</a:t>
            </a:r>
            <a:endParaRPr/>
          </a:p>
        </p:txBody>
      </p:sp>
      <p:sp>
        <p:nvSpPr>
          <p:cNvPr id="589" name="Google Shape;589;p52"/>
          <p:cNvSpPr txBox="1"/>
          <p:nvPr/>
        </p:nvSpPr>
        <p:spPr>
          <a:xfrm>
            <a:off x="3714750" y="436721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Required: 2 Agents (Researcher, Writer) interacting automatically.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1285</Words>
  <Application>Microsoft Macintosh PowerPoint</Application>
  <PresentationFormat>Widescreen</PresentationFormat>
  <Paragraphs>221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Urbanist Light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Minukuri, Anvesh Reddy</cp:lastModifiedBy>
  <cp:revision>1</cp:revision>
  <dcterms:modified xsi:type="dcterms:W3CDTF">2026-02-08T19:59:22Z</dcterms:modified>
</cp:coreProperties>
</file>