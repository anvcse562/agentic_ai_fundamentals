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9"/>
  </p:notesMasterIdLst>
  <p:sldIdLst>
    <p:sldId id="256" r:id="rId2"/>
    <p:sldId id="257" r:id="rId3"/>
    <p:sldId id="338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87" r:id="rId12"/>
    <p:sldId id="288" r:id="rId13"/>
    <p:sldId id="289" r:id="rId14"/>
    <p:sldId id="290" r:id="rId15"/>
    <p:sldId id="291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339" r:id="rId38"/>
  </p:sldIdLst>
  <p:sldSz cx="12192000" cy="6858000"/>
  <p:notesSz cx="6858000" cy="9144000"/>
  <p:embeddedFontLst>
    <p:embeddedFont>
      <p:font typeface="Urbanist" panose="020B0A04040200000203" pitchFamily="34" charset="77"/>
      <p:regular r:id="rId40"/>
      <p:bold r:id="rId41"/>
      <p:italic r:id="rId42"/>
      <p:boldItalic r:id="rId43"/>
    </p:embeddedFont>
    <p:embeddedFont>
      <p:font typeface="Urbanist Light" panose="020B0A04040200000203" pitchFamily="34" charset="77"/>
      <p:regular r:id="rId44"/>
      <p:bold r:id="rId45"/>
      <p:italic r:id="rId46"/>
      <p:boldItalic r:id="rId4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61712"/>
  </p:normalViewPr>
  <p:slideViewPr>
    <p:cSldViewPr snapToGrid="0">
      <p:cViewPr varScale="1">
        <p:scale>
          <a:sx n="75" d="100"/>
          <a:sy n="75" d="100"/>
        </p:scale>
        <p:origin x="2504" y="1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6" d="100"/>
          <a:sy n="96" d="100"/>
        </p:scale>
        <p:origin x="4328" y="17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3.fntdata"/><Relationship Id="rId47" Type="http://schemas.openxmlformats.org/officeDocument/2006/relationships/font" Target="fonts/font8.fntdata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font" Target="fonts/font1.fntdata"/><Relationship Id="rId45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4.fntdata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7.fntdata"/><Relationship Id="rId20" Type="http://schemas.openxmlformats.org/officeDocument/2006/relationships/slide" Target="slides/slide19.xml"/><Relationship Id="rId41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>
          <a:extLst>
            <a:ext uri="{FF2B5EF4-FFF2-40B4-BE49-F238E27FC236}">
              <a16:creationId xmlns:a16="http://schemas.microsoft.com/office/drawing/2014/main" id="{E9BF43B2-FDF8-FDD3-98CE-C12999B333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:notes">
            <a:extLst>
              <a:ext uri="{FF2B5EF4-FFF2-40B4-BE49-F238E27FC236}">
                <a16:creationId xmlns:a16="http://schemas.microsoft.com/office/drawing/2014/main" id="{C06A8972-CCCD-2037-ACA4-7498B8C3E0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 lang="en-US" dirty="0"/>
          </a:p>
        </p:txBody>
      </p:sp>
      <p:sp>
        <p:nvSpPr>
          <p:cNvPr id="143" name="Google Shape;143;p5:notes">
            <a:extLst>
              <a:ext uri="{FF2B5EF4-FFF2-40B4-BE49-F238E27FC236}">
                <a16:creationId xmlns:a16="http://schemas.microsoft.com/office/drawing/2014/main" id="{2AEB8BDD-024B-67E9-484A-9321D8D9668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774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3" name="Google Shape;11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0" name="Google Shape;13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0" name="Google Shape;15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6" name="Google Shape;16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5" name="Google Shape;18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0" name="Google Shape;20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7" name="Google Shape;21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3" name="Google Shape;13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5" name="Google Shape;14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9" name="Google Shape;15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4" name="Google Shape;17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7" name="Google Shape;18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33" name="Google Shape;23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44" name="Google Shape;24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59" name="Google Shape;25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68" name="Google Shape;268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" name="Google Shape;27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93" name="Google Shape;293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05" name="Google Shape;30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  <p:sp>
        <p:nvSpPr>
          <p:cNvPr id="321" name="Google Shape;321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30" name="Google Shape;330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" name="Google Shape;34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" name="Google Shape;353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2" name="Google Shape;362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 lang="en-US" dirty="0"/>
          </a:p>
        </p:txBody>
      </p:sp>
      <p:sp>
        <p:nvSpPr>
          <p:cNvPr id="370" name="Google Shape;370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82" name="Google Shape;382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02" name="Google Shape;402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10" name="Google Shape;410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2" name="Google Shape;422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41" name="Google Shape;441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60" name="Google Shape;460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80" name="Google Shape;480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234C637C-8F08-C463-0523-F7B17858A9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0260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5.png"/><Relationship Id="rId4" Type="http://schemas.openxmlformats.org/officeDocument/2006/relationships/image" Target="../media/image1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3.png"/><Relationship Id="rId4" Type="http://schemas.openxmlformats.org/officeDocument/2006/relationships/image" Target="../media/image11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1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7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8.png"/><Relationship Id="rId4" Type="http://schemas.openxmlformats.org/officeDocument/2006/relationships/image" Target="../media/image1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5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6.png"/><Relationship Id="rId4" Type="http://schemas.openxmlformats.org/officeDocument/2006/relationships/image" Target="../media/image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7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3660695" y="2618779"/>
            <a:ext cx="4870608" cy="809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5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Week 2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3776662" y="3523654"/>
            <a:ext cx="463867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888888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State, Planning &amp; </a:t>
            </a:r>
            <a:r>
              <a:rPr lang="en-US" sz="2400" b="0" i="0" u="none" strike="noStrike" cap="none">
                <a:solidFill>
                  <a:srgbClr val="00FF41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Flow Engineering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3776662" y="4361854"/>
            <a:ext cx="46386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66666"/>
                </a:solidFill>
                <a:latin typeface="Urbanist"/>
                <a:ea typeface="Urbanist"/>
                <a:cs typeface="Urbanist"/>
                <a:sym typeface="Urbanist"/>
              </a:rPr>
              <a:t>Building Robust, Stateful Agentic Systems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314450"/>
            <a:ext cx="5419725" cy="5057775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838200" y="1504950"/>
            <a:ext cx="285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866775" y="1504950"/>
            <a:ext cx="50387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Part 1:</a:t>
            </a: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 The Shift to Stateful Agents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838200" y="1857375"/>
            <a:ext cx="285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866775" y="1857375"/>
            <a:ext cx="50387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Part 2:</a:t>
            </a: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 Flow Engineering Deep Dive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838200" y="2209800"/>
            <a:ext cx="285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866775" y="2209800"/>
            <a:ext cx="50387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Part 3:</a:t>
            </a: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 The Planning Pattern (Travel Agent)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838200" y="2562225"/>
            <a:ext cx="285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866775" y="2562225"/>
            <a:ext cx="50387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Part 4:</a:t>
            </a: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 Reflection &amp; Self-Correction (Code Agent)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838200" y="2914650"/>
            <a:ext cx="285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866775" y="2914650"/>
            <a:ext cx="50387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Part 5:</a:t>
            </a: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 Tool Routing &amp; SLMs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838200" y="3267075"/>
            <a:ext cx="285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866775" y="3267075"/>
            <a:ext cx="50387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Part 6:</a:t>
            </a: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 Lab &amp; Assignments</a:t>
            </a:r>
            <a:endParaRPr/>
          </a:p>
        </p:txBody>
      </p:sp>
      <p:pic>
        <p:nvPicPr>
          <p:cNvPr id="106" name="Google Shape;106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86525" y="3181350"/>
            <a:ext cx="5019675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361033" y="3609975"/>
            <a:ext cx="5270658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Goal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6486525" y="4152900"/>
            <a:ext cx="50196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Move from simple loops to complex, directed graphs of thought.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485775" y="485775"/>
            <a:ext cx="117062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Week 2 Agenda</a:t>
            </a:r>
            <a:endParaRPr/>
          </a:p>
        </p:txBody>
      </p:sp>
      <p:sp>
        <p:nvSpPr>
          <p:cNvPr id="110" name="Google Shape;110;p14"/>
          <p:cNvSpPr/>
          <p:nvPr/>
        </p:nvSpPr>
        <p:spPr>
          <a:xfrm>
            <a:off x="485775" y="1114425"/>
            <a:ext cx="112204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>
          <a:extLst>
            <a:ext uri="{FF2B5EF4-FFF2-40B4-BE49-F238E27FC236}">
              <a16:creationId xmlns:a16="http://schemas.microsoft.com/office/drawing/2014/main" id="{64121289-8981-D2B2-076A-97FE5994D3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7" descr="image.png">
            <a:extLst>
              <a:ext uri="{FF2B5EF4-FFF2-40B4-BE49-F238E27FC236}">
                <a16:creationId xmlns:a16="http://schemas.microsoft.com/office/drawing/2014/main" id="{69F5E2A1-7B7E-9588-4A31-39417D10989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7">
            <a:extLst>
              <a:ext uri="{FF2B5EF4-FFF2-40B4-BE49-F238E27FC236}">
                <a16:creationId xmlns:a16="http://schemas.microsoft.com/office/drawing/2014/main" id="{25C4C68F-255A-275B-E683-BF5D8D8AA5C5}"/>
              </a:ext>
            </a:extLst>
          </p:cNvPr>
          <p:cNvSpPr txBox="1"/>
          <p:nvPr/>
        </p:nvSpPr>
        <p:spPr>
          <a:xfrm>
            <a:off x="305276" y="243640"/>
            <a:ext cx="11581447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dirty="0">
                <a:solidFill>
                  <a:srgbClr val="00FF41"/>
                </a:solidFill>
                <a:latin typeface="Urbanist"/>
                <a:ea typeface="Urbanist"/>
                <a:cs typeface="Urbanist"/>
                <a:sym typeface="Urbanist"/>
              </a:rPr>
              <a:t>Agentic AI Module 4 weeks Agenda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A40B6F5-F864-6009-FB05-D221286B87BF}"/>
              </a:ext>
            </a:extLst>
          </p:cNvPr>
          <p:cNvSpPr txBox="1"/>
          <p:nvPr/>
        </p:nvSpPr>
        <p:spPr>
          <a:xfrm>
            <a:off x="625641" y="2021305"/>
            <a:ext cx="11261082" cy="33135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lnSpc>
                <a:spcPct val="150000"/>
              </a:lnSpc>
              <a:buClr>
                <a:schemeClr val="bg1"/>
              </a:buClr>
              <a:buFont typeface="Wingdings" pitchFamily="2" charset="2"/>
              <a:buChar char="v"/>
            </a:pPr>
            <a:r>
              <a:rPr lang="en-US" sz="3600" dirty="0">
                <a:solidFill>
                  <a:schemeClr val="bg1"/>
                </a:solidFill>
                <a:latin typeface="+mn-lt"/>
              </a:rPr>
              <a:t>Week1:</a:t>
            </a:r>
            <a:r>
              <a:rPr lang="en-US" sz="3600" dirty="0">
                <a:solidFill>
                  <a:schemeClr val="bg1"/>
                </a:solidFill>
                <a:latin typeface="+mn-lt"/>
                <a:ea typeface="Urbanist"/>
                <a:cs typeface="Urbanist"/>
                <a:sym typeface="Urbanist"/>
              </a:rPr>
              <a:t>Agentic Core Fundamentals</a:t>
            </a:r>
          </a:p>
          <a:p>
            <a:pPr marL="571500" indent="-571500">
              <a:lnSpc>
                <a:spcPct val="150000"/>
              </a:lnSpc>
              <a:buClr>
                <a:schemeClr val="bg1"/>
              </a:buClr>
              <a:buFont typeface="Wingdings" pitchFamily="2" charset="2"/>
              <a:buChar char="v"/>
            </a:pPr>
            <a:r>
              <a:rPr lang="en-US" sz="3600" dirty="0">
                <a:solidFill>
                  <a:schemeClr val="bg1"/>
                </a:solidFill>
                <a:latin typeface="+mn-lt"/>
                <a:sym typeface="Urbanist"/>
              </a:rPr>
              <a:t>Week2: Agentic Patterns &amp; Flow Engineering</a:t>
            </a:r>
            <a:endParaRPr lang="en-US" sz="3600" dirty="0">
              <a:solidFill>
                <a:schemeClr val="bg1"/>
              </a:solidFill>
              <a:latin typeface="+mn-lt"/>
            </a:endParaRPr>
          </a:p>
          <a:p>
            <a:pPr marL="571500" indent="-571500">
              <a:lnSpc>
                <a:spcPct val="150000"/>
              </a:lnSpc>
              <a:buClr>
                <a:schemeClr val="bg1"/>
              </a:buClr>
              <a:buFont typeface="Wingdings" pitchFamily="2" charset="2"/>
              <a:buChar char="v"/>
            </a:pPr>
            <a:r>
              <a:rPr lang="en-US" sz="3600" dirty="0">
                <a:solidFill>
                  <a:schemeClr val="bg1"/>
                </a:solidFill>
                <a:latin typeface="+mn-lt"/>
              </a:rPr>
              <a:t>Week3: Stateful Multi-Agents, GenAI Frameworks</a:t>
            </a:r>
          </a:p>
          <a:p>
            <a:pPr marL="571500" indent="-571500">
              <a:lnSpc>
                <a:spcPct val="150000"/>
              </a:lnSpc>
              <a:buClr>
                <a:schemeClr val="bg1"/>
              </a:buClr>
              <a:buFont typeface="Wingdings" pitchFamily="2" charset="2"/>
              <a:buChar char="v"/>
            </a:pPr>
            <a:r>
              <a:rPr lang="en-US" sz="3600" dirty="0">
                <a:solidFill>
                  <a:schemeClr val="bg1"/>
                </a:solidFill>
                <a:latin typeface="+mn-lt"/>
              </a:rPr>
              <a:t>Week4: Deployment, Security, and Governance</a:t>
            </a:r>
          </a:p>
        </p:txBody>
      </p:sp>
    </p:spTree>
    <p:extLst>
      <p:ext uri="{BB962C8B-B14F-4D97-AF65-F5344CB8AC3E}">
        <p14:creationId xmlns:p14="http://schemas.microsoft.com/office/powerpoint/2010/main" val="41036756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314450"/>
            <a:ext cx="5419725" cy="1114425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485775" y="1314450"/>
            <a:ext cx="5690711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Week 1 Limitation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485775" y="1762125"/>
            <a:ext cx="541972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Our ReAct agents were "Goldfish." They solved a task and forgot everything immediately.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485775" y="2447925"/>
            <a:ext cx="54197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F4444"/>
                </a:solidFill>
                <a:latin typeface="Urbanist"/>
                <a:ea typeface="Urbanist"/>
                <a:cs typeface="Urbanist"/>
                <a:sym typeface="Urbanist"/>
              </a:rPr>
              <a:t>Risks of Statelessness: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838200" y="2857500"/>
            <a:ext cx="285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866775" y="2857500"/>
            <a:ext cx="50387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No continuity across sessions.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838200" y="3209925"/>
            <a:ext cx="285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866775" y="3209925"/>
            <a:ext cx="50387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Cannot handle tasks requiring multi-day waits.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838200" y="3562350"/>
            <a:ext cx="285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866775" y="3562350"/>
            <a:ext cx="50387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Loses context in long conversation chains.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485775" y="485775"/>
            <a:ext cx="117062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The Problem: Stateless Amnesia</a:t>
            </a:r>
            <a:endParaRPr/>
          </a:p>
        </p:txBody>
      </p:sp>
      <p:sp>
        <p:nvSpPr>
          <p:cNvPr id="127" name="Google Shape;127;p15"/>
          <p:cNvSpPr/>
          <p:nvPr/>
        </p:nvSpPr>
        <p:spPr>
          <a:xfrm>
            <a:off x="485775" y="1114425"/>
            <a:ext cx="112204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5775" y="3386137"/>
            <a:ext cx="3613100" cy="1724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289375" y="3386137"/>
            <a:ext cx="3613100" cy="1724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92975" y="3386137"/>
            <a:ext cx="3613249" cy="1724025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6"/>
          <p:cNvSpPr txBox="1"/>
          <p:nvPr/>
        </p:nvSpPr>
        <p:spPr>
          <a:xfrm>
            <a:off x="485775" y="2747962"/>
            <a:ext cx="112204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State is the </a:t>
            </a:r>
            <a:r>
              <a:rPr lang="en-US" sz="1350" b="1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Memory</a:t>
            </a: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 of the agent. It persists data *between* the LLM calls.</a:t>
            </a:r>
            <a:endParaRPr/>
          </a:p>
        </p:txBody>
      </p:sp>
      <p:pic>
        <p:nvPicPr>
          <p:cNvPr id="137" name="Google Shape;137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85800" y="3586162"/>
            <a:ext cx="32130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6"/>
          <p:cNvSpPr txBox="1"/>
          <p:nvPr/>
        </p:nvSpPr>
        <p:spPr>
          <a:xfrm>
            <a:off x="605473" y="4014787"/>
            <a:ext cx="337370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User Context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685800" y="4557712"/>
            <a:ext cx="32130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Preferences, Name, History.</a:t>
            </a:r>
            <a:endParaRPr/>
          </a:p>
        </p:txBody>
      </p:sp>
      <p:pic>
        <p:nvPicPr>
          <p:cNvPr id="140" name="Google Shape;140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489400" y="3586162"/>
            <a:ext cx="32130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6"/>
          <p:cNvSpPr txBox="1"/>
          <p:nvPr/>
        </p:nvSpPr>
        <p:spPr>
          <a:xfrm>
            <a:off x="4409074" y="4014787"/>
            <a:ext cx="337370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Task State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4489400" y="4557712"/>
            <a:ext cx="32130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Current Step, Completed Items.</a:t>
            </a:r>
            <a:endParaRPr/>
          </a:p>
        </p:txBody>
      </p:sp>
      <p:pic>
        <p:nvPicPr>
          <p:cNvPr id="143" name="Google Shape;143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293000" y="3586162"/>
            <a:ext cx="3213199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6"/>
          <p:cNvSpPr txBox="1"/>
          <p:nvPr/>
        </p:nvSpPr>
        <p:spPr>
          <a:xfrm>
            <a:off x="8212670" y="4014787"/>
            <a:ext cx="3373859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World State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8293000" y="4557712"/>
            <a:ext cx="3213199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API Results, File Contents.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485775" y="485775"/>
            <a:ext cx="117062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Solution: Introducing State</a:t>
            </a:r>
            <a:endParaRPr/>
          </a:p>
        </p:txBody>
      </p:sp>
      <p:sp>
        <p:nvSpPr>
          <p:cNvPr id="147" name="Google Shape;147;p16"/>
          <p:cNvSpPr/>
          <p:nvPr/>
        </p:nvSpPr>
        <p:spPr>
          <a:xfrm>
            <a:off x="485775" y="1114425"/>
            <a:ext cx="112204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314450"/>
            <a:ext cx="5419725" cy="5057775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7"/>
          <p:cNvSpPr txBox="1"/>
          <p:nvPr/>
        </p:nvSpPr>
        <p:spPr>
          <a:xfrm>
            <a:off x="485775" y="1485900"/>
            <a:ext cx="54197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A stateful agent is no longer just a function. It is a </a:t>
            </a:r>
            <a:r>
              <a:rPr lang="en-US" sz="1350" b="1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Class</a:t>
            </a: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 or an </a:t>
            </a:r>
            <a:r>
              <a:rPr lang="en-US" sz="1350" b="1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Object</a:t>
            </a: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/>
          </a:p>
        </p:txBody>
      </p:sp>
      <p:pic>
        <p:nvPicPr>
          <p:cNvPr id="155" name="Google Shape;155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96025" y="1323975"/>
            <a:ext cx="5400675" cy="5038725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7"/>
          <p:cNvSpPr txBox="1"/>
          <p:nvPr/>
        </p:nvSpPr>
        <p:spPr>
          <a:xfrm>
            <a:off x="838200" y="1895475"/>
            <a:ext cx="285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866775" y="1895475"/>
            <a:ext cx="50387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Schema:</a:t>
            </a: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 Defined structure (JSON/Pydantic).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838200" y="2247900"/>
            <a:ext cx="285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59" name="Google Shape;159;p17"/>
          <p:cNvSpPr txBox="1"/>
          <p:nvPr/>
        </p:nvSpPr>
        <p:spPr>
          <a:xfrm>
            <a:off x="866775" y="2247900"/>
            <a:ext cx="50387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Persistence:</a:t>
            </a: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 Saved to DB (Postgres/Redis).</a:t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838200" y="2600325"/>
            <a:ext cx="285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61" name="Google Shape;161;p17"/>
          <p:cNvSpPr txBox="1"/>
          <p:nvPr/>
        </p:nvSpPr>
        <p:spPr>
          <a:xfrm>
            <a:off x="866775" y="2600325"/>
            <a:ext cx="50387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Updates:</a:t>
            </a: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 Modified by tool outputs.</a:t>
            </a: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485775" y="485775"/>
            <a:ext cx="117062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Anatomy of a Stateful Agent</a:t>
            </a:r>
            <a:endParaRPr/>
          </a:p>
        </p:txBody>
      </p:sp>
      <p:sp>
        <p:nvSpPr>
          <p:cNvPr id="163" name="Google Shape;163;p17"/>
          <p:cNvSpPr/>
          <p:nvPr/>
        </p:nvSpPr>
        <p:spPr>
          <a:xfrm>
            <a:off x="485775" y="1114425"/>
            <a:ext cx="112204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5775" y="2805112"/>
            <a:ext cx="3613100" cy="2076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289375" y="2805112"/>
            <a:ext cx="3613100" cy="2076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92975" y="2805112"/>
            <a:ext cx="3613249" cy="207645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8"/>
          <p:cNvSpPr txBox="1"/>
          <p:nvPr/>
        </p:nvSpPr>
        <p:spPr>
          <a:xfrm>
            <a:off x="605473" y="3005137"/>
            <a:ext cx="337370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Short-term</a:t>
            </a:r>
            <a:endParaRPr/>
          </a:p>
        </p:txBody>
      </p:sp>
      <p:sp>
        <p:nvSpPr>
          <p:cNvPr id="173" name="Google Shape;173;p18"/>
          <p:cNvSpPr txBox="1"/>
          <p:nvPr/>
        </p:nvSpPr>
        <p:spPr>
          <a:xfrm>
            <a:off x="685800" y="3548062"/>
            <a:ext cx="32130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00FF41"/>
                </a:solidFill>
                <a:latin typeface="Urbanist"/>
                <a:ea typeface="Urbanist"/>
                <a:cs typeface="Urbanist"/>
                <a:sym typeface="Urbanist"/>
              </a:rPr>
              <a:t>Context Window</a:t>
            </a:r>
            <a:endParaRPr/>
          </a:p>
        </p:txBody>
      </p:sp>
      <p:sp>
        <p:nvSpPr>
          <p:cNvPr id="174" name="Google Shape;174;p18"/>
          <p:cNvSpPr txBox="1"/>
          <p:nvPr/>
        </p:nvSpPr>
        <p:spPr>
          <a:xfrm>
            <a:off x="685800" y="4071937"/>
            <a:ext cx="32130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The active conversation history. Fast but limited (128k tokens).</a:t>
            </a:r>
            <a:endParaRPr/>
          </a:p>
        </p:txBody>
      </p:sp>
      <p:sp>
        <p:nvSpPr>
          <p:cNvPr id="175" name="Google Shape;175;p18"/>
          <p:cNvSpPr txBox="1"/>
          <p:nvPr/>
        </p:nvSpPr>
        <p:spPr>
          <a:xfrm>
            <a:off x="4409074" y="3005137"/>
            <a:ext cx="337370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Long-term</a:t>
            </a:r>
            <a:endParaRPr/>
          </a:p>
        </p:txBody>
      </p:sp>
      <p:sp>
        <p:nvSpPr>
          <p:cNvPr id="176" name="Google Shape;176;p18"/>
          <p:cNvSpPr txBox="1"/>
          <p:nvPr/>
        </p:nvSpPr>
        <p:spPr>
          <a:xfrm>
            <a:off x="4489400" y="3548062"/>
            <a:ext cx="32130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00FF41"/>
                </a:solidFill>
                <a:latin typeface="Urbanist"/>
                <a:ea typeface="Urbanist"/>
                <a:cs typeface="Urbanist"/>
                <a:sym typeface="Urbanist"/>
              </a:rPr>
              <a:t>Vector DB (RAG)</a:t>
            </a:r>
            <a:endParaRPr/>
          </a:p>
        </p:txBody>
      </p:sp>
      <p:sp>
        <p:nvSpPr>
          <p:cNvPr id="177" name="Google Shape;177;p18"/>
          <p:cNvSpPr txBox="1"/>
          <p:nvPr/>
        </p:nvSpPr>
        <p:spPr>
          <a:xfrm>
            <a:off x="4489400" y="4071937"/>
            <a:ext cx="32130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Retrieving documents from the past. Infinite but slower.</a:t>
            </a:r>
            <a:endParaRPr/>
          </a:p>
        </p:txBody>
      </p:sp>
      <p:sp>
        <p:nvSpPr>
          <p:cNvPr id="178" name="Google Shape;178;p18"/>
          <p:cNvSpPr txBox="1"/>
          <p:nvPr/>
        </p:nvSpPr>
        <p:spPr>
          <a:xfrm>
            <a:off x="8212670" y="3005137"/>
            <a:ext cx="3373859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Episodic</a:t>
            </a:r>
            <a:endParaRPr/>
          </a:p>
        </p:txBody>
      </p:sp>
      <p:sp>
        <p:nvSpPr>
          <p:cNvPr id="179" name="Google Shape;179;p18"/>
          <p:cNvSpPr txBox="1"/>
          <p:nvPr/>
        </p:nvSpPr>
        <p:spPr>
          <a:xfrm>
            <a:off x="8293000" y="3548062"/>
            <a:ext cx="3213199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00FF41"/>
                </a:solidFill>
                <a:latin typeface="Urbanist"/>
                <a:ea typeface="Urbanist"/>
                <a:cs typeface="Urbanist"/>
                <a:sym typeface="Urbanist"/>
              </a:rPr>
              <a:t>Checkpoints</a:t>
            </a:r>
            <a:endParaRPr/>
          </a:p>
        </p:txBody>
      </p:sp>
      <p:sp>
        <p:nvSpPr>
          <p:cNvPr id="180" name="Google Shape;180;p18"/>
          <p:cNvSpPr txBox="1"/>
          <p:nvPr/>
        </p:nvSpPr>
        <p:spPr>
          <a:xfrm>
            <a:off x="8293000" y="4071937"/>
            <a:ext cx="3213199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Saving the "State Object" at specific steps (Time Travel).</a:t>
            </a:r>
            <a:endParaRPr/>
          </a:p>
        </p:txBody>
      </p:sp>
      <p:sp>
        <p:nvSpPr>
          <p:cNvPr id="181" name="Google Shape;181;p18"/>
          <p:cNvSpPr txBox="1"/>
          <p:nvPr/>
        </p:nvSpPr>
        <p:spPr>
          <a:xfrm>
            <a:off x="485775" y="485775"/>
            <a:ext cx="117062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Types of Agent Memory</a:t>
            </a:r>
            <a:endParaRPr dirty="0"/>
          </a:p>
        </p:txBody>
      </p:sp>
      <p:sp>
        <p:nvSpPr>
          <p:cNvPr id="182" name="Google Shape;182;p18"/>
          <p:cNvSpPr/>
          <p:nvPr/>
        </p:nvSpPr>
        <p:spPr>
          <a:xfrm>
            <a:off x="485775" y="1114425"/>
            <a:ext cx="112204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5775" y="2266950"/>
            <a:ext cx="5419725" cy="127635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9"/>
          <p:cNvSpPr txBox="1"/>
          <p:nvPr/>
        </p:nvSpPr>
        <p:spPr>
          <a:xfrm>
            <a:off x="485775" y="1543050"/>
            <a:ext cx="112204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"Designing the </a:t>
            </a:r>
            <a:r>
              <a:rPr lang="en-US" sz="1800" b="1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Graph</a:t>
            </a:r>
            <a:r>
              <a:rPr lang="en-US" sz="180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 of execution, not just the Prompt."</a:t>
            </a:r>
            <a:endParaRPr/>
          </a:p>
        </p:txBody>
      </p:sp>
      <p:sp>
        <p:nvSpPr>
          <p:cNvPr id="190" name="Google Shape;190;p19"/>
          <p:cNvSpPr txBox="1"/>
          <p:nvPr/>
        </p:nvSpPr>
        <p:spPr>
          <a:xfrm>
            <a:off x="6638925" y="2419350"/>
            <a:ext cx="285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91" name="Google Shape;191;p19"/>
          <p:cNvSpPr txBox="1"/>
          <p:nvPr/>
        </p:nvSpPr>
        <p:spPr>
          <a:xfrm>
            <a:off x="6667500" y="2419350"/>
            <a:ext cx="50387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Break tasks into atomic steps.</a:t>
            </a:r>
            <a:endParaRPr/>
          </a:p>
        </p:txBody>
      </p:sp>
      <p:sp>
        <p:nvSpPr>
          <p:cNvPr id="192" name="Google Shape;192;p19"/>
          <p:cNvSpPr txBox="1"/>
          <p:nvPr/>
        </p:nvSpPr>
        <p:spPr>
          <a:xfrm>
            <a:off x="6638925" y="2771775"/>
            <a:ext cx="285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93" name="Google Shape;193;p19"/>
          <p:cNvSpPr txBox="1"/>
          <p:nvPr/>
        </p:nvSpPr>
        <p:spPr>
          <a:xfrm>
            <a:off x="6667500" y="2771775"/>
            <a:ext cx="50387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Hard-code the logic *between* the LLM calls.</a:t>
            </a:r>
            <a:endParaRPr/>
          </a:p>
        </p:txBody>
      </p:sp>
      <p:sp>
        <p:nvSpPr>
          <p:cNvPr id="194" name="Google Shape;194;p19"/>
          <p:cNvSpPr txBox="1"/>
          <p:nvPr/>
        </p:nvSpPr>
        <p:spPr>
          <a:xfrm>
            <a:off x="6638925" y="3124200"/>
            <a:ext cx="285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95" name="Google Shape;195;p19"/>
          <p:cNvSpPr txBox="1"/>
          <p:nvPr/>
        </p:nvSpPr>
        <p:spPr>
          <a:xfrm>
            <a:off x="6667500" y="3124200"/>
            <a:ext cx="50387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Reduces error rates by isolating failure points.</a:t>
            </a:r>
            <a:endParaRPr/>
          </a:p>
        </p:txBody>
      </p:sp>
      <p:sp>
        <p:nvSpPr>
          <p:cNvPr id="196" name="Google Shape;196;p19"/>
          <p:cNvSpPr txBox="1"/>
          <p:nvPr/>
        </p:nvSpPr>
        <p:spPr>
          <a:xfrm>
            <a:off x="485775" y="485775"/>
            <a:ext cx="117062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What is Flow Engineering?</a:t>
            </a:r>
            <a:endParaRPr/>
          </a:p>
        </p:txBody>
      </p:sp>
      <p:sp>
        <p:nvSpPr>
          <p:cNvPr id="197" name="Google Shape;197;p19"/>
          <p:cNvSpPr/>
          <p:nvPr/>
        </p:nvSpPr>
        <p:spPr>
          <a:xfrm>
            <a:off x="485775" y="1114425"/>
            <a:ext cx="112204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Google Shape;202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5775" y="1314450"/>
            <a:ext cx="5419725" cy="5057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1314450"/>
            <a:ext cx="5419725" cy="5057775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0"/>
          <p:cNvSpPr txBox="1"/>
          <p:nvPr/>
        </p:nvSpPr>
        <p:spPr>
          <a:xfrm>
            <a:off x="560308" y="2871787"/>
            <a:ext cx="5270658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Prompting</a:t>
            </a:r>
            <a:endParaRPr/>
          </a:p>
        </p:txBody>
      </p:sp>
      <p:sp>
        <p:nvSpPr>
          <p:cNvPr id="206" name="Google Shape;206;p20"/>
          <p:cNvSpPr txBox="1"/>
          <p:nvPr/>
        </p:nvSpPr>
        <p:spPr>
          <a:xfrm>
            <a:off x="685800" y="3414712"/>
            <a:ext cx="50196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One giant instruction block.</a:t>
            </a:r>
            <a:endParaRPr/>
          </a:p>
        </p:txBody>
      </p:sp>
      <p:sp>
        <p:nvSpPr>
          <p:cNvPr id="207" name="Google Shape;207;p20"/>
          <p:cNvSpPr txBox="1"/>
          <p:nvPr/>
        </p:nvSpPr>
        <p:spPr>
          <a:xfrm>
            <a:off x="685800" y="3938587"/>
            <a:ext cx="50196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Pros:</a:t>
            </a: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 Fast to write.</a:t>
            </a:r>
            <a:endParaRPr/>
          </a:p>
        </p:txBody>
      </p:sp>
      <p:sp>
        <p:nvSpPr>
          <p:cNvPr id="208" name="Google Shape;208;p20"/>
          <p:cNvSpPr txBox="1"/>
          <p:nvPr/>
        </p:nvSpPr>
        <p:spPr>
          <a:xfrm>
            <a:off x="685800" y="4462462"/>
            <a:ext cx="50196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Cons:</a:t>
            </a: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 Hard to debug, fragile.</a:t>
            </a:r>
            <a:endParaRPr/>
          </a:p>
        </p:txBody>
      </p:sp>
      <p:sp>
        <p:nvSpPr>
          <p:cNvPr id="209" name="Google Shape;209;p20"/>
          <p:cNvSpPr txBox="1"/>
          <p:nvPr/>
        </p:nvSpPr>
        <p:spPr>
          <a:xfrm>
            <a:off x="6361033" y="2871787"/>
            <a:ext cx="5270658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Flows</a:t>
            </a:r>
            <a:endParaRPr/>
          </a:p>
        </p:txBody>
      </p:sp>
      <p:sp>
        <p:nvSpPr>
          <p:cNvPr id="210" name="Google Shape;210;p20"/>
          <p:cNvSpPr txBox="1"/>
          <p:nvPr/>
        </p:nvSpPr>
        <p:spPr>
          <a:xfrm>
            <a:off x="6486525" y="3414712"/>
            <a:ext cx="50196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Chained, modular steps.</a:t>
            </a:r>
            <a:endParaRPr/>
          </a:p>
        </p:txBody>
      </p:sp>
      <p:sp>
        <p:nvSpPr>
          <p:cNvPr id="211" name="Google Shape;211;p20"/>
          <p:cNvSpPr txBox="1"/>
          <p:nvPr/>
        </p:nvSpPr>
        <p:spPr>
          <a:xfrm>
            <a:off x="6486525" y="3938587"/>
            <a:ext cx="50196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Pros:</a:t>
            </a: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 Robust, testable, observable.</a:t>
            </a:r>
            <a:endParaRPr/>
          </a:p>
        </p:txBody>
      </p:sp>
      <p:sp>
        <p:nvSpPr>
          <p:cNvPr id="212" name="Google Shape;212;p20"/>
          <p:cNvSpPr txBox="1"/>
          <p:nvPr/>
        </p:nvSpPr>
        <p:spPr>
          <a:xfrm>
            <a:off x="6486525" y="4462462"/>
            <a:ext cx="50196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Cons:</a:t>
            </a: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 More code to maintain.</a:t>
            </a:r>
            <a:endParaRPr/>
          </a:p>
        </p:txBody>
      </p:sp>
      <p:sp>
        <p:nvSpPr>
          <p:cNvPr id="213" name="Google Shape;213;p20"/>
          <p:cNvSpPr txBox="1"/>
          <p:nvPr/>
        </p:nvSpPr>
        <p:spPr>
          <a:xfrm>
            <a:off x="485775" y="485775"/>
            <a:ext cx="117062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Prompt vs. Flow Engineering</a:t>
            </a:r>
            <a:endParaRPr/>
          </a:p>
        </p:txBody>
      </p:sp>
      <p:sp>
        <p:nvSpPr>
          <p:cNvPr id="214" name="Google Shape;214;p20"/>
          <p:cNvSpPr/>
          <p:nvPr/>
        </p:nvSpPr>
        <p:spPr>
          <a:xfrm>
            <a:off x="485775" y="1114425"/>
            <a:ext cx="112204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314450"/>
            <a:ext cx="5419725" cy="5057775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1"/>
          <p:cNvSpPr txBox="1"/>
          <p:nvPr/>
        </p:nvSpPr>
        <p:spPr>
          <a:xfrm>
            <a:off x="485775" y="1485900"/>
            <a:ext cx="54197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We visualize agent logic as a graph.</a:t>
            </a:r>
            <a:endParaRPr/>
          </a:p>
        </p:txBody>
      </p:sp>
      <p:pic>
        <p:nvPicPr>
          <p:cNvPr id="222" name="Google Shape;222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96025" y="1323975"/>
            <a:ext cx="5400675" cy="5038725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1"/>
          <p:cNvSpPr txBox="1"/>
          <p:nvPr/>
        </p:nvSpPr>
        <p:spPr>
          <a:xfrm>
            <a:off x="838200" y="1895475"/>
            <a:ext cx="285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24" name="Google Shape;224;p21"/>
          <p:cNvSpPr txBox="1"/>
          <p:nvPr/>
        </p:nvSpPr>
        <p:spPr>
          <a:xfrm>
            <a:off x="866775" y="1895475"/>
            <a:ext cx="50387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Nodes:</a:t>
            </a: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 Agents or Tools (Do work).</a:t>
            </a:r>
            <a:endParaRPr/>
          </a:p>
        </p:txBody>
      </p:sp>
      <p:sp>
        <p:nvSpPr>
          <p:cNvPr id="225" name="Google Shape;225;p21"/>
          <p:cNvSpPr txBox="1"/>
          <p:nvPr/>
        </p:nvSpPr>
        <p:spPr>
          <a:xfrm>
            <a:off x="838200" y="2247900"/>
            <a:ext cx="285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26" name="Google Shape;226;p21"/>
          <p:cNvSpPr txBox="1"/>
          <p:nvPr/>
        </p:nvSpPr>
        <p:spPr>
          <a:xfrm>
            <a:off x="866775" y="2247900"/>
            <a:ext cx="50387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Edges:</a:t>
            </a: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 Logic or Data (Pass state).</a:t>
            </a:r>
            <a:endParaRPr/>
          </a:p>
        </p:txBody>
      </p:sp>
      <p:sp>
        <p:nvSpPr>
          <p:cNvPr id="227" name="Google Shape;227;p21"/>
          <p:cNvSpPr txBox="1"/>
          <p:nvPr/>
        </p:nvSpPr>
        <p:spPr>
          <a:xfrm>
            <a:off x="838200" y="2600325"/>
            <a:ext cx="285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28" name="Google Shape;228;p21"/>
          <p:cNvSpPr txBox="1"/>
          <p:nvPr/>
        </p:nvSpPr>
        <p:spPr>
          <a:xfrm>
            <a:off x="866775" y="2600325"/>
            <a:ext cx="50387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Conditional Edges:</a:t>
            </a: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 If/Else routing.</a:t>
            </a:r>
            <a:endParaRPr/>
          </a:p>
        </p:txBody>
      </p:sp>
      <p:sp>
        <p:nvSpPr>
          <p:cNvPr id="229" name="Google Shape;229;p21"/>
          <p:cNvSpPr txBox="1"/>
          <p:nvPr/>
        </p:nvSpPr>
        <p:spPr>
          <a:xfrm>
            <a:off x="485775" y="485775"/>
            <a:ext cx="117062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The Directed Acyclic Graph (DAG)</a:t>
            </a:r>
            <a:endParaRPr/>
          </a:p>
        </p:txBody>
      </p:sp>
      <p:sp>
        <p:nvSpPr>
          <p:cNvPr id="230" name="Google Shape;230;p21"/>
          <p:cNvSpPr/>
          <p:nvPr/>
        </p:nvSpPr>
        <p:spPr>
          <a:xfrm>
            <a:off x="485775" y="1114425"/>
            <a:ext cx="112204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314450"/>
            <a:ext cx="5419725" cy="1162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85775" y="1314450"/>
            <a:ext cx="1000125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6"/>
          <p:cNvSpPr txBox="1"/>
          <p:nvPr/>
        </p:nvSpPr>
        <p:spPr>
          <a:xfrm>
            <a:off x="485775" y="1666875"/>
            <a:ext cx="5690711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The Chain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485775" y="2114550"/>
            <a:ext cx="541972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Breaking a complex task into a linear sequence of steps where the output of one step becomes the input of the next.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485775" y="3076575"/>
            <a:ext cx="541972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Use Case:</a:t>
            </a: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 Tasks with strict dependencies (e.g., Generate SQL -&gt; Execute SQL -&gt; Summarize Result).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485775" y="485775"/>
            <a:ext cx="117062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AWS Pattern 1: Prompt Chaining</a:t>
            </a:r>
            <a:endParaRPr/>
          </a:p>
        </p:txBody>
      </p:sp>
      <p:sp>
        <p:nvSpPr>
          <p:cNvPr id="142" name="Google Shape;142;p16"/>
          <p:cNvSpPr/>
          <p:nvPr/>
        </p:nvSpPr>
        <p:spPr>
          <a:xfrm>
            <a:off x="485775" y="1114425"/>
            <a:ext cx="112204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314450"/>
            <a:ext cx="5419725" cy="5057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85775" y="1314450"/>
            <a:ext cx="1419225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7"/>
          <p:cNvSpPr txBox="1"/>
          <p:nvPr/>
        </p:nvSpPr>
        <p:spPr>
          <a:xfrm>
            <a:off x="485775" y="1666875"/>
            <a:ext cx="5690711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Intent Classification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485775" y="2114550"/>
            <a:ext cx="541972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Using a "Gateway" LLM to analyze the user's intent and route the request to a specialized downstream agent or workflow.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485775" y="3076575"/>
            <a:ext cx="541972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Use Case:</a:t>
            </a: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 Customer support (Billing vs. Tech Support), versatile assistants.</a:t>
            </a:r>
            <a:endParaRPr/>
          </a:p>
        </p:txBody>
      </p:sp>
      <p:pic>
        <p:nvPicPr>
          <p:cNvPr id="153" name="Google Shape;153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710612" y="3286125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7"/>
          <p:cNvSpPr txBox="1"/>
          <p:nvPr/>
        </p:nvSpPr>
        <p:spPr>
          <a:xfrm>
            <a:off x="8024812" y="4048125"/>
            <a:ext cx="19431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Input -&gt; Router -&gt; [A, B, C]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485775" y="485775"/>
            <a:ext cx="117062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AWS Pattern 2: Routing</a:t>
            </a:r>
            <a:endParaRPr/>
          </a:p>
        </p:txBody>
      </p:sp>
      <p:sp>
        <p:nvSpPr>
          <p:cNvPr id="156" name="Google Shape;156;p17"/>
          <p:cNvSpPr/>
          <p:nvPr/>
        </p:nvSpPr>
        <p:spPr>
          <a:xfrm>
            <a:off x="485775" y="1114425"/>
            <a:ext cx="112204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314450"/>
            <a:ext cx="5419725" cy="1114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85775" y="1314450"/>
            <a:ext cx="1343025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8"/>
          <p:cNvSpPr txBox="1"/>
          <p:nvPr/>
        </p:nvSpPr>
        <p:spPr>
          <a:xfrm>
            <a:off x="485775" y="1666875"/>
            <a:ext cx="5690711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Concurrent Execution</a:t>
            </a:r>
            <a:endParaRPr/>
          </a:p>
        </p:txBody>
      </p:sp>
      <p:sp>
        <p:nvSpPr>
          <p:cNvPr id="165" name="Google Shape;165;p18"/>
          <p:cNvSpPr txBox="1"/>
          <p:nvPr/>
        </p:nvSpPr>
        <p:spPr>
          <a:xfrm>
            <a:off x="485775" y="2114550"/>
            <a:ext cx="541972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Running multiple independent tasks simultaneously and aggregating the results.</a:t>
            </a:r>
            <a:endParaRPr/>
          </a:p>
        </p:txBody>
      </p:sp>
      <p:sp>
        <p:nvSpPr>
          <p:cNvPr id="166" name="Google Shape;166;p18"/>
          <p:cNvSpPr txBox="1"/>
          <p:nvPr/>
        </p:nvSpPr>
        <p:spPr>
          <a:xfrm>
            <a:off x="838200" y="3057525"/>
            <a:ext cx="285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866775" y="3057525"/>
            <a:ext cx="50387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Sectioning:</a:t>
            </a: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 Working on different parts of a doc at once.</a:t>
            </a:r>
            <a:endParaRPr/>
          </a:p>
        </p:txBody>
      </p:sp>
      <p:sp>
        <p:nvSpPr>
          <p:cNvPr id="168" name="Google Shape;168;p18"/>
          <p:cNvSpPr txBox="1"/>
          <p:nvPr/>
        </p:nvSpPr>
        <p:spPr>
          <a:xfrm>
            <a:off x="838200" y="3409950"/>
            <a:ext cx="285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866775" y="3409950"/>
            <a:ext cx="503872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Voting:</a:t>
            </a: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 Running the same prompt 3 times to check for consensus (Self-Consistency).</a:t>
            </a:r>
            <a:endParaRPr/>
          </a:p>
        </p:txBody>
      </p:sp>
      <p:sp>
        <p:nvSpPr>
          <p:cNvPr id="170" name="Google Shape;170;p18"/>
          <p:cNvSpPr txBox="1"/>
          <p:nvPr/>
        </p:nvSpPr>
        <p:spPr>
          <a:xfrm>
            <a:off x="485775" y="485775"/>
            <a:ext cx="117062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AWS Pattern 3: Parallelization</a:t>
            </a:r>
            <a:endParaRPr/>
          </a:p>
        </p:txBody>
      </p:sp>
      <p:sp>
        <p:nvSpPr>
          <p:cNvPr id="171" name="Google Shape;171;p18"/>
          <p:cNvSpPr/>
          <p:nvPr/>
        </p:nvSpPr>
        <p:spPr>
          <a:xfrm>
            <a:off x="485775" y="1114425"/>
            <a:ext cx="112204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Google Shape;176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314450"/>
            <a:ext cx="5419725" cy="5057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85775" y="1314450"/>
            <a:ext cx="165735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9"/>
          <p:cNvSpPr txBox="1"/>
          <p:nvPr/>
        </p:nvSpPr>
        <p:spPr>
          <a:xfrm>
            <a:off x="485775" y="1666875"/>
            <a:ext cx="5690711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Central Coordinator</a:t>
            </a:r>
            <a:endParaRPr/>
          </a:p>
        </p:txBody>
      </p:sp>
      <p:sp>
        <p:nvSpPr>
          <p:cNvPr id="180" name="Google Shape;180;p19"/>
          <p:cNvSpPr txBox="1"/>
          <p:nvPr/>
        </p:nvSpPr>
        <p:spPr>
          <a:xfrm>
            <a:off x="485775" y="2114550"/>
            <a:ext cx="541972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A "Brain" agent breaks down a goal into tasks, assigns them to "Worker" agents, and tracks progress dynamically.</a:t>
            </a:r>
            <a:endParaRPr/>
          </a:p>
        </p:txBody>
      </p:sp>
      <p:sp>
        <p:nvSpPr>
          <p:cNvPr id="181" name="Google Shape;181;p19"/>
          <p:cNvSpPr txBox="1"/>
          <p:nvPr/>
        </p:nvSpPr>
        <p:spPr>
          <a:xfrm>
            <a:off x="485775" y="3076575"/>
            <a:ext cx="541972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Use Case:</a:t>
            </a: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 Unpredictable, complex tasks where sub-tasks are not known in advance (e.g., Coding a feature).</a:t>
            </a:r>
            <a:endParaRPr/>
          </a:p>
        </p:txBody>
      </p:sp>
      <p:pic>
        <p:nvPicPr>
          <p:cNvPr id="182" name="Google Shape;182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567737" y="3462337"/>
            <a:ext cx="85725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9"/>
          <p:cNvSpPr txBox="1"/>
          <p:nvPr/>
        </p:nvSpPr>
        <p:spPr>
          <a:xfrm>
            <a:off x="485775" y="485775"/>
            <a:ext cx="117062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AWS Pattern 4: Orchestrator-Workers</a:t>
            </a:r>
            <a:endParaRPr/>
          </a:p>
        </p:txBody>
      </p:sp>
      <p:sp>
        <p:nvSpPr>
          <p:cNvPr id="184" name="Google Shape;184;p19"/>
          <p:cNvSpPr/>
          <p:nvPr/>
        </p:nvSpPr>
        <p:spPr>
          <a:xfrm>
            <a:off x="485775" y="1114425"/>
            <a:ext cx="112204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314450"/>
            <a:ext cx="5419725" cy="1114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85775" y="1314450"/>
            <a:ext cx="158115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0"/>
          <p:cNvSpPr txBox="1"/>
          <p:nvPr/>
        </p:nvSpPr>
        <p:spPr>
          <a:xfrm>
            <a:off x="485775" y="1666875"/>
            <a:ext cx="5690711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Quality Assurance</a:t>
            </a:r>
            <a:endParaRPr/>
          </a:p>
        </p:txBody>
      </p:sp>
      <p:sp>
        <p:nvSpPr>
          <p:cNvPr id="193" name="Google Shape;193;p20"/>
          <p:cNvSpPr txBox="1"/>
          <p:nvPr/>
        </p:nvSpPr>
        <p:spPr>
          <a:xfrm>
            <a:off x="485775" y="2114550"/>
            <a:ext cx="541972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Generating an output (Draft) and then having a separate agent (Critic) evaluate it. If it fails, the Generator retries.</a:t>
            </a:r>
            <a:endParaRPr/>
          </a:p>
        </p:txBody>
      </p:sp>
      <p:sp>
        <p:nvSpPr>
          <p:cNvPr id="194" name="Google Shape;194;p20"/>
          <p:cNvSpPr txBox="1"/>
          <p:nvPr/>
        </p:nvSpPr>
        <p:spPr>
          <a:xfrm>
            <a:off x="485775" y="3076575"/>
            <a:ext cx="54197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Use Case:</a:t>
            </a: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 High-stakes content generation, Code generation, Translation.</a:t>
            </a:r>
            <a:endParaRPr/>
          </a:p>
        </p:txBody>
      </p:sp>
      <p:sp>
        <p:nvSpPr>
          <p:cNvPr id="195" name="Google Shape;195;p20"/>
          <p:cNvSpPr txBox="1"/>
          <p:nvPr/>
        </p:nvSpPr>
        <p:spPr>
          <a:xfrm>
            <a:off x="485775" y="485775"/>
            <a:ext cx="117062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AWS Pattern 5: Evaluator-Optimizer</a:t>
            </a:r>
            <a:endParaRPr/>
          </a:p>
        </p:txBody>
      </p:sp>
      <p:sp>
        <p:nvSpPr>
          <p:cNvPr id="196" name="Google Shape;196;p20"/>
          <p:cNvSpPr/>
          <p:nvPr/>
        </p:nvSpPr>
        <p:spPr>
          <a:xfrm>
            <a:off x="485775" y="1114425"/>
            <a:ext cx="112204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5775" y="2481262"/>
            <a:ext cx="112204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2"/>
          <p:cNvSpPr txBox="1"/>
          <p:nvPr/>
        </p:nvSpPr>
        <p:spPr>
          <a:xfrm>
            <a:off x="485775" y="1395412"/>
            <a:ext cx="1170622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Decomposition Strategy</a:t>
            </a:r>
            <a:endParaRPr/>
          </a:p>
        </p:txBody>
      </p:sp>
      <p:sp>
        <p:nvSpPr>
          <p:cNvPr id="238" name="Google Shape;238;p22"/>
          <p:cNvSpPr txBox="1"/>
          <p:nvPr/>
        </p:nvSpPr>
        <p:spPr>
          <a:xfrm>
            <a:off x="485775" y="1938337"/>
            <a:ext cx="112204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Complex tasks overwhelm LLMs. Planning forces them to break it down </a:t>
            </a:r>
            <a:r>
              <a:rPr lang="en-US" sz="1350" b="1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before</a:t>
            </a: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 execution.</a:t>
            </a:r>
            <a:endParaRPr/>
          </a:p>
        </p:txBody>
      </p:sp>
      <p:pic>
        <p:nvPicPr>
          <p:cNvPr id="239" name="Google Shape;239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95300" y="2490787"/>
            <a:ext cx="112014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2"/>
          <p:cNvSpPr txBox="1"/>
          <p:nvPr/>
        </p:nvSpPr>
        <p:spPr>
          <a:xfrm>
            <a:off x="485775" y="485775"/>
            <a:ext cx="117062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Pattern 1: The Planning Pattern</a:t>
            </a:r>
            <a:endParaRPr/>
          </a:p>
        </p:txBody>
      </p:sp>
      <p:sp>
        <p:nvSpPr>
          <p:cNvPr id="241" name="Google Shape;241;p22"/>
          <p:cNvSpPr/>
          <p:nvPr/>
        </p:nvSpPr>
        <p:spPr>
          <a:xfrm>
            <a:off x="485775" y="1114425"/>
            <a:ext cx="112204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6" name="Google Shape;246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3"/>
          <p:cNvSpPr txBox="1"/>
          <p:nvPr/>
        </p:nvSpPr>
        <p:spPr>
          <a:xfrm>
            <a:off x="485775" y="1314450"/>
            <a:ext cx="5690711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Sequential</a:t>
            </a:r>
            <a:endParaRPr/>
          </a:p>
        </p:txBody>
      </p:sp>
      <p:sp>
        <p:nvSpPr>
          <p:cNvPr id="248" name="Google Shape;248;p23"/>
          <p:cNvSpPr txBox="1"/>
          <p:nvPr/>
        </p:nvSpPr>
        <p:spPr>
          <a:xfrm>
            <a:off x="485775" y="1762125"/>
            <a:ext cx="54197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Step 1 -&gt; Step 2 -&gt; Step 3</a:t>
            </a:r>
            <a:endParaRPr/>
          </a:p>
        </p:txBody>
      </p:sp>
      <p:sp>
        <p:nvSpPr>
          <p:cNvPr id="249" name="Google Shape;249;p23"/>
          <p:cNvSpPr txBox="1"/>
          <p:nvPr/>
        </p:nvSpPr>
        <p:spPr>
          <a:xfrm>
            <a:off x="485775" y="2190750"/>
            <a:ext cx="54197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Use when Step 2 </a:t>
            </a:r>
            <a:r>
              <a:rPr lang="en-US" sz="1350" b="0" i="1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depends</a:t>
            </a: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 on Step 1's output.</a:t>
            </a:r>
            <a:endParaRPr/>
          </a:p>
        </p:txBody>
      </p:sp>
      <p:sp>
        <p:nvSpPr>
          <p:cNvPr id="250" name="Google Shape;250;p23"/>
          <p:cNvSpPr txBox="1"/>
          <p:nvPr/>
        </p:nvSpPr>
        <p:spPr>
          <a:xfrm>
            <a:off x="485775" y="2619375"/>
            <a:ext cx="54197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888888"/>
                </a:solidFill>
                <a:latin typeface="Urbanist"/>
                <a:ea typeface="Urbanist"/>
                <a:cs typeface="Urbanist"/>
                <a:sym typeface="Urbanist"/>
              </a:rPr>
              <a:t>Ex: Write code -&gt; Run code.</a:t>
            </a:r>
            <a:endParaRPr/>
          </a:p>
        </p:txBody>
      </p:sp>
      <p:sp>
        <p:nvSpPr>
          <p:cNvPr id="251" name="Google Shape;251;p23"/>
          <p:cNvSpPr txBox="1"/>
          <p:nvPr/>
        </p:nvSpPr>
        <p:spPr>
          <a:xfrm>
            <a:off x="6286500" y="1314450"/>
            <a:ext cx="5690711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Parallel</a:t>
            </a:r>
            <a:endParaRPr/>
          </a:p>
        </p:txBody>
      </p:sp>
      <p:sp>
        <p:nvSpPr>
          <p:cNvPr id="252" name="Google Shape;252;p23"/>
          <p:cNvSpPr txBox="1"/>
          <p:nvPr/>
        </p:nvSpPr>
        <p:spPr>
          <a:xfrm>
            <a:off x="6286500" y="1762125"/>
            <a:ext cx="54197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Step 1 &amp; Step 2 run together -&gt; Aggregation</a:t>
            </a:r>
            <a:endParaRPr/>
          </a:p>
        </p:txBody>
      </p:sp>
      <p:sp>
        <p:nvSpPr>
          <p:cNvPr id="253" name="Google Shape;253;p23"/>
          <p:cNvSpPr txBox="1"/>
          <p:nvPr/>
        </p:nvSpPr>
        <p:spPr>
          <a:xfrm>
            <a:off x="6286500" y="2190750"/>
            <a:ext cx="54197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Use when tasks are independent.</a:t>
            </a:r>
            <a:endParaRPr/>
          </a:p>
        </p:txBody>
      </p:sp>
      <p:sp>
        <p:nvSpPr>
          <p:cNvPr id="254" name="Google Shape;254;p23"/>
          <p:cNvSpPr txBox="1"/>
          <p:nvPr/>
        </p:nvSpPr>
        <p:spPr>
          <a:xfrm>
            <a:off x="6286500" y="2619375"/>
            <a:ext cx="54197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888888"/>
                </a:solidFill>
                <a:latin typeface="Urbanist"/>
                <a:ea typeface="Urbanist"/>
                <a:cs typeface="Urbanist"/>
                <a:sym typeface="Urbanist"/>
              </a:rPr>
              <a:t>Ex: Search Google for 'Apple' AND 'Microsoft' prices.</a:t>
            </a:r>
            <a:endParaRPr/>
          </a:p>
        </p:txBody>
      </p:sp>
      <p:sp>
        <p:nvSpPr>
          <p:cNvPr id="255" name="Google Shape;255;p23"/>
          <p:cNvSpPr txBox="1"/>
          <p:nvPr/>
        </p:nvSpPr>
        <p:spPr>
          <a:xfrm>
            <a:off x="485775" y="485775"/>
            <a:ext cx="117062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Planning Types</a:t>
            </a:r>
            <a:endParaRPr/>
          </a:p>
        </p:txBody>
      </p:sp>
      <p:sp>
        <p:nvSpPr>
          <p:cNvPr id="256" name="Google Shape;256;p23"/>
          <p:cNvSpPr/>
          <p:nvPr/>
        </p:nvSpPr>
        <p:spPr>
          <a:xfrm>
            <a:off x="485775" y="1114425"/>
            <a:ext cx="112204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" name="Google Shape;261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5775" y="3652837"/>
            <a:ext cx="1122045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24"/>
          <p:cNvSpPr txBox="1"/>
          <p:nvPr/>
        </p:nvSpPr>
        <p:spPr>
          <a:xfrm>
            <a:off x="485775" y="3109912"/>
            <a:ext cx="112204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Goal:</a:t>
            </a: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 "Plan a 3-day trip to Tokyo with a $2000 budget."</a:t>
            </a:r>
            <a:endParaRPr/>
          </a:p>
        </p:txBody>
      </p:sp>
      <p:sp>
        <p:nvSpPr>
          <p:cNvPr id="264" name="Google Shape;264;p24"/>
          <p:cNvSpPr txBox="1"/>
          <p:nvPr/>
        </p:nvSpPr>
        <p:spPr>
          <a:xfrm>
            <a:off x="485775" y="485775"/>
            <a:ext cx="117062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Use Case 1: The Travel Planner</a:t>
            </a:r>
            <a:endParaRPr/>
          </a:p>
        </p:txBody>
      </p:sp>
      <p:sp>
        <p:nvSpPr>
          <p:cNvPr id="265" name="Google Shape;265;p24"/>
          <p:cNvSpPr/>
          <p:nvPr/>
        </p:nvSpPr>
        <p:spPr>
          <a:xfrm>
            <a:off x="485775" y="1114425"/>
            <a:ext cx="112204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0" name="Google Shape;270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314450"/>
            <a:ext cx="5419725" cy="127635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5"/>
          <p:cNvSpPr txBox="1"/>
          <p:nvPr/>
        </p:nvSpPr>
        <p:spPr>
          <a:xfrm>
            <a:off x="485775" y="1485900"/>
            <a:ext cx="54197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We use a Python `TypedDict` or `Pydantic` model to enforce structure.</a:t>
            </a:r>
            <a:endParaRPr/>
          </a:p>
        </p:txBody>
      </p:sp>
      <p:sp>
        <p:nvSpPr>
          <p:cNvPr id="273" name="Google Shape;273;p25"/>
          <p:cNvSpPr txBox="1"/>
          <p:nvPr/>
        </p:nvSpPr>
        <p:spPr>
          <a:xfrm>
            <a:off x="485775" y="485775"/>
            <a:ext cx="117062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Code: Defining the State</a:t>
            </a:r>
            <a:endParaRPr/>
          </a:p>
        </p:txBody>
      </p:sp>
      <p:sp>
        <p:nvSpPr>
          <p:cNvPr id="274" name="Google Shape;274;p25"/>
          <p:cNvSpPr/>
          <p:nvPr/>
        </p:nvSpPr>
        <p:spPr>
          <a:xfrm>
            <a:off x="485775" y="1114425"/>
            <a:ext cx="112204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9" name="Google Shape;279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5775" y="3214687"/>
            <a:ext cx="11220450" cy="1114425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26"/>
          <p:cNvSpPr txBox="1"/>
          <p:nvPr/>
        </p:nvSpPr>
        <p:spPr>
          <a:xfrm>
            <a:off x="485775" y="485775"/>
            <a:ext cx="117062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Code: The Planner Agent</a:t>
            </a:r>
            <a:endParaRPr/>
          </a:p>
        </p:txBody>
      </p:sp>
      <p:sp>
        <p:nvSpPr>
          <p:cNvPr id="282" name="Google Shape;282;p26"/>
          <p:cNvSpPr/>
          <p:nvPr/>
        </p:nvSpPr>
        <p:spPr>
          <a:xfrm>
            <a:off x="485775" y="1114425"/>
            <a:ext cx="112204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" name="Google Shape;287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5775" y="3214687"/>
            <a:ext cx="11220450" cy="1114425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7"/>
          <p:cNvSpPr txBox="1"/>
          <p:nvPr/>
        </p:nvSpPr>
        <p:spPr>
          <a:xfrm>
            <a:off x="485775" y="485775"/>
            <a:ext cx="117062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Code: The Execution Loop</a:t>
            </a:r>
            <a:endParaRPr/>
          </a:p>
        </p:txBody>
      </p:sp>
      <p:sp>
        <p:nvSpPr>
          <p:cNvPr id="290" name="Google Shape;290;p27"/>
          <p:cNvSpPr/>
          <p:nvPr/>
        </p:nvSpPr>
        <p:spPr>
          <a:xfrm>
            <a:off x="485775" y="1114425"/>
            <a:ext cx="112204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5" name="Google Shape;295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2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314450"/>
            <a:ext cx="5419725" cy="5057775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28"/>
          <p:cNvSpPr txBox="1"/>
          <p:nvPr/>
        </p:nvSpPr>
        <p:spPr>
          <a:xfrm>
            <a:off x="485775" y="1314450"/>
            <a:ext cx="5690711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System 1 vs. System 2</a:t>
            </a:r>
            <a:endParaRPr/>
          </a:p>
        </p:txBody>
      </p:sp>
      <p:sp>
        <p:nvSpPr>
          <p:cNvPr id="298" name="Google Shape;298;p28"/>
          <p:cNvSpPr txBox="1"/>
          <p:nvPr/>
        </p:nvSpPr>
        <p:spPr>
          <a:xfrm>
            <a:off x="485775" y="1762125"/>
            <a:ext cx="54197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LLMs default to System 1 (Fast, Intuitive, Error-prone).</a:t>
            </a:r>
            <a:endParaRPr/>
          </a:p>
        </p:txBody>
      </p:sp>
      <p:sp>
        <p:nvSpPr>
          <p:cNvPr id="299" name="Google Shape;299;p28"/>
          <p:cNvSpPr txBox="1"/>
          <p:nvPr/>
        </p:nvSpPr>
        <p:spPr>
          <a:xfrm>
            <a:off x="485775" y="2190750"/>
            <a:ext cx="54197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Reflection forces System 2 (Slow, Deliberate, Critical).</a:t>
            </a:r>
            <a:endParaRPr/>
          </a:p>
        </p:txBody>
      </p:sp>
      <p:pic>
        <p:nvPicPr>
          <p:cNvPr id="300" name="Google Shape;300;p2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96025" y="1323975"/>
            <a:ext cx="5400675" cy="5038725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28"/>
          <p:cNvSpPr txBox="1"/>
          <p:nvPr/>
        </p:nvSpPr>
        <p:spPr>
          <a:xfrm>
            <a:off x="485775" y="485775"/>
            <a:ext cx="117062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Pattern 2: Reflection &amp; Self-Correction</a:t>
            </a:r>
            <a:endParaRPr/>
          </a:p>
        </p:txBody>
      </p:sp>
      <p:sp>
        <p:nvSpPr>
          <p:cNvPr id="302" name="Google Shape;302;p28"/>
          <p:cNvSpPr/>
          <p:nvPr/>
        </p:nvSpPr>
        <p:spPr>
          <a:xfrm>
            <a:off x="485775" y="1114425"/>
            <a:ext cx="112204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" name="Google Shape;307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2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5775" y="3067050"/>
            <a:ext cx="3613100" cy="1552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2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89375" y="3067050"/>
            <a:ext cx="3613100" cy="1552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2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92975" y="3067050"/>
            <a:ext cx="3613249" cy="1552575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29"/>
          <p:cNvSpPr txBox="1"/>
          <p:nvPr/>
        </p:nvSpPr>
        <p:spPr>
          <a:xfrm>
            <a:off x="605473" y="3267075"/>
            <a:ext cx="337370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Hallucination</a:t>
            </a:r>
            <a:endParaRPr/>
          </a:p>
        </p:txBody>
      </p:sp>
      <p:sp>
        <p:nvSpPr>
          <p:cNvPr id="312" name="Google Shape;312;p29"/>
          <p:cNvSpPr txBox="1"/>
          <p:nvPr/>
        </p:nvSpPr>
        <p:spPr>
          <a:xfrm>
            <a:off x="685800" y="3810000"/>
            <a:ext cx="32130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They make things up. Critiquing catches logical fallacies.</a:t>
            </a:r>
            <a:endParaRPr/>
          </a:p>
        </p:txBody>
      </p:sp>
      <p:sp>
        <p:nvSpPr>
          <p:cNvPr id="313" name="Google Shape;313;p29"/>
          <p:cNvSpPr txBox="1"/>
          <p:nvPr/>
        </p:nvSpPr>
        <p:spPr>
          <a:xfrm>
            <a:off x="4409074" y="3267075"/>
            <a:ext cx="337370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Code Bugs</a:t>
            </a:r>
            <a:endParaRPr/>
          </a:p>
        </p:txBody>
      </p:sp>
      <p:sp>
        <p:nvSpPr>
          <p:cNvPr id="314" name="Google Shape;314;p29"/>
          <p:cNvSpPr txBox="1"/>
          <p:nvPr/>
        </p:nvSpPr>
        <p:spPr>
          <a:xfrm>
            <a:off x="4489400" y="3810000"/>
            <a:ext cx="32130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Generated code often has syntax errors. A "Compiler" check can catch this.</a:t>
            </a:r>
            <a:endParaRPr/>
          </a:p>
        </p:txBody>
      </p:sp>
      <p:sp>
        <p:nvSpPr>
          <p:cNvPr id="315" name="Google Shape;315;p29"/>
          <p:cNvSpPr txBox="1"/>
          <p:nvPr/>
        </p:nvSpPr>
        <p:spPr>
          <a:xfrm>
            <a:off x="8212670" y="3267075"/>
            <a:ext cx="3373859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Safety</a:t>
            </a:r>
            <a:endParaRPr/>
          </a:p>
        </p:txBody>
      </p:sp>
      <p:sp>
        <p:nvSpPr>
          <p:cNvPr id="316" name="Google Shape;316;p29"/>
          <p:cNvSpPr txBox="1"/>
          <p:nvPr/>
        </p:nvSpPr>
        <p:spPr>
          <a:xfrm>
            <a:off x="8293000" y="3810000"/>
            <a:ext cx="3213199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Ensuring output aligns with policy (e.g., PII removal).</a:t>
            </a:r>
            <a:endParaRPr/>
          </a:p>
        </p:txBody>
      </p:sp>
      <p:sp>
        <p:nvSpPr>
          <p:cNvPr id="317" name="Google Shape;317;p29"/>
          <p:cNvSpPr txBox="1"/>
          <p:nvPr/>
        </p:nvSpPr>
        <p:spPr>
          <a:xfrm>
            <a:off x="485775" y="485775"/>
            <a:ext cx="117062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Why do LLMs need Reflection?</a:t>
            </a:r>
            <a:endParaRPr/>
          </a:p>
        </p:txBody>
      </p:sp>
      <p:sp>
        <p:nvSpPr>
          <p:cNvPr id="318" name="Google Shape;318;p29"/>
          <p:cNvSpPr/>
          <p:nvPr/>
        </p:nvSpPr>
        <p:spPr>
          <a:xfrm>
            <a:off x="485775" y="1114425"/>
            <a:ext cx="112204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3" name="Google Shape;323;p3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3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5775" y="3652837"/>
            <a:ext cx="1122045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30"/>
          <p:cNvSpPr txBox="1"/>
          <p:nvPr/>
        </p:nvSpPr>
        <p:spPr>
          <a:xfrm>
            <a:off x="485775" y="3109912"/>
            <a:ext cx="112204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Reflexion = Generator + Verbal Reinforcement</a:t>
            </a:r>
            <a:endParaRPr/>
          </a:p>
        </p:txBody>
      </p:sp>
      <p:sp>
        <p:nvSpPr>
          <p:cNvPr id="326" name="Google Shape;326;p30"/>
          <p:cNvSpPr txBox="1"/>
          <p:nvPr/>
        </p:nvSpPr>
        <p:spPr>
          <a:xfrm>
            <a:off x="485775" y="485775"/>
            <a:ext cx="117062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The "Reflexion" Framework</a:t>
            </a:r>
            <a:endParaRPr/>
          </a:p>
        </p:txBody>
      </p:sp>
      <p:sp>
        <p:nvSpPr>
          <p:cNvPr id="327" name="Google Shape;327;p30"/>
          <p:cNvSpPr/>
          <p:nvPr/>
        </p:nvSpPr>
        <p:spPr>
          <a:xfrm>
            <a:off x="485775" y="1114425"/>
            <a:ext cx="112204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p3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3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5775" y="2552700"/>
            <a:ext cx="5419725" cy="3819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4" name="Google Shape;334;p3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2552700"/>
            <a:ext cx="5419725" cy="3819525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31"/>
          <p:cNvSpPr txBox="1"/>
          <p:nvPr/>
        </p:nvSpPr>
        <p:spPr>
          <a:xfrm>
            <a:off x="485775" y="1485900"/>
            <a:ext cx="112204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Goal:</a:t>
            </a: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 "Write a Python script to scrape a website."</a:t>
            </a:r>
            <a:endParaRPr/>
          </a:p>
        </p:txBody>
      </p:sp>
      <p:sp>
        <p:nvSpPr>
          <p:cNvPr id="336" name="Google Shape;336;p31"/>
          <p:cNvSpPr txBox="1"/>
          <p:nvPr/>
        </p:nvSpPr>
        <p:spPr>
          <a:xfrm>
            <a:off x="485775" y="2009775"/>
            <a:ext cx="112204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Process:</a:t>
            </a: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 The agent will draft code, try to run it, see the error, and fix it itself.</a:t>
            </a:r>
            <a:endParaRPr/>
          </a:p>
        </p:txBody>
      </p:sp>
      <p:sp>
        <p:nvSpPr>
          <p:cNvPr id="337" name="Google Shape;337;p31"/>
          <p:cNvSpPr txBox="1"/>
          <p:nvPr/>
        </p:nvSpPr>
        <p:spPr>
          <a:xfrm>
            <a:off x="560308" y="4014787"/>
            <a:ext cx="5270658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Actor</a:t>
            </a:r>
            <a:endParaRPr/>
          </a:p>
        </p:txBody>
      </p:sp>
      <p:sp>
        <p:nvSpPr>
          <p:cNvPr id="338" name="Google Shape;338;p31"/>
          <p:cNvSpPr txBox="1"/>
          <p:nvPr/>
        </p:nvSpPr>
        <p:spPr>
          <a:xfrm>
            <a:off x="685800" y="4557712"/>
            <a:ext cx="50196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Writes the code.</a:t>
            </a:r>
            <a:endParaRPr/>
          </a:p>
        </p:txBody>
      </p:sp>
      <p:sp>
        <p:nvSpPr>
          <p:cNvPr id="339" name="Google Shape;339;p31"/>
          <p:cNvSpPr txBox="1"/>
          <p:nvPr/>
        </p:nvSpPr>
        <p:spPr>
          <a:xfrm>
            <a:off x="6361033" y="4014787"/>
            <a:ext cx="5270658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Critic</a:t>
            </a:r>
            <a:endParaRPr/>
          </a:p>
        </p:txBody>
      </p:sp>
      <p:sp>
        <p:nvSpPr>
          <p:cNvPr id="340" name="Google Shape;340;p31"/>
          <p:cNvSpPr txBox="1"/>
          <p:nvPr/>
        </p:nvSpPr>
        <p:spPr>
          <a:xfrm>
            <a:off x="6486525" y="4557712"/>
            <a:ext cx="50196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Reads the Traceback / Error Log.</a:t>
            </a:r>
            <a:endParaRPr/>
          </a:p>
        </p:txBody>
      </p:sp>
      <p:sp>
        <p:nvSpPr>
          <p:cNvPr id="341" name="Google Shape;341;p31"/>
          <p:cNvSpPr txBox="1"/>
          <p:nvPr/>
        </p:nvSpPr>
        <p:spPr>
          <a:xfrm>
            <a:off x="485775" y="485775"/>
            <a:ext cx="117062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Use Case 2: The Reflective Coder</a:t>
            </a:r>
            <a:endParaRPr/>
          </a:p>
        </p:txBody>
      </p:sp>
      <p:sp>
        <p:nvSpPr>
          <p:cNvPr id="342" name="Google Shape;342;p31"/>
          <p:cNvSpPr/>
          <p:nvPr/>
        </p:nvSpPr>
        <p:spPr>
          <a:xfrm>
            <a:off x="485775" y="1114425"/>
            <a:ext cx="112204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7" name="Google Shape;347;p3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p3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5775" y="3295650"/>
            <a:ext cx="1122045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32"/>
          <p:cNvSpPr txBox="1"/>
          <p:nvPr/>
        </p:nvSpPr>
        <p:spPr>
          <a:xfrm>
            <a:off x="485775" y="485775"/>
            <a:ext cx="117062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Code: The Generator Node</a:t>
            </a:r>
            <a:endParaRPr/>
          </a:p>
        </p:txBody>
      </p:sp>
      <p:sp>
        <p:nvSpPr>
          <p:cNvPr id="350" name="Google Shape;350;p32"/>
          <p:cNvSpPr/>
          <p:nvPr/>
        </p:nvSpPr>
        <p:spPr>
          <a:xfrm>
            <a:off x="485775" y="1114425"/>
            <a:ext cx="112204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5" name="Google Shape;355;p3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" name="Google Shape;356;p3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5775" y="3100387"/>
            <a:ext cx="1122045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33"/>
          <p:cNvSpPr txBox="1"/>
          <p:nvPr/>
        </p:nvSpPr>
        <p:spPr>
          <a:xfrm>
            <a:off x="485775" y="4291012"/>
            <a:ext cx="112204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AAAAAA"/>
                </a:solidFill>
                <a:latin typeface="Urbanist"/>
                <a:ea typeface="Urbanist"/>
                <a:cs typeface="Urbanist"/>
                <a:sym typeface="Urbanist"/>
              </a:rPr>
              <a:t>*Note: In production, send code to a secure sandbox API (e2b), not exec().</a:t>
            </a:r>
            <a:endParaRPr/>
          </a:p>
        </p:txBody>
      </p:sp>
      <p:sp>
        <p:nvSpPr>
          <p:cNvPr id="358" name="Google Shape;358;p33"/>
          <p:cNvSpPr txBox="1"/>
          <p:nvPr/>
        </p:nvSpPr>
        <p:spPr>
          <a:xfrm>
            <a:off x="485775" y="485775"/>
            <a:ext cx="117062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Code: The Critic (Validator)</a:t>
            </a:r>
            <a:endParaRPr/>
          </a:p>
        </p:txBody>
      </p:sp>
      <p:sp>
        <p:nvSpPr>
          <p:cNvPr id="359" name="Google Shape;359;p33"/>
          <p:cNvSpPr/>
          <p:nvPr/>
        </p:nvSpPr>
        <p:spPr>
          <a:xfrm>
            <a:off x="485775" y="1114425"/>
            <a:ext cx="112204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4" name="Google Shape;364;p3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5" name="Google Shape;365;p3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5775" y="3295650"/>
            <a:ext cx="1122045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4"/>
          <p:cNvSpPr txBox="1"/>
          <p:nvPr/>
        </p:nvSpPr>
        <p:spPr>
          <a:xfrm>
            <a:off x="485775" y="485775"/>
            <a:ext cx="117062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Code: The Resolver Loop</a:t>
            </a:r>
            <a:endParaRPr/>
          </a:p>
        </p:txBody>
      </p:sp>
      <p:sp>
        <p:nvSpPr>
          <p:cNvPr id="367" name="Google Shape;367;p34"/>
          <p:cNvSpPr/>
          <p:nvPr/>
        </p:nvSpPr>
        <p:spPr>
          <a:xfrm>
            <a:off x="485775" y="1114425"/>
            <a:ext cx="112204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2" name="Google Shape;372;p3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3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314450"/>
            <a:ext cx="5419725" cy="5057775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35"/>
          <p:cNvSpPr txBox="1"/>
          <p:nvPr/>
        </p:nvSpPr>
        <p:spPr>
          <a:xfrm>
            <a:off x="485775" y="1314450"/>
            <a:ext cx="5690711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The Router</a:t>
            </a:r>
            <a:endParaRPr/>
          </a:p>
        </p:txBody>
      </p:sp>
      <p:sp>
        <p:nvSpPr>
          <p:cNvPr id="375" name="Google Shape;375;p35"/>
          <p:cNvSpPr txBox="1"/>
          <p:nvPr/>
        </p:nvSpPr>
        <p:spPr>
          <a:xfrm>
            <a:off x="485775" y="1762125"/>
            <a:ext cx="54197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A specialized "Air Traffic Controller" agent.</a:t>
            </a:r>
            <a:endParaRPr/>
          </a:p>
        </p:txBody>
      </p:sp>
      <p:sp>
        <p:nvSpPr>
          <p:cNvPr id="376" name="Google Shape;376;p35"/>
          <p:cNvSpPr txBox="1"/>
          <p:nvPr/>
        </p:nvSpPr>
        <p:spPr>
          <a:xfrm>
            <a:off x="485775" y="2190750"/>
            <a:ext cx="541972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It does not solve the problem. It classifies the input and sends it to the specialist.</a:t>
            </a:r>
            <a:endParaRPr/>
          </a:p>
        </p:txBody>
      </p:sp>
      <p:pic>
        <p:nvPicPr>
          <p:cNvPr id="377" name="Google Shape;377;p3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96025" y="1323975"/>
            <a:ext cx="5400675" cy="503872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5"/>
          <p:cNvSpPr txBox="1"/>
          <p:nvPr/>
        </p:nvSpPr>
        <p:spPr>
          <a:xfrm>
            <a:off x="485775" y="485775"/>
            <a:ext cx="117062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Pattern 3: Tool Routing</a:t>
            </a:r>
            <a:endParaRPr/>
          </a:p>
        </p:txBody>
      </p:sp>
      <p:sp>
        <p:nvSpPr>
          <p:cNvPr id="379" name="Google Shape;379;p35"/>
          <p:cNvSpPr/>
          <p:nvPr/>
        </p:nvSpPr>
        <p:spPr>
          <a:xfrm>
            <a:off x="485775" y="1114425"/>
            <a:ext cx="112204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4" name="Google Shape;384;p3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5" name="Google Shape;385;p3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5775" y="3338512"/>
            <a:ext cx="3613100" cy="1724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3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289375" y="3338512"/>
            <a:ext cx="3613100" cy="1724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7" name="Google Shape;387;p3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92975" y="3338512"/>
            <a:ext cx="3613249" cy="1724025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36"/>
          <p:cNvSpPr txBox="1"/>
          <p:nvPr/>
        </p:nvSpPr>
        <p:spPr>
          <a:xfrm>
            <a:off x="485775" y="2795587"/>
            <a:ext cx="112204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Scenario:</a:t>
            </a: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 Incoming support tickets need to go to Billing, Tech Support, or General Inquiry.</a:t>
            </a:r>
            <a:endParaRPr/>
          </a:p>
        </p:txBody>
      </p:sp>
      <p:pic>
        <p:nvPicPr>
          <p:cNvPr id="389" name="Google Shape;389;p3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85800" y="3538537"/>
            <a:ext cx="32130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p36"/>
          <p:cNvSpPr txBox="1"/>
          <p:nvPr/>
        </p:nvSpPr>
        <p:spPr>
          <a:xfrm>
            <a:off x="605473" y="3967162"/>
            <a:ext cx="337370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Billing</a:t>
            </a:r>
            <a:endParaRPr/>
          </a:p>
        </p:txBody>
      </p:sp>
      <p:sp>
        <p:nvSpPr>
          <p:cNvPr id="391" name="Google Shape;391;p36"/>
          <p:cNvSpPr txBox="1"/>
          <p:nvPr/>
        </p:nvSpPr>
        <p:spPr>
          <a:xfrm>
            <a:off x="685800" y="4510087"/>
            <a:ext cx="32130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Refunds, Invoices.</a:t>
            </a:r>
            <a:endParaRPr/>
          </a:p>
        </p:txBody>
      </p:sp>
      <p:pic>
        <p:nvPicPr>
          <p:cNvPr id="392" name="Google Shape;392;p3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489400" y="3538537"/>
            <a:ext cx="32130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p36"/>
          <p:cNvSpPr txBox="1"/>
          <p:nvPr/>
        </p:nvSpPr>
        <p:spPr>
          <a:xfrm>
            <a:off x="4409074" y="3967162"/>
            <a:ext cx="337370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Technical</a:t>
            </a:r>
            <a:endParaRPr/>
          </a:p>
        </p:txBody>
      </p:sp>
      <p:sp>
        <p:nvSpPr>
          <p:cNvPr id="394" name="Google Shape;394;p36"/>
          <p:cNvSpPr txBox="1"/>
          <p:nvPr/>
        </p:nvSpPr>
        <p:spPr>
          <a:xfrm>
            <a:off x="4489400" y="4510087"/>
            <a:ext cx="32130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Bugs, Login issues.</a:t>
            </a:r>
            <a:endParaRPr/>
          </a:p>
        </p:txBody>
      </p:sp>
      <p:pic>
        <p:nvPicPr>
          <p:cNvPr id="395" name="Google Shape;395;p3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293000" y="3538537"/>
            <a:ext cx="3213199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36"/>
          <p:cNvSpPr txBox="1"/>
          <p:nvPr/>
        </p:nvSpPr>
        <p:spPr>
          <a:xfrm>
            <a:off x="8212670" y="3967162"/>
            <a:ext cx="3373859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General</a:t>
            </a:r>
            <a:endParaRPr/>
          </a:p>
        </p:txBody>
      </p:sp>
      <p:sp>
        <p:nvSpPr>
          <p:cNvPr id="397" name="Google Shape;397;p36"/>
          <p:cNvSpPr txBox="1"/>
          <p:nvPr/>
        </p:nvSpPr>
        <p:spPr>
          <a:xfrm>
            <a:off x="8293000" y="4510087"/>
            <a:ext cx="3213199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Hours, Locations.</a:t>
            </a:r>
            <a:endParaRPr/>
          </a:p>
        </p:txBody>
      </p:sp>
      <p:sp>
        <p:nvSpPr>
          <p:cNvPr id="398" name="Google Shape;398;p36"/>
          <p:cNvSpPr txBox="1"/>
          <p:nvPr/>
        </p:nvSpPr>
        <p:spPr>
          <a:xfrm>
            <a:off x="485775" y="485775"/>
            <a:ext cx="117062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Use Case 3: Customer Support Router</a:t>
            </a:r>
            <a:endParaRPr/>
          </a:p>
        </p:txBody>
      </p:sp>
      <p:sp>
        <p:nvSpPr>
          <p:cNvPr id="399" name="Google Shape;399;p36"/>
          <p:cNvSpPr/>
          <p:nvPr/>
        </p:nvSpPr>
        <p:spPr>
          <a:xfrm>
            <a:off x="485775" y="1114425"/>
            <a:ext cx="112204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4" name="Google Shape;404;p3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5" name="Google Shape;405;p3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5775" y="3214687"/>
            <a:ext cx="11220450" cy="1114425"/>
          </a:xfrm>
          <a:prstGeom prst="rect">
            <a:avLst/>
          </a:prstGeom>
          <a:noFill/>
          <a:ln>
            <a:noFill/>
          </a:ln>
        </p:spPr>
      </p:pic>
      <p:sp>
        <p:nvSpPr>
          <p:cNvPr id="406" name="Google Shape;406;p37"/>
          <p:cNvSpPr txBox="1"/>
          <p:nvPr/>
        </p:nvSpPr>
        <p:spPr>
          <a:xfrm>
            <a:off x="485775" y="485775"/>
            <a:ext cx="117062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Code: The Router Implementation</a:t>
            </a:r>
            <a:endParaRPr/>
          </a:p>
        </p:txBody>
      </p:sp>
      <p:sp>
        <p:nvSpPr>
          <p:cNvPr id="407" name="Google Shape;407;p37"/>
          <p:cNvSpPr/>
          <p:nvPr/>
        </p:nvSpPr>
        <p:spPr>
          <a:xfrm>
            <a:off x="485775" y="1114425"/>
            <a:ext cx="112204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2" name="Google Shape;412;p3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3" name="Google Shape;413;p3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314450"/>
            <a:ext cx="5419725" cy="5057775"/>
          </a:xfrm>
          <a:prstGeom prst="rect">
            <a:avLst/>
          </a:prstGeom>
          <a:noFill/>
          <a:ln>
            <a:noFill/>
          </a:ln>
        </p:spPr>
      </p:pic>
      <p:sp>
        <p:nvSpPr>
          <p:cNvPr id="414" name="Google Shape;414;p38"/>
          <p:cNvSpPr txBox="1"/>
          <p:nvPr/>
        </p:nvSpPr>
        <p:spPr>
          <a:xfrm>
            <a:off x="485775" y="1314450"/>
            <a:ext cx="5690711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The Rise of "Tiny"</a:t>
            </a:r>
            <a:endParaRPr/>
          </a:p>
        </p:txBody>
      </p:sp>
      <p:sp>
        <p:nvSpPr>
          <p:cNvPr id="415" name="Google Shape;415;p38"/>
          <p:cNvSpPr txBox="1"/>
          <p:nvPr/>
        </p:nvSpPr>
        <p:spPr>
          <a:xfrm>
            <a:off x="485775" y="1762125"/>
            <a:ext cx="54197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Models like </a:t>
            </a:r>
            <a:r>
              <a:rPr lang="en-US" sz="1350" b="1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Llama-3-8B</a:t>
            </a: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, </a:t>
            </a:r>
            <a:r>
              <a:rPr lang="en-US" sz="1350" b="1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Phi-3</a:t>
            </a: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, and </a:t>
            </a:r>
            <a:r>
              <a:rPr lang="en-US" sz="1350" b="1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Mistral</a:t>
            </a: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 are changing the game.</a:t>
            </a:r>
            <a:endParaRPr/>
          </a:p>
        </p:txBody>
      </p:sp>
      <p:sp>
        <p:nvSpPr>
          <p:cNvPr id="416" name="Google Shape;416;p38"/>
          <p:cNvSpPr txBox="1"/>
          <p:nvPr/>
        </p:nvSpPr>
        <p:spPr>
          <a:xfrm>
            <a:off x="485775" y="2190750"/>
            <a:ext cx="54197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For specific tasks (like Routing or Summarization), they rival GPT-4.</a:t>
            </a:r>
            <a:endParaRPr/>
          </a:p>
        </p:txBody>
      </p:sp>
      <p:pic>
        <p:nvPicPr>
          <p:cNvPr id="417" name="Google Shape;417;p3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96025" y="1323975"/>
            <a:ext cx="5400675" cy="5038725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38"/>
          <p:cNvSpPr txBox="1"/>
          <p:nvPr/>
        </p:nvSpPr>
        <p:spPr>
          <a:xfrm>
            <a:off x="485775" y="485775"/>
            <a:ext cx="117062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SLMs: Small Language Models</a:t>
            </a:r>
            <a:endParaRPr/>
          </a:p>
        </p:txBody>
      </p:sp>
      <p:sp>
        <p:nvSpPr>
          <p:cNvPr id="419" name="Google Shape;419;p38"/>
          <p:cNvSpPr/>
          <p:nvPr/>
        </p:nvSpPr>
        <p:spPr>
          <a:xfrm>
            <a:off x="485775" y="1114425"/>
            <a:ext cx="112204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4" name="Google Shape;424;p3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5" name="Google Shape;425;p3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5775" y="1314450"/>
            <a:ext cx="11220450" cy="3571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6" name="Google Shape;426;p3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85775" y="5076825"/>
            <a:ext cx="3613100" cy="129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7" name="Google Shape;427;p3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289375" y="5076825"/>
            <a:ext cx="3613100" cy="129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8" name="Google Shape;428;p3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92975" y="5076825"/>
            <a:ext cx="3613249" cy="1295400"/>
          </a:xfrm>
          <a:prstGeom prst="rect">
            <a:avLst/>
          </a:prstGeom>
          <a:noFill/>
          <a:ln>
            <a:noFill/>
          </a:ln>
        </p:spPr>
      </p:pic>
      <p:sp>
        <p:nvSpPr>
          <p:cNvPr id="429" name="Google Shape;429;p39"/>
          <p:cNvSpPr txBox="1"/>
          <p:nvPr/>
        </p:nvSpPr>
        <p:spPr>
          <a:xfrm>
            <a:off x="415290" y="2652712"/>
            <a:ext cx="1136142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Big Brain (GPT-4)</a:t>
            </a:r>
            <a:endParaRPr/>
          </a:p>
        </p:txBody>
      </p:sp>
      <p:sp>
        <p:nvSpPr>
          <p:cNvPr id="430" name="Google Shape;430;p39"/>
          <p:cNvSpPr txBox="1"/>
          <p:nvPr/>
        </p:nvSpPr>
        <p:spPr>
          <a:xfrm>
            <a:off x="685800" y="3195637"/>
            <a:ext cx="108204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Handles Planning, Reasoning, and Complex edge cases.</a:t>
            </a:r>
            <a:endParaRPr/>
          </a:p>
        </p:txBody>
      </p:sp>
      <p:sp>
        <p:nvSpPr>
          <p:cNvPr id="431" name="Google Shape;431;p39"/>
          <p:cNvSpPr txBox="1"/>
          <p:nvPr/>
        </p:nvSpPr>
        <p:spPr>
          <a:xfrm>
            <a:off x="605473" y="5276850"/>
            <a:ext cx="337370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Worker 1 (SLM)</a:t>
            </a:r>
            <a:endParaRPr/>
          </a:p>
        </p:txBody>
      </p:sp>
      <p:sp>
        <p:nvSpPr>
          <p:cNvPr id="432" name="Google Shape;432;p39"/>
          <p:cNvSpPr txBox="1"/>
          <p:nvPr/>
        </p:nvSpPr>
        <p:spPr>
          <a:xfrm>
            <a:off x="685800" y="5819775"/>
            <a:ext cx="32130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Summarizer</a:t>
            </a:r>
            <a:endParaRPr/>
          </a:p>
        </p:txBody>
      </p:sp>
      <p:sp>
        <p:nvSpPr>
          <p:cNvPr id="433" name="Google Shape;433;p39"/>
          <p:cNvSpPr txBox="1"/>
          <p:nvPr/>
        </p:nvSpPr>
        <p:spPr>
          <a:xfrm>
            <a:off x="4409074" y="5276850"/>
            <a:ext cx="337370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Worker 2 (SLM)</a:t>
            </a:r>
            <a:endParaRPr/>
          </a:p>
        </p:txBody>
      </p:sp>
      <p:sp>
        <p:nvSpPr>
          <p:cNvPr id="434" name="Google Shape;434;p39"/>
          <p:cNvSpPr txBox="1"/>
          <p:nvPr/>
        </p:nvSpPr>
        <p:spPr>
          <a:xfrm>
            <a:off x="4489400" y="5819775"/>
            <a:ext cx="32130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Classifier</a:t>
            </a:r>
            <a:endParaRPr/>
          </a:p>
        </p:txBody>
      </p:sp>
      <p:sp>
        <p:nvSpPr>
          <p:cNvPr id="435" name="Google Shape;435;p39"/>
          <p:cNvSpPr txBox="1"/>
          <p:nvPr/>
        </p:nvSpPr>
        <p:spPr>
          <a:xfrm>
            <a:off x="8212670" y="5276850"/>
            <a:ext cx="3373859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Worker 3 (SLM)</a:t>
            </a:r>
            <a:endParaRPr/>
          </a:p>
        </p:txBody>
      </p:sp>
      <p:sp>
        <p:nvSpPr>
          <p:cNvPr id="436" name="Google Shape;436;p39"/>
          <p:cNvSpPr txBox="1"/>
          <p:nvPr/>
        </p:nvSpPr>
        <p:spPr>
          <a:xfrm>
            <a:off x="8293000" y="5819775"/>
            <a:ext cx="3213199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Extractor</a:t>
            </a:r>
            <a:endParaRPr/>
          </a:p>
        </p:txBody>
      </p:sp>
      <p:sp>
        <p:nvSpPr>
          <p:cNvPr id="437" name="Google Shape;437;p39"/>
          <p:cNvSpPr txBox="1"/>
          <p:nvPr/>
        </p:nvSpPr>
        <p:spPr>
          <a:xfrm>
            <a:off x="485775" y="485775"/>
            <a:ext cx="117062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The Orchestrator-Worker Pattern</a:t>
            </a:r>
            <a:endParaRPr/>
          </a:p>
        </p:txBody>
      </p:sp>
      <p:sp>
        <p:nvSpPr>
          <p:cNvPr id="438" name="Google Shape;438;p39"/>
          <p:cNvSpPr/>
          <p:nvPr/>
        </p:nvSpPr>
        <p:spPr>
          <a:xfrm>
            <a:off x="485775" y="1114425"/>
            <a:ext cx="112204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3" name="Google Shape;443;p4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4" name="Google Shape;444;p4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5775" y="2852737"/>
            <a:ext cx="3613100" cy="198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5" name="Google Shape;445;p4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89375" y="2852737"/>
            <a:ext cx="3613100" cy="198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6" name="Google Shape;446;p4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92975" y="2852737"/>
            <a:ext cx="3613249" cy="198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7" name="Google Shape;447;p4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85800" y="3052762"/>
            <a:ext cx="32130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448" name="Google Shape;448;p40"/>
          <p:cNvSpPr txBox="1"/>
          <p:nvPr/>
        </p:nvSpPr>
        <p:spPr>
          <a:xfrm>
            <a:off x="605473" y="3481387"/>
            <a:ext cx="337370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Cost</a:t>
            </a:r>
            <a:endParaRPr/>
          </a:p>
        </p:txBody>
      </p:sp>
      <p:sp>
        <p:nvSpPr>
          <p:cNvPr id="449" name="Google Shape;449;p40"/>
          <p:cNvSpPr txBox="1"/>
          <p:nvPr/>
        </p:nvSpPr>
        <p:spPr>
          <a:xfrm>
            <a:off x="685800" y="4024312"/>
            <a:ext cx="32130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Running Llama-8B is 50x cheaper than GPT-4.</a:t>
            </a:r>
            <a:endParaRPr/>
          </a:p>
        </p:txBody>
      </p:sp>
      <p:pic>
        <p:nvPicPr>
          <p:cNvPr id="450" name="Google Shape;450;p4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489400" y="3181350"/>
            <a:ext cx="32130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451" name="Google Shape;451;p40"/>
          <p:cNvSpPr txBox="1"/>
          <p:nvPr/>
        </p:nvSpPr>
        <p:spPr>
          <a:xfrm>
            <a:off x="4409074" y="3609975"/>
            <a:ext cx="337370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Latency</a:t>
            </a:r>
            <a:endParaRPr/>
          </a:p>
        </p:txBody>
      </p:sp>
      <p:sp>
        <p:nvSpPr>
          <p:cNvPr id="452" name="Google Shape;452;p40"/>
          <p:cNvSpPr txBox="1"/>
          <p:nvPr/>
        </p:nvSpPr>
        <p:spPr>
          <a:xfrm>
            <a:off x="4489400" y="4152900"/>
            <a:ext cx="32130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Sub-second responses for tool selection.</a:t>
            </a:r>
            <a:endParaRPr/>
          </a:p>
        </p:txBody>
      </p:sp>
      <p:pic>
        <p:nvPicPr>
          <p:cNvPr id="453" name="Google Shape;453;p4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293000" y="3052762"/>
            <a:ext cx="3213199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40"/>
          <p:cNvSpPr txBox="1"/>
          <p:nvPr/>
        </p:nvSpPr>
        <p:spPr>
          <a:xfrm>
            <a:off x="8212670" y="3481387"/>
            <a:ext cx="3373859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Privacy</a:t>
            </a:r>
            <a:endParaRPr/>
          </a:p>
        </p:txBody>
      </p:sp>
      <p:sp>
        <p:nvSpPr>
          <p:cNvPr id="455" name="Google Shape;455;p40"/>
          <p:cNvSpPr txBox="1"/>
          <p:nvPr/>
        </p:nvSpPr>
        <p:spPr>
          <a:xfrm>
            <a:off x="8293000" y="4024312"/>
            <a:ext cx="3213199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Can run locally (Ollama) without sending data to cloud.</a:t>
            </a:r>
            <a:endParaRPr/>
          </a:p>
        </p:txBody>
      </p:sp>
      <p:sp>
        <p:nvSpPr>
          <p:cNvPr id="456" name="Google Shape;456;p40"/>
          <p:cNvSpPr txBox="1"/>
          <p:nvPr/>
        </p:nvSpPr>
        <p:spPr>
          <a:xfrm>
            <a:off x="485775" y="485775"/>
            <a:ext cx="117062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Why use SLMs in Agents?</a:t>
            </a:r>
            <a:endParaRPr dirty="0"/>
          </a:p>
        </p:txBody>
      </p:sp>
      <p:sp>
        <p:nvSpPr>
          <p:cNvPr id="457" name="Google Shape;457;p40"/>
          <p:cNvSpPr/>
          <p:nvPr/>
        </p:nvSpPr>
        <p:spPr>
          <a:xfrm>
            <a:off x="485775" y="1114425"/>
            <a:ext cx="112204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2" name="Google Shape;462;p4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300037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3" name="Google Shape;463;p4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314450"/>
            <a:ext cx="5419725" cy="5057775"/>
          </a:xfrm>
          <a:prstGeom prst="rect">
            <a:avLst/>
          </a:prstGeom>
          <a:noFill/>
          <a:ln>
            <a:noFill/>
          </a:ln>
        </p:spPr>
      </p:pic>
      <p:sp>
        <p:nvSpPr>
          <p:cNvPr id="464" name="Google Shape;464;p41"/>
          <p:cNvSpPr txBox="1"/>
          <p:nvPr/>
        </p:nvSpPr>
        <p:spPr>
          <a:xfrm>
            <a:off x="838200" y="1466850"/>
            <a:ext cx="285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466" name="Google Shape;466;p41"/>
          <p:cNvSpPr txBox="1"/>
          <p:nvPr/>
        </p:nvSpPr>
        <p:spPr>
          <a:xfrm>
            <a:off x="838200" y="2076450"/>
            <a:ext cx="285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468" name="Google Shape;468;p41"/>
          <p:cNvSpPr txBox="1"/>
          <p:nvPr/>
        </p:nvSpPr>
        <p:spPr>
          <a:xfrm>
            <a:off x="838200" y="2428875"/>
            <a:ext cx="285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470" name="Google Shape;470;p41"/>
          <p:cNvSpPr txBox="1"/>
          <p:nvPr/>
        </p:nvSpPr>
        <p:spPr>
          <a:xfrm>
            <a:off x="838200" y="2781300"/>
            <a:ext cx="285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471" name="Google Shape;471;p41"/>
          <p:cNvSpPr txBox="1"/>
          <p:nvPr/>
        </p:nvSpPr>
        <p:spPr>
          <a:xfrm>
            <a:off x="747712" y="3176587"/>
            <a:ext cx="50387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Routing:</a:t>
            </a:r>
            <a:r>
              <a:rPr lang="en-US" sz="1350" b="0" i="0" u="none" strike="noStrike" cap="none" dirty="0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 Specialized agents for efficient processing.</a:t>
            </a:r>
            <a:endParaRPr dirty="0"/>
          </a:p>
        </p:txBody>
      </p:sp>
      <p:sp>
        <p:nvSpPr>
          <p:cNvPr id="472" name="Google Shape;472;p41"/>
          <p:cNvSpPr txBox="1"/>
          <p:nvPr/>
        </p:nvSpPr>
        <p:spPr>
          <a:xfrm>
            <a:off x="6361033" y="3057525"/>
            <a:ext cx="5270658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FF41"/>
                </a:solidFill>
                <a:latin typeface="Urbanist"/>
                <a:ea typeface="Urbanist"/>
                <a:cs typeface="Urbanist"/>
                <a:sym typeface="Urbanist"/>
              </a:rPr>
              <a:t>Architecture Evolution</a:t>
            </a:r>
            <a:endParaRPr/>
          </a:p>
        </p:txBody>
      </p:sp>
      <p:sp>
        <p:nvSpPr>
          <p:cNvPr id="473" name="Google Shape;473;p41"/>
          <p:cNvSpPr txBox="1"/>
          <p:nvPr/>
        </p:nvSpPr>
        <p:spPr>
          <a:xfrm>
            <a:off x="6486525" y="3600450"/>
            <a:ext cx="50196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Week 1: Chatbot</a:t>
            </a:r>
            <a:endParaRPr/>
          </a:p>
        </p:txBody>
      </p:sp>
      <p:pic>
        <p:nvPicPr>
          <p:cNvPr id="474" name="Google Shape;474;p4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86525" y="3952875"/>
            <a:ext cx="5019675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475" name="Google Shape;475;p41"/>
          <p:cNvSpPr txBox="1"/>
          <p:nvPr/>
        </p:nvSpPr>
        <p:spPr>
          <a:xfrm>
            <a:off x="6486525" y="4276725"/>
            <a:ext cx="50196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Week 2: Autonomous Agent System</a:t>
            </a:r>
            <a:endParaRPr/>
          </a:p>
        </p:txBody>
      </p:sp>
      <p:sp>
        <p:nvSpPr>
          <p:cNvPr id="476" name="Google Shape;476;p41"/>
          <p:cNvSpPr txBox="1"/>
          <p:nvPr/>
        </p:nvSpPr>
        <p:spPr>
          <a:xfrm>
            <a:off x="485775" y="485775"/>
            <a:ext cx="117062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Week 2 Summary</a:t>
            </a:r>
            <a:endParaRPr/>
          </a:p>
        </p:txBody>
      </p:sp>
      <p:sp>
        <p:nvSpPr>
          <p:cNvPr id="477" name="Google Shape;477;p41"/>
          <p:cNvSpPr/>
          <p:nvPr/>
        </p:nvSpPr>
        <p:spPr>
          <a:xfrm>
            <a:off x="485775" y="1114425"/>
            <a:ext cx="112204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263;p25">
            <a:extLst>
              <a:ext uri="{FF2B5EF4-FFF2-40B4-BE49-F238E27FC236}">
                <a16:creationId xmlns:a16="http://schemas.microsoft.com/office/drawing/2014/main" id="{33A27E47-15A5-32BD-D922-FA50B72A52AA}"/>
              </a:ext>
            </a:extLst>
          </p:cNvPr>
          <p:cNvSpPr txBox="1"/>
          <p:nvPr/>
        </p:nvSpPr>
        <p:spPr>
          <a:xfrm>
            <a:off x="762000" y="1257300"/>
            <a:ext cx="503872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Flow Engineering:</a:t>
            </a:r>
            <a:r>
              <a:rPr lang="en-US" sz="1350" b="0" i="0" u="none" strike="noStrike" cap="none" dirty="0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 Graph-based execution is more robust than single prompts.</a:t>
            </a:r>
            <a:endParaRPr dirty="0"/>
          </a:p>
        </p:txBody>
      </p:sp>
      <p:sp>
        <p:nvSpPr>
          <p:cNvPr id="3" name="Google Shape;265;p25">
            <a:extLst>
              <a:ext uri="{FF2B5EF4-FFF2-40B4-BE49-F238E27FC236}">
                <a16:creationId xmlns:a16="http://schemas.microsoft.com/office/drawing/2014/main" id="{E14BC30D-FD59-86D4-1A80-8E40F1BEACB1}"/>
              </a:ext>
            </a:extLst>
          </p:cNvPr>
          <p:cNvSpPr txBox="1"/>
          <p:nvPr/>
        </p:nvSpPr>
        <p:spPr>
          <a:xfrm>
            <a:off x="762000" y="1866900"/>
            <a:ext cx="503872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AWS Patterns:</a:t>
            </a:r>
            <a:r>
              <a:rPr lang="en-US" sz="1350" b="0" i="0" u="none" strike="noStrike" cap="none" dirty="0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 Routing, Parallelization, and Orchestration are standard blueprints.</a:t>
            </a:r>
            <a:endParaRPr dirty="0"/>
          </a:p>
        </p:txBody>
      </p:sp>
      <p:sp>
        <p:nvSpPr>
          <p:cNvPr id="4" name="Google Shape;267;p25">
            <a:extLst>
              <a:ext uri="{FF2B5EF4-FFF2-40B4-BE49-F238E27FC236}">
                <a16:creationId xmlns:a16="http://schemas.microsoft.com/office/drawing/2014/main" id="{72CED756-826F-27C1-E729-86361FFD0455}"/>
              </a:ext>
            </a:extLst>
          </p:cNvPr>
          <p:cNvSpPr txBox="1"/>
          <p:nvPr/>
        </p:nvSpPr>
        <p:spPr>
          <a:xfrm>
            <a:off x="762000" y="2476500"/>
            <a:ext cx="50387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Planning:</a:t>
            </a:r>
            <a:r>
              <a:rPr lang="en-US" sz="1350" b="0" i="0" u="none" strike="noStrike" cap="none" dirty="0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 Breaking down tasks reduces hallucination.</a:t>
            </a:r>
            <a:endParaRPr dirty="0"/>
          </a:p>
        </p:txBody>
      </p:sp>
      <p:sp>
        <p:nvSpPr>
          <p:cNvPr id="5" name="Google Shape;269;p25">
            <a:extLst>
              <a:ext uri="{FF2B5EF4-FFF2-40B4-BE49-F238E27FC236}">
                <a16:creationId xmlns:a16="http://schemas.microsoft.com/office/drawing/2014/main" id="{AB12E442-2252-0EF4-3536-071FAF504514}"/>
              </a:ext>
            </a:extLst>
          </p:cNvPr>
          <p:cNvSpPr txBox="1"/>
          <p:nvPr/>
        </p:nvSpPr>
        <p:spPr>
          <a:xfrm>
            <a:off x="762000" y="2828925"/>
            <a:ext cx="50387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Reflection:</a:t>
            </a:r>
            <a:r>
              <a:rPr lang="en-US" sz="1350" b="0" i="0" u="none" strike="noStrike" cap="none" dirty="0">
                <a:solidFill>
                  <a:srgbClr val="D4D4D4"/>
                </a:solidFill>
                <a:latin typeface="Urbanist"/>
                <a:ea typeface="Urbanist"/>
                <a:cs typeface="Urbanist"/>
                <a:sym typeface="Urbanist"/>
              </a:rPr>
              <a:t> Self-correction loops improve quality.</a:t>
            </a:r>
            <a:endParaRPr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2" name="Google Shape;482;p4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3" name="Google Shape;483;p4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5775" y="2786062"/>
            <a:ext cx="11220450" cy="142875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42"/>
          <p:cNvSpPr txBox="1"/>
          <p:nvPr/>
        </p:nvSpPr>
        <p:spPr>
          <a:xfrm>
            <a:off x="485775" y="4548187"/>
            <a:ext cx="112204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00FF41"/>
                </a:solidFill>
                <a:latin typeface="Urbanist"/>
                <a:ea typeface="Urbanist"/>
                <a:cs typeface="Urbanist"/>
                <a:sym typeface="Urbanist"/>
              </a:rPr>
              <a:t>Happy Coding!</a:t>
            </a:r>
            <a:endParaRPr/>
          </a:p>
        </p:txBody>
      </p:sp>
      <p:sp>
        <p:nvSpPr>
          <p:cNvPr id="485" name="Google Shape;485;p42"/>
          <p:cNvSpPr txBox="1"/>
          <p:nvPr/>
        </p:nvSpPr>
        <p:spPr>
          <a:xfrm>
            <a:off x="485775" y="485775"/>
            <a:ext cx="117062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Lab Assignment: "The Editor"</a:t>
            </a:r>
            <a:endParaRPr/>
          </a:p>
        </p:txBody>
      </p:sp>
      <p:sp>
        <p:nvSpPr>
          <p:cNvPr id="486" name="Google Shape;486;p42"/>
          <p:cNvSpPr/>
          <p:nvPr/>
        </p:nvSpPr>
        <p:spPr>
          <a:xfrm>
            <a:off x="485775" y="1114425"/>
            <a:ext cx="112204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978FE54-D649-FD09-8340-93FFA90D81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194" y="281833"/>
            <a:ext cx="4623881" cy="629433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21C2D1E-997F-16CE-E34D-C519C8F06DFD}"/>
              </a:ext>
            </a:extLst>
          </p:cNvPr>
          <p:cNvSpPr txBox="1"/>
          <p:nvPr/>
        </p:nvSpPr>
        <p:spPr>
          <a:xfrm>
            <a:off x="273995" y="281833"/>
            <a:ext cx="6099242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Unlock the Power of NLP with LLMs: A Practical Guide</a:t>
            </a:r>
          </a:p>
          <a:p>
            <a:endParaRPr lang="en-US" sz="2800" b="1" dirty="0"/>
          </a:p>
          <a:p>
            <a:endParaRPr lang="en-US" sz="2800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30E822-91B0-7CD7-EB74-5B76A95F9E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952" y="3599232"/>
            <a:ext cx="2208179" cy="220817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3E59075-89A0-5100-1B18-2E9A6FBCC6AE}"/>
              </a:ext>
            </a:extLst>
          </p:cNvPr>
          <p:cNvSpPr txBox="1"/>
          <p:nvPr/>
        </p:nvSpPr>
        <p:spPr>
          <a:xfrm>
            <a:off x="346952" y="3167390"/>
            <a:ext cx="29766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/>
              <a:t>Amazon purchase link:</a:t>
            </a:r>
          </a:p>
          <a:p>
            <a:endParaRPr lang="en-US" u="sng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8BE3E3D-EDD2-5AD0-3456-DAD974B76A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96575" y="3599232"/>
            <a:ext cx="2208180" cy="220818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15F8C7A-4383-5989-8DE7-210BA3FE8378}"/>
              </a:ext>
            </a:extLst>
          </p:cNvPr>
          <p:cNvSpPr txBox="1"/>
          <p:nvPr/>
        </p:nvSpPr>
        <p:spPr>
          <a:xfrm>
            <a:off x="3048811" y="3167390"/>
            <a:ext cx="29766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/>
              <a:t>Oreilly link:</a:t>
            </a:r>
          </a:p>
          <a:p>
            <a:endParaRPr lang="en-US" u="sng" dirty="0"/>
          </a:p>
        </p:txBody>
      </p:sp>
    </p:spTree>
    <p:extLst>
      <p:ext uri="{BB962C8B-B14F-4D97-AF65-F5344CB8AC3E}">
        <p14:creationId xmlns:p14="http://schemas.microsoft.com/office/powerpoint/2010/main" val="10731612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215</TotalTime>
  <Words>1304</Words>
  <Application>Microsoft Macintosh PowerPoint</Application>
  <PresentationFormat>Widescreen</PresentationFormat>
  <Paragraphs>201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3" baseType="lpstr">
      <vt:lpstr>Urbanist Light</vt:lpstr>
      <vt:lpstr>Calibri</vt:lpstr>
      <vt:lpstr>Wingdings</vt:lpstr>
      <vt:lpstr>Urbanist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Minukuri, Anvesh Reddy</cp:lastModifiedBy>
  <cp:revision>5</cp:revision>
  <dcterms:modified xsi:type="dcterms:W3CDTF">2026-02-08T18:58:38Z</dcterms:modified>
</cp:coreProperties>
</file>